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al" charset="1" panose="020B0604020202020204"/>
      <p:regular r:id="rId15"/>
    </p:embeddedFont>
    <p:embeddedFont>
      <p:font typeface="Arial Bold Italics" charset="1" panose="020B0704020202090204"/>
      <p:regular r:id="rId16"/>
    </p:embeddedFont>
    <p:embeddedFont>
      <p:font typeface="Times New Roman Italics" charset="1" panose="020205030504050903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14" Target="../media/image18.png" Type="http://schemas.openxmlformats.org/officeDocument/2006/relationships/image"/><Relationship Id="rId15" Target="../media/image19.png" Type="http://schemas.openxmlformats.org/officeDocument/2006/relationships/image"/><Relationship Id="rId16" Target="../media/image20.png" Type="http://schemas.openxmlformats.org/officeDocument/2006/relationships/image"/><Relationship Id="rId17" Target="../media/image21.png" Type="http://schemas.openxmlformats.org/officeDocument/2006/relationships/image"/><Relationship Id="rId18" Target="../media/image22.pn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png" Type="http://schemas.openxmlformats.org/officeDocument/2006/relationships/image"/><Relationship Id="rId21" Target="../media/image25.png" Type="http://schemas.openxmlformats.org/officeDocument/2006/relationships/image"/><Relationship Id="rId22" Target="../media/image5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12" Target="../media/image36.png" Type="http://schemas.openxmlformats.org/officeDocument/2006/relationships/image"/><Relationship Id="rId13" Target="../media/image37.png" Type="http://schemas.openxmlformats.org/officeDocument/2006/relationships/image"/><Relationship Id="rId14" Target="../media/image38.png" Type="http://schemas.openxmlformats.org/officeDocument/2006/relationships/image"/><Relationship Id="rId15" Target="../media/image39.png" Type="http://schemas.openxmlformats.org/officeDocument/2006/relationships/image"/><Relationship Id="rId16" Target="../media/image40.png" Type="http://schemas.openxmlformats.org/officeDocument/2006/relationships/image"/><Relationship Id="rId17" Target="../media/image41.png" Type="http://schemas.openxmlformats.org/officeDocument/2006/relationships/image"/><Relationship Id="rId18" Target="../media/image42.png" Type="http://schemas.openxmlformats.org/officeDocument/2006/relationships/image"/><Relationship Id="rId19" Target="../media/image43.png" Type="http://schemas.openxmlformats.org/officeDocument/2006/relationships/image"/><Relationship Id="rId2" Target="../media/image26.png" Type="http://schemas.openxmlformats.org/officeDocument/2006/relationships/image"/><Relationship Id="rId20" Target="../media/image44.png" Type="http://schemas.openxmlformats.org/officeDocument/2006/relationships/image"/><Relationship Id="rId21" Target="../media/image45.png" Type="http://schemas.openxmlformats.org/officeDocument/2006/relationships/image"/><Relationship Id="rId22" Target="../media/image46.png" Type="http://schemas.openxmlformats.org/officeDocument/2006/relationships/image"/><Relationship Id="rId23" Target="../media/image47.png" Type="http://schemas.openxmlformats.org/officeDocument/2006/relationships/image"/><Relationship Id="rId24" Target="../media/image48.png" Type="http://schemas.openxmlformats.org/officeDocument/2006/relationships/image"/><Relationship Id="rId25" Target="../media/image49.png" Type="http://schemas.openxmlformats.org/officeDocument/2006/relationships/image"/><Relationship Id="rId26" Target="../media/image50.png" Type="http://schemas.openxmlformats.org/officeDocument/2006/relationships/image"/><Relationship Id="rId27" Target="../media/image51.png" Type="http://schemas.openxmlformats.org/officeDocument/2006/relationships/image"/><Relationship Id="rId28" Target="../media/image52.png" Type="http://schemas.openxmlformats.org/officeDocument/2006/relationships/image"/><Relationship Id="rId29" Target="../media/image53.png" Type="http://schemas.openxmlformats.org/officeDocument/2006/relationships/image"/><Relationship Id="rId3" Target="../media/image27.png" Type="http://schemas.openxmlformats.org/officeDocument/2006/relationships/image"/><Relationship Id="rId30" Target="../media/image54.png" Type="http://schemas.openxmlformats.org/officeDocument/2006/relationships/image"/><Relationship Id="rId31" Target="../media/image55.jpeg" Type="http://schemas.openxmlformats.org/officeDocument/2006/relationships/image"/><Relationship Id="rId32" Target="../media/image56.png" Type="http://schemas.openxmlformats.org/officeDocument/2006/relationships/image"/><Relationship Id="rId33" Target="../media/image57.png" Type="http://schemas.openxmlformats.org/officeDocument/2006/relationships/image"/><Relationship Id="rId34" Target="../media/image58.png" Type="http://schemas.openxmlformats.org/officeDocument/2006/relationships/image"/><Relationship Id="rId35" Target="../media/image59.png" Type="http://schemas.openxmlformats.org/officeDocument/2006/relationships/image"/><Relationship Id="rId36" Target="../media/image60.png" Type="http://schemas.openxmlformats.org/officeDocument/2006/relationships/image"/><Relationship Id="rId37" Target="../media/image61.png" Type="http://schemas.openxmlformats.org/officeDocument/2006/relationships/image"/><Relationship Id="rId38" Target="../media/image62.png" Type="http://schemas.openxmlformats.org/officeDocument/2006/relationships/image"/><Relationship Id="rId39" Target="../media/image63.png" Type="http://schemas.openxmlformats.org/officeDocument/2006/relationships/image"/><Relationship Id="rId4" Target="../media/image28.png" Type="http://schemas.openxmlformats.org/officeDocument/2006/relationships/image"/><Relationship Id="rId40" Target="../media/image64.png" Type="http://schemas.openxmlformats.org/officeDocument/2006/relationships/image"/><Relationship Id="rId41" Target="../media/image65.png" Type="http://schemas.openxmlformats.org/officeDocument/2006/relationships/image"/><Relationship Id="rId42" Target="../media/image66.png" Type="http://schemas.openxmlformats.org/officeDocument/2006/relationships/image"/><Relationship Id="rId43" Target="../media/image67.png" Type="http://schemas.openxmlformats.org/officeDocument/2006/relationships/image"/><Relationship Id="rId44" Target="../media/image68.png" Type="http://schemas.openxmlformats.org/officeDocument/2006/relationships/image"/><Relationship Id="rId45" Target="../media/image5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14" Target="../media/image81.png" Type="http://schemas.openxmlformats.org/officeDocument/2006/relationships/image"/><Relationship Id="rId15" Target="../media/image82.png" Type="http://schemas.openxmlformats.org/officeDocument/2006/relationships/image"/><Relationship Id="rId16" Target="../media/image83.png" Type="http://schemas.openxmlformats.org/officeDocument/2006/relationships/image"/><Relationship Id="rId17" Target="../media/image84.png" Type="http://schemas.openxmlformats.org/officeDocument/2006/relationships/image"/><Relationship Id="rId18" Target="../media/image85.png" Type="http://schemas.openxmlformats.org/officeDocument/2006/relationships/image"/><Relationship Id="rId19" Target="../media/image86.png" Type="http://schemas.openxmlformats.org/officeDocument/2006/relationships/image"/><Relationship Id="rId2" Target="../media/image69.png" Type="http://schemas.openxmlformats.org/officeDocument/2006/relationships/image"/><Relationship Id="rId20" Target="../media/image87.png" Type="http://schemas.openxmlformats.org/officeDocument/2006/relationships/image"/><Relationship Id="rId21" Target="../media/image88.png" Type="http://schemas.openxmlformats.org/officeDocument/2006/relationships/image"/><Relationship Id="rId22" Target="../media/image89.png" Type="http://schemas.openxmlformats.org/officeDocument/2006/relationships/image"/><Relationship Id="rId23" Target="../media/image90.png" Type="http://schemas.openxmlformats.org/officeDocument/2006/relationships/image"/><Relationship Id="rId24" Target="../media/image91.png" Type="http://schemas.openxmlformats.org/officeDocument/2006/relationships/image"/><Relationship Id="rId25" Target="../media/image92.png" Type="http://schemas.openxmlformats.org/officeDocument/2006/relationships/image"/><Relationship Id="rId26" Target="../media/image93.png" Type="http://schemas.openxmlformats.org/officeDocument/2006/relationships/image"/><Relationship Id="rId27" Target="../media/image94.png" Type="http://schemas.openxmlformats.org/officeDocument/2006/relationships/image"/><Relationship Id="rId28" Target="../media/image95.png" Type="http://schemas.openxmlformats.org/officeDocument/2006/relationships/image"/><Relationship Id="rId29" Target="../media/image96.png" Type="http://schemas.openxmlformats.org/officeDocument/2006/relationships/image"/><Relationship Id="rId3" Target="../media/image70.png" Type="http://schemas.openxmlformats.org/officeDocument/2006/relationships/image"/><Relationship Id="rId30" Target="../media/image97.png" Type="http://schemas.openxmlformats.org/officeDocument/2006/relationships/image"/><Relationship Id="rId31" Target="../media/image98.png" Type="http://schemas.openxmlformats.org/officeDocument/2006/relationships/image"/><Relationship Id="rId32" Target="../media/image99.png" Type="http://schemas.openxmlformats.org/officeDocument/2006/relationships/image"/><Relationship Id="rId33" Target="../media/image100.png" Type="http://schemas.openxmlformats.org/officeDocument/2006/relationships/image"/><Relationship Id="rId34" Target="../media/image101.png" Type="http://schemas.openxmlformats.org/officeDocument/2006/relationships/image"/><Relationship Id="rId35" Target="../media/image102.png" Type="http://schemas.openxmlformats.org/officeDocument/2006/relationships/image"/><Relationship Id="rId36" Target="../media/image103.png" Type="http://schemas.openxmlformats.org/officeDocument/2006/relationships/image"/><Relationship Id="rId37" Target="../media/image104.png" Type="http://schemas.openxmlformats.org/officeDocument/2006/relationships/image"/><Relationship Id="rId38" Target="../media/image5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3.png" Type="http://schemas.openxmlformats.org/officeDocument/2006/relationships/image"/><Relationship Id="rId11" Target="../media/image114.png" Type="http://schemas.openxmlformats.org/officeDocument/2006/relationships/image"/><Relationship Id="rId12" Target="../media/image115.png" Type="http://schemas.openxmlformats.org/officeDocument/2006/relationships/image"/><Relationship Id="rId13" Target="../media/image116.png" Type="http://schemas.openxmlformats.org/officeDocument/2006/relationships/image"/><Relationship Id="rId14" Target="../media/image117.png" Type="http://schemas.openxmlformats.org/officeDocument/2006/relationships/image"/><Relationship Id="rId15" Target="../media/image118.png" Type="http://schemas.openxmlformats.org/officeDocument/2006/relationships/image"/><Relationship Id="rId16" Target="../media/image119.png" Type="http://schemas.openxmlformats.org/officeDocument/2006/relationships/image"/><Relationship Id="rId17" Target="../media/image120.png" Type="http://schemas.openxmlformats.org/officeDocument/2006/relationships/image"/><Relationship Id="rId18" Target="../media/image5.png" Type="http://schemas.openxmlformats.org/officeDocument/2006/relationships/image"/><Relationship Id="rId19" Target="../media/image121.png" Type="http://schemas.openxmlformats.org/officeDocument/2006/relationships/image"/><Relationship Id="rId2" Target="../media/image105.png" Type="http://schemas.openxmlformats.org/officeDocument/2006/relationships/image"/><Relationship Id="rId20" Target="../media/image122.svg" Type="http://schemas.openxmlformats.org/officeDocument/2006/relationships/image"/><Relationship Id="rId21" Target="../media/image123.png" Type="http://schemas.openxmlformats.org/officeDocument/2006/relationships/image"/><Relationship Id="rId22" Target="../media/image124.png" Type="http://schemas.openxmlformats.org/officeDocument/2006/relationships/image"/><Relationship Id="rId23" Target="../media/image125.png" Type="http://schemas.openxmlformats.org/officeDocument/2006/relationships/image"/><Relationship Id="rId24" Target="../media/image126.png" Type="http://schemas.openxmlformats.org/officeDocument/2006/relationships/image"/><Relationship Id="rId3" Target="../media/image106.png" Type="http://schemas.openxmlformats.org/officeDocument/2006/relationships/image"/><Relationship Id="rId4" Target="../media/image107.png" Type="http://schemas.openxmlformats.org/officeDocument/2006/relationships/image"/><Relationship Id="rId5" Target="../media/image108.png" Type="http://schemas.openxmlformats.org/officeDocument/2006/relationships/image"/><Relationship Id="rId6" Target="../media/image109.png" Type="http://schemas.openxmlformats.org/officeDocument/2006/relationships/image"/><Relationship Id="rId7" Target="../media/image110.png" Type="http://schemas.openxmlformats.org/officeDocument/2006/relationships/image"/><Relationship Id="rId8" Target="../media/image111.png" Type="http://schemas.openxmlformats.org/officeDocument/2006/relationships/image"/><Relationship Id="rId9" Target="../media/image1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st.gov.in/geospatial" TargetMode="External" Type="http://schemas.openxmlformats.org/officeDocument/2006/relationships/hyperlink"/><Relationship Id="rId11" Target="../media/image127.png" Type="http://schemas.openxmlformats.org/officeDocument/2006/relationships/image"/><Relationship Id="rId12" Target="../media/image128.png" Type="http://schemas.openxmlformats.org/officeDocument/2006/relationships/image"/><Relationship Id="rId13" Target="../media/image129.png" Type="http://schemas.openxmlformats.org/officeDocument/2006/relationships/image"/><Relationship Id="rId14" Target="https://github.com/arjuhhareeshs/Satellite-agent" TargetMode="External" Type="http://schemas.openxmlformats.org/officeDocument/2006/relationships/hyperlink"/><Relationship Id="rId15" Target="https://drive.google.com/drive/folders/1Dv0ZxFkVEFFJQMq3cFJh6ERVcJgLnBho?usp=sharing" TargetMode="External" Type="http://schemas.openxmlformats.org/officeDocument/2006/relationships/hyperlink"/><Relationship Id="rId16" Target="../media/image5.png" Type="http://schemas.openxmlformats.org/officeDocument/2006/relationships/image"/><Relationship Id="rId17" Target="https://youtu.be/0rxhbexTmF8?si=vX4Ko_Zk1rHASRW4" TargetMode="External" Type="http://schemas.openxmlformats.org/officeDocument/2006/relationships/hyperlink"/><Relationship Id="rId2" Target="https://doi.org/10.1016/j.rse.2014.01.011" TargetMode="External" Type="http://schemas.openxmlformats.org/officeDocument/2006/relationships/hyperlink"/><Relationship Id="rId3" Target="https://arxiv.org/abs/2306.11029" TargetMode="External" Type="http://schemas.openxmlformats.org/officeDocument/2006/relationships/hyperlink"/><Relationship Id="rId4" Target="https://arxiv.org/abs/2004.12832" TargetMode="External" Type="http://schemas.openxmlformats.org/officeDocument/2006/relationships/hyperlink"/><Relationship Id="rId5" Target="https://dataspace.copernicus.eu/" TargetMode="External" Type="http://schemas.openxmlformats.org/officeDocument/2006/relationships/hyperlink"/><Relationship Id="rId6" Target="https://www.usgs.gov/landsat-missions/" TargetMode="External" Type="http://schemas.openxmlformats.org/officeDocument/2006/relationships/hyperlink"/><Relationship Id="rId7" Target="https://www.ogc.org/standards/stac/" TargetMode="External" Type="http://schemas.openxmlformats.org/officeDocument/2006/relationships/hyperlink"/><Relationship Id="rId8" Target="https://chenhao.in/LEVIR/" TargetMode="External" Type="http://schemas.openxmlformats.org/officeDocument/2006/relationships/hyperlink"/><Relationship Id="rId9" Target="https://sih.gov.i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6000" cy="10287000"/>
            <a:chOff x="0" y="0"/>
            <a:chExt cx="18288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023424" y="174252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176065" y="2573822"/>
            <a:ext cx="4805267" cy="5139357"/>
            <a:chOff x="0" y="0"/>
            <a:chExt cx="6407023" cy="68524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959950" y="1018623"/>
            <a:ext cx="1261874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368" r="0" b="-673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b="true" sz="600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88350" y="2887760"/>
            <a:ext cx="9713043" cy="617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</a:p>
          <a:p>
            <a:pPr algn="just" marL="524827" indent="-262413" lvl="1">
              <a:lnSpc>
                <a:spcPts val="69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SIH26227</a:t>
            </a:r>
          </a:p>
          <a:p>
            <a:pPr algn="just" marL="506730" indent="-253365" lvl="1">
              <a:lnSpc>
                <a:spcPts val="67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Retrieval and Multi-Temporal Change Analysis of Satellite Imagery.</a:t>
            </a:r>
          </a:p>
          <a:p>
            <a:pPr algn="just" marL="524827" indent="-262413" lvl="1">
              <a:lnSpc>
                <a:spcPts val="69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Space Technology</a:t>
            </a:r>
          </a:p>
          <a:p>
            <a:pPr algn="just" marL="524827" indent="-262413" lvl="1">
              <a:lnSpc>
                <a:spcPts val="69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just" marL="524827" indent="-262413" lvl="1">
              <a:lnSpc>
                <a:spcPts val="69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just" marL="524827" indent="-262413" lvl="1">
              <a:lnSpc>
                <a:spcPts val="6959"/>
              </a:lnSpc>
              <a:buFont typeface="Arial"/>
              <a:buChar char="•"/>
            </a:pPr>
            <a:r>
              <a:rPr lang="en-US" b="true" sz="28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sz="28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HeisenBug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8" r="0" b="-16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892" y="75028"/>
            <a:ext cx="6350794" cy="78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3"/>
              </a:lnSpc>
            </a:pPr>
            <a:r>
              <a:rPr lang="en-US" sz="4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81343" y="718023"/>
            <a:ext cx="11725323" cy="33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From a simple question to an evidence-backed change report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8969" y="1481195"/>
            <a:ext cx="4311253" cy="1587741"/>
            <a:chOff x="0" y="0"/>
            <a:chExt cx="5748338" cy="21169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48274" cy="2116963"/>
            </a:xfrm>
            <a:custGeom>
              <a:avLst/>
              <a:gdLst/>
              <a:ahLst/>
              <a:cxnLst/>
              <a:rect r="r" b="b" t="t" l="l"/>
              <a:pathLst>
                <a:path h="2116963" w="5748274">
                  <a:moveTo>
                    <a:pt x="0" y="105791"/>
                  </a:moveTo>
                  <a:cubicBezTo>
                    <a:pt x="0" y="47371"/>
                    <a:pt x="47371" y="0"/>
                    <a:pt x="105791" y="0"/>
                  </a:cubicBezTo>
                  <a:lnTo>
                    <a:pt x="5642483" y="0"/>
                  </a:lnTo>
                  <a:cubicBezTo>
                    <a:pt x="5700903" y="0"/>
                    <a:pt x="5748274" y="47371"/>
                    <a:pt x="5748274" y="105791"/>
                  </a:cubicBezTo>
                  <a:lnTo>
                    <a:pt x="5748274" y="2011172"/>
                  </a:lnTo>
                  <a:cubicBezTo>
                    <a:pt x="5748274" y="2069592"/>
                    <a:pt x="5700903" y="2116963"/>
                    <a:pt x="5642483" y="2116963"/>
                  </a:cubicBezTo>
                  <a:lnTo>
                    <a:pt x="105791" y="2116963"/>
                  </a:lnTo>
                  <a:cubicBezTo>
                    <a:pt x="47371" y="2116963"/>
                    <a:pt x="0" y="2069592"/>
                    <a:pt x="0" y="201117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88969" y="3165615"/>
            <a:ext cx="4311253" cy="1850250"/>
            <a:chOff x="0" y="0"/>
            <a:chExt cx="5748338" cy="246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48274" cy="2466975"/>
            </a:xfrm>
            <a:custGeom>
              <a:avLst/>
              <a:gdLst/>
              <a:ahLst/>
              <a:cxnLst/>
              <a:rect r="r" b="b" t="t" l="l"/>
              <a:pathLst>
                <a:path h="2466975" w="5748274">
                  <a:moveTo>
                    <a:pt x="0" y="123317"/>
                  </a:moveTo>
                  <a:cubicBezTo>
                    <a:pt x="0" y="55245"/>
                    <a:pt x="55245" y="0"/>
                    <a:pt x="123317" y="0"/>
                  </a:cubicBezTo>
                  <a:lnTo>
                    <a:pt x="5624957" y="0"/>
                  </a:lnTo>
                  <a:cubicBezTo>
                    <a:pt x="5693029" y="0"/>
                    <a:pt x="5748274" y="55245"/>
                    <a:pt x="5748274" y="123317"/>
                  </a:cubicBezTo>
                  <a:lnTo>
                    <a:pt x="5748274" y="2343658"/>
                  </a:lnTo>
                  <a:cubicBezTo>
                    <a:pt x="5748274" y="2411730"/>
                    <a:pt x="5693029" y="2466975"/>
                    <a:pt x="5624957" y="2466975"/>
                  </a:cubicBezTo>
                  <a:lnTo>
                    <a:pt x="123317" y="2466975"/>
                  </a:lnTo>
                  <a:cubicBezTo>
                    <a:pt x="55245" y="2466975"/>
                    <a:pt x="0" y="2411730"/>
                    <a:pt x="0" y="234365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88969" y="5112544"/>
            <a:ext cx="4311253" cy="1675247"/>
            <a:chOff x="0" y="0"/>
            <a:chExt cx="5748338" cy="22336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48274" cy="2233549"/>
            </a:xfrm>
            <a:custGeom>
              <a:avLst/>
              <a:gdLst/>
              <a:ahLst/>
              <a:cxnLst/>
              <a:rect r="r" b="b" t="t" l="l"/>
              <a:pathLst>
                <a:path h="2233549" w="5748274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5636641" y="0"/>
                  </a:lnTo>
                  <a:cubicBezTo>
                    <a:pt x="5698363" y="0"/>
                    <a:pt x="5748274" y="50038"/>
                    <a:pt x="5748274" y="111633"/>
                  </a:cubicBezTo>
                  <a:lnTo>
                    <a:pt x="5748274" y="2121916"/>
                  </a:lnTo>
                  <a:cubicBezTo>
                    <a:pt x="5748274" y="2183638"/>
                    <a:pt x="5698236" y="2233549"/>
                    <a:pt x="5636641" y="2233549"/>
                  </a:cubicBezTo>
                  <a:lnTo>
                    <a:pt x="111633" y="2233549"/>
                  </a:lnTo>
                  <a:cubicBezTo>
                    <a:pt x="49911" y="2233549"/>
                    <a:pt x="0" y="2183511"/>
                    <a:pt x="0" y="212191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88969" y="6873526"/>
            <a:ext cx="4311253" cy="745531"/>
            <a:chOff x="0" y="0"/>
            <a:chExt cx="5748338" cy="9940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48274" cy="994029"/>
            </a:xfrm>
            <a:custGeom>
              <a:avLst/>
              <a:gdLst/>
              <a:ahLst/>
              <a:cxnLst/>
              <a:rect r="r" b="b" t="t" l="l"/>
              <a:pathLst>
                <a:path h="994029" w="5748274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5698617" y="0"/>
                  </a:lnTo>
                  <a:cubicBezTo>
                    <a:pt x="5726049" y="0"/>
                    <a:pt x="5748274" y="22225"/>
                    <a:pt x="5748274" y="49657"/>
                  </a:cubicBezTo>
                  <a:lnTo>
                    <a:pt x="5748274" y="944372"/>
                  </a:lnTo>
                  <a:cubicBezTo>
                    <a:pt x="5748274" y="971804"/>
                    <a:pt x="5726049" y="994029"/>
                    <a:pt x="5698617" y="994029"/>
                  </a:cubicBezTo>
                  <a:lnTo>
                    <a:pt x="49657" y="994029"/>
                  </a:lnTo>
                  <a:cubicBezTo>
                    <a:pt x="22225" y="994029"/>
                    <a:pt x="0" y="971804"/>
                    <a:pt x="0" y="94437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351627" y="3040704"/>
            <a:ext cx="207816" cy="185938"/>
            <a:chOff x="0" y="0"/>
            <a:chExt cx="277089" cy="247917"/>
          </a:xfrm>
        </p:grpSpPr>
        <p:sp>
          <p:nvSpPr>
            <p:cNvPr name="Freeform 13" id="13" descr="ar1.png"/>
            <p:cNvSpPr/>
            <p:nvPr/>
          </p:nvSpPr>
          <p:spPr>
            <a:xfrm flipH="false" flipV="false" rot="0">
              <a:off x="0" y="0"/>
              <a:ext cx="277114" cy="247904"/>
            </a:xfrm>
            <a:custGeom>
              <a:avLst/>
              <a:gdLst/>
              <a:ahLst/>
              <a:cxnLst/>
              <a:rect r="r" b="b" t="t" l="l"/>
              <a:pathLst>
                <a:path h="247904" w="277114">
                  <a:moveTo>
                    <a:pt x="0" y="0"/>
                  </a:moveTo>
                  <a:lnTo>
                    <a:pt x="277114" y="0"/>
                  </a:lnTo>
                  <a:lnTo>
                    <a:pt x="277114" y="247904"/>
                  </a:lnTo>
                  <a:lnTo>
                    <a:pt x="0" y="247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9" b="-1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351627" y="4987633"/>
            <a:ext cx="207816" cy="196882"/>
            <a:chOff x="0" y="0"/>
            <a:chExt cx="277089" cy="262509"/>
          </a:xfrm>
        </p:grpSpPr>
        <p:sp>
          <p:nvSpPr>
            <p:cNvPr name="Freeform 15" id="15" descr="ar2.png"/>
            <p:cNvSpPr/>
            <p:nvPr/>
          </p:nvSpPr>
          <p:spPr>
            <a:xfrm flipH="false" flipV="false" rot="0">
              <a:off x="0" y="0"/>
              <a:ext cx="277114" cy="262509"/>
            </a:xfrm>
            <a:custGeom>
              <a:avLst/>
              <a:gdLst/>
              <a:ahLst/>
              <a:cxnLst/>
              <a:rect r="r" b="b" t="t" l="l"/>
              <a:pathLst>
                <a:path h="262509" w="277114">
                  <a:moveTo>
                    <a:pt x="0" y="0"/>
                  </a:moveTo>
                  <a:lnTo>
                    <a:pt x="277114" y="0"/>
                  </a:lnTo>
                  <a:lnTo>
                    <a:pt x="277114" y="262509"/>
                  </a:lnTo>
                  <a:lnTo>
                    <a:pt x="0" y="262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9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362562" y="6759559"/>
            <a:ext cx="207816" cy="196882"/>
            <a:chOff x="0" y="0"/>
            <a:chExt cx="277089" cy="262509"/>
          </a:xfrm>
        </p:grpSpPr>
        <p:sp>
          <p:nvSpPr>
            <p:cNvPr name="Freeform 17" id="17" descr="ar3.png"/>
            <p:cNvSpPr/>
            <p:nvPr/>
          </p:nvSpPr>
          <p:spPr>
            <a:xfrm flipH="false" flipV="false" rot="0">
              <a:off x="0" y="0"/>
              <a:ext cx="277114" cy="262509"/>
            </a:xfrm>
            <a:custGeom>
              <a:avLst/>
              <a:gdLst/>
              <a:ahLst/>
              <a:cxnLst/>
              <a:rect r="r" b="b" t="t" l="l"/>
              <a:pathLst>
                <a:path h="262509" w="277114">
                  <a:moveTo>
                    <a:pt x="0" y="0"/>
                  </a:moveTo>
                  <a:lnTo>
                    <a:pt x="277114" y="0"/>
                  </a:lnTo>
                  <a:lnTo>
                    <a:pt x="277114" y="262509"/>
                  </a:lnTo>
                  <a:lnTo>
                    <a:pt x="0" y="262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9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7512" y="1509417"/>
            <a:ext cx="525018" cy="525018"/>
            <a:chOff x="0" y="0"/>
            <a:chExt cx="700024" cy="7000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0024" cy="700024"/>
            </a:xfrm>
            <a:custGeom>
              <a:avLst/>
              <a:gdLst/>
              <a:ahLst/>
              <a:cxnLst/>
              <a:rect r="r" b="b" t="t" l="l"/>
              <a:pathLst>
                <a:path h="700024" w="700024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cubicBezTo>
                    <a:pt x="543306" y="0"/>
                    <a:pt x="700024" y="156718"/>
                    <a:pt x="700024" y="350012"/>
                  </a:cubicBezTo>
                  <a:cubicBezTo>
                    <a:pt x="700024" y="543306"/>
                    <a:pt x="543306" y="700024"/>
                    <a:pt x="350012" y="700024"/>
                  </a:cubicBezTo>
                  <a:cubicBezTo>
                    <a:pt x="156718" y="700024"/>
                    <a:pt x="0" y="543306"/>
                    <a:pt x="0" y="350012"/>
                  </a:cubicBezTo>
                  <a:close/>
                </a:path>
              </a:pathLst>
            </a:custGeom>
            <a:solidFill>
              <a:srgbClr val="0A6AC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700024" cy="709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37533" y="1515066"/>
            <a:ext cx="3281343" cy="25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Ask in Plain Language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7533" y="1777575"/>
            <a:ext cx="3281343" cy="54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Analyst enters a query or</a:t>
            </a:r>
          </a:p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uploads an example image.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78142" y="2340693"/>
            <a:ext cx="546887" cy="590645"/>
            <a:chOff x="0" y="0"/>
            <a:chExt cx="729183" cy="787527"/>
          </a:xfrm>
        </p:grpSpPr>
        <p:sp>
          <p:nvSpPr>
            <p:cNvPr name="Freeform 24" id="24" descr="p1_person.png"/>
            <p:cNvSpPr/>
            <p:nvPr/>
          </p:nvSpPr>
          <p:spPr>
            <a:xfrm flipH="false" flipV="false" rot="0">
              <a:off x="0" y="0"/>
              <a:ext cx="729234" cy="787527"/>
            </a:xfrm>
            <a:custGeom>
              <a:avLst/>
              <a:gdLst/>
              <a:ahLst/>
              <a:cxnLst/>
              <a:rect r="r" b="b" t="t" l="l"/>
              <a:pathLst>
                <a:path h="787527" w="729234">
                  <a:moveTo>
                    <a:pt x="0" y="0"/>
                  </a:moveTo>
                  <a:lnTo>
                    <a:pt x="729234" y="0"/>
                  </a:lnTo>
                  <a:lnTo>
                    <a:pt x="729234" y="787527"/>
                  </a:lnTo>
                  <a:lnTo>
                    <a:pt x="0" y="787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65669" y="2318814"/>
            <a:ext cx="2953207" cy="656263"/>
            <a:chOff x="0" y="0"/>
            <a:chExt cx="3937610" cy="8750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37635" cy="875030"/>
            </a:xfrm>
            <a:custGeom>
              <a:avLst/>
              <a:gdLst/>
              <a:ahLst/>
              <a:cxnLst/>
              <a:rect r="r" b="b" t="t" l="l"/>
              <a:pathLst>
                <a:path h="875030" w="3937635">
                  <a:moveTo>
                    <a:pt x="0" y="122555"/>
                  </a:moveTo>
                  <a:cubicBezTo>
                    <a:pt x="0" y="54864"/>
                    <a:pt x="54864" y="0"/>
                    <a:pt x="122555" y="0"/>
                  </a:cubicBezTo>
                  <a:lnTo>
                    <a:pt x="3815080" y="0"/>
                  </a:lnTo>
                  <a:cubicBezTo>
                    <a:pt x="3882771" y="0"/>
                    <a:pt x="3937635" y="54864"/>
                    <a:pt x="3937635" y="122555"/>
                  </a:cubicBezTo>
                  <a:lnTo>
                    <a:pt x="3937635" y="752475"/>
                  </a:lnTo>
                  <a:cubicBezTo>
                    <a:pt x="3937635" y="820166"/>
                    <a:pt x="3882771" y="875030"/>
                    <a:pt x="3815080" y="875030"/>
                  </a:cubicBezTo>
                  <a:lnTo>
                    <a:pt x="122555" y="875030"/>
                  </a:lnTo>
                  <a:cubicBezTo>
                    <a:pt x="54864" y="875030"/>
                    <a:pt x="0" y="820166"/>
                    <a:pt x="0" y="752475"/>
                  </a:cubicBezTo>
                  <a:close/>
                </a:path>
              </a:pathLst>
            </a:custGeom>
            <a:solidFill>
              <a:srgbClr val="EAF5F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-10800000">
            <a:off x="1356284" y="2493816"/>
            <a:ext cx="153133" cy="218751"/>
            <a:chOff x="0" y="0"/>
            <a:chExt cx="204178" cy="2916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216" cy="291719"/>
            </a:xfrm>
            <a:custGeom>
              <a:avLst/>
              <a:gdLst/>
              <a:ahLst/>
              <a:cxnLst/>
              <a:rect r="r" b="b" t="t" l="l"/>
              <a:pathLst>
                <a:path h="291719" w="204216">
                  <a:moveTo>
                    <a:pt x="0" y="291719"/>
                  </a:moveTo>
                  <a:lnTo>
                    <a:pt x="0" y="0"/>
                  </a:lnTo>
                  <a:lnTo>
                    <a:pt x="204216" y="291719"/>
                  </a:lnTo>
                  <a:close/>
                </a:path>
              </a:pathLst>
            </a:custGeom>
            <a:solidFill>
              <a:srgbClr val="EAF5F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662541" y="2391508"/>
            <a:ext cx="2734447" cy="55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“Show new constructions</a:t>
            </a:r>
          </a:p>
          <a:p>
            <a:pPr algn="l">
              <a:lnSpc>
                <a:spcPts val="183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near a river in the last 2 years”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437512" y="3226651"/>
            <a:ext cx="525018" cy="525018"/>
            <a:chOff x="0" y="0"/>
            <a:chExt cx="700024" cy="7000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0024" cy="700024"/>
            </a:xfrm>
            <a:custGeom>
              <a:avLst/>
              <a:gdLst/>
              <a:ahLst/>
              <a:cxnLst/>
              <a:rect r="r" b="b" t="t" l="l"/>
              <a:pathLst>
                <a:path h="700024" w="700024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cubicBezTo>
                    <a:pt x="543306" y="0"/>
                    <a:pt x="700024" y="156718"/>
                    <a:pt x="700024" y="350012"/>
                  </a:cubicBezTo>
                  <a:cubicBezTo>
                    <a:pt x="700024" y="543306"/>
                    <a:pt x="543306" y="700024"/>
                    <a:pt x="350012" y="700024"/>
                  </a:cubicBezTo>
                  <a:cubicBezTo>
                    <a:pt x="156718" y="700024"/>
                    <a:pt x="0" y="543306"/>
                    <a:pt x="0" y="350012"/>
                  </a:cubicBezTo>
                  <a:close/>
                </a:path>
              </a:pathLst>
            </a:custGeom>
            <a:solidFill>
              <a:srgbClr val="0A6AC4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700024" cy="709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7533" y="3188551"/>
            <a:ext cx="3500095" cy="25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 Understands the Query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37533" y="3451060"/>
            <a:ext cx="3500095" cy="54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Extracts location, time and target</a:t>
            </a:r>
          </a:p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using vision-language AI.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831275" y="4036047"/>
            <a:ext cx="393764" cy="492204"/>
            <a:chOff x="0" y="0"/>
            <a:chExt cx="525018" cy="656272"/>
          </a:xfrm>
        </p:grpSpPr>
        <p:sp>
          <p:nvSpPr>
            <p:cNvPr name="Freeform 36" id="36" descr="p2_pin.png"/>
            <p:cNvSpPr/>
            <p:nvPr/>
          </p:nvSpPr>
          <p:spPr>
            <a:xfrm flipH="false" flipV="false" rot="0">
              <a:off x="0" y="0"/>
              <a:ext cx="525018" cy="656209"/>
            </a:xfrm>
            <a:custGeom>
              <a:avLst/>
              <a:gdLst/>
              <a:ahLst/>
              <a:cxnLst/>
              <a:rect r="r" b="b" t="t" l="l"/>
              <a:pathLst>
                <a:path h="656209" w="525018">
                  <a:moveTo>
                    <a:pt x="0" y="0"/>
                  </a:moveTo>
                  <a:lnTo>
                    <a:pt x="525018" y="0"/>
                  </a:lnTo>
                  <a:lnTo>
                    <a:pt x="525018" y="656209"/>
                  </a:lnTo>
                  <a:lnTo>
                    <a:pt x="0" y="656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9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220373" y="4036047"/>
            <a:ext cx="459391" cy="481260"/>
            <a:chOff x="0" y="0"/>
            <a:chExt cx="612521" cy="641680"/>
          </a:xfrm>
        </p:grpSpPr>
        <p:sp>
          <p:nvSpPr>
            <p:cNvPr name="Freeform 38" id="38" descr="p2_cal.png"/>
            <p:cNvSpPr/>
            <p:nvPr/>
          </p:nvSpPr>
          <p:spPr>
            <a:xfrm flipH="false" flipV="false" rot="0">
              <a:off x="0" y="0"/>
              <a:ext cx="612521" cy="641731"/>
            </a:xfrm>
            <a:custGeom>
              <a:avLst/>
              <a:gdLst/>
              <a:ahLst/>
              <a:cxnLst/>
              <a:rect r="r" b="b" t="t" l="l"/>
              <a:pathLst>
                <a:path h="641731" w="612521">
                  <a:moveTo>
                    <a:pt x="0" y="0"/>
                  </a:moveTo>
                  <a:lnTo>
                    <a:pt x="612521" y="0"/>
                  </a:lnTo>
                  <a:lnTo>
                    <a:pt x="612521" y="641731"/>
                  </a:lnTo>
                  <a:lnTo>
                    <a:pt x="0" y="64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7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686042" y="4025113"/>
            <a:ext cx="514074" cy="514074"/>
            <a:chOff x="0" y="0"/>
            <a:chExt cx="685432" cy="685432"/>
          </a:xfrm>
        </p:grpSpPr>
        <p:sp>
          <p:nvSpPr>
            <p:cNvPr name="Freeform 40" id="40" descr="p2_tgt.png"/>
            <p:cNvSpPr/>
            <p:nvPr/>
          </p:nvSpPr>
          <p:spPr>
            <a:xfrm flipH="false" flipV="false" rot="0">
              <a:off x="0" y="0"/>
              <a:ext cx="685419" cy="685419"/>
            </a:xfrm>
            <a:custGeom>
              <a:avLst/>
              <a:gdLst/>
              <a:ahLst/>
              <a:cxnLst/>
              <a:rect r="r" b="b" t="t" l="l"/>
              <a:pathLst>
                <a:path h="685419" w="685419">
                  <a:moveTo>
                    <a:pt x="0" y="0"/>
                  </a:moveTo>
                  <a:lnTo>
                    <a:pt x="685419" y="0"/>
                  </a:lnTo>
                  <a:lnTo>
                    <a:pt x="685419" y="685419"/>
                  </a:lnTo>
                  <a:lnTo>
                    <a:pt x="0" y="685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1"/>
              </a:stretch>
            </a:blipFill>
          </p:spPr>
        </p:sp>
      </p:grpSp>
      <p:sp>
        <p:nvSpPr>
          <p:cNvPr name="AutoShape 41" id="41"/>
          <p:cNvSpPr/>
          <p:nvPr/>
        </p:nvSpPr>
        <p:spPr>
          <a:xfrm rot="5354220">
            <a:off x="1207703" y="4468797"/>
            <a:ext cx="953433" cy="0"/>
          </a:xfrm>
          <a:prstGeom prst="line">
            <a:avLst/>
          </a:prstGeom>
          <a:ln cap="rnd" w="9525">
            <a:solidFill>
              <a:srgbClr val="DBEA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5354220">
            <a:off x="2717121" y="4468797"/>
            <a:ext cx="953433" cy="0"/>
          </a:xfrm>
          <a:prstGeom prst="line">
            <a:avLst/>
          </a:prstGeom>
          <a:ln cap="rnd" w="9525">
            <a:solidFill>
              <a:srgbClr val="DBEA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311725" y="4490152"/>
            <a:ext cx="1421911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8"/>
              </a:lnSpc>
            </a:pPr>
            <a:r>
              <a:rPr lang="en-US" sz="1149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</a:p>
          <a:p>
            <a:pPr algn="ctr">
              <a:lnSpc>
                <a:spcPts val="1628"/>
              </a:lnSpc>
            </a:pPr>
            <a:r>
              <a:rPr lang="en-US" sz="1149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(AOI)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733645" y="4490152"/>
            <a:ext cx="1421911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8"/>
              </a:lnSpc>
            </a:pPr>
            <a:r>
              <a:rPr lang="en-US" sz="1149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Time Range</a:t>
            </a:r>
          </a:p>
          <a:p>
            <a:pPr algn="ctr">
              <a:lnSpc>
                <a:spcPts val="1628"/>
              </a:lnSpc>
            </a:pPr>
            <a:r>
              <a:rPr lang="en-US" sz="1149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(2023 – 2025)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221184" y="4490152"/>
            <a:ext cx="1421911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8"/>
              </a:lnSpc>
            </a:pPr>
            <a:r>
              <a:rPr lang="en-US" sz="1149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</a:p>
          <a:p>
            <a:pPr algn="ctr">
              <a:lnSpc>
                <a:spcPts val="1628"/>
              </a:lnSpc>
            </a:pPr>
            <a:r>
              <a:rPr lang="en-US" sz="1149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(e.g., construction)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437512" y="5173580"/>
            <a:ext cx="525018" cy="525018"/>
            <a:chOff x="0" y="0"/>
            <a:chExt cx="700024" cy="70002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0024" cy="700024"/>
            </a:xfrm>
            <a:custGeom>
              <a:avLst/>
              <a:gdLst/>
              <a:ahLst/>
              <a:cxnLst/>
              <a:rect r="r" b="b" t="t" l="l"/>
              <a:pathLst>
                <a:path h="700024" w="700024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cubicBezTo>
                    <a:pt x="543306" y="0"/>
                    <a:pt x="700024" y="156718"/>
                    <a:pt x="700024" y="350012"/>
                  </a:cubicBezTo>
                  <a:cubicBezTo>
                    <a:pt x="700024" y="543306"/>
                    <a:pt x="543306" y="700024"/>
                    <a:pt x="350012" y="700024"/>
                  </a:cubicBezTo>
                  <a:cubicBezTo>
                    <a:pt x="156718" y="700024"/>
                    <a:pt x="0" y="543306"/>
                    <a:pt x="0" y="350012"/>
                  </a:cubicBezTo>
                  <a:close/>
                </a:path>
              </a:pathLst>
            </a:custGeom>
            <a:solidFill>
              <a:srgbClr val="0A6AC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700024" cy="709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37533" y="5157349"/>
            <a:ext cx="3281343" cy="25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Search &amp; Analyse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7533" y="5430803"/>
            <a:ext cx="3281343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Searches local satellite archive and</a:t>
            </a:r>
          </a:p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performs multi-temporal change detection.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115654" y="5939228"/>
            <a:ext cx="546887" cy="732834"/>
            <a:chOff x="0" y="0"/>
            <a:chExt cx="729183" cy="977113"/>
          </a:xfrm>
        </p:grpSpPr>
        <p:sp>
          <p:nvSpPr>
            <p:cNvPr name="Freeform 52" id="52" descr="p3_db.png"/>
            <p:cNvSpPr/>
            <p:nvPr/>
          </p:nvSpPr>
          <p:spPr>
            <a:xfrm flipH="false" flipV="false" rot="0">
              <a:off x="0" y="0"/>
              <a:ext cx="729234" cy="977138"/>
            </a:xfrm>
            <a:custGeom>
              <a:avLst/>
              <a:gdLst/>
              <a:ahLst/>
              <a:cxnLst/>
              <a:rect r="r" b="b" t="t" l="l"/>
              <a:pathLst>
                <a:path h="977138" w="729234">
                  <a:moveTo>
                    <a:pt x="0" y="0"/>
                  </a:moveTo>
                  <a:lnTo>
                    <a:pt x="729234" y="0"/>
                  </a:lnTo>
                  <a:lnTo>
                    <a:pt x="729234" y="977138"/>
                  </a:lnTo>
                  <a:lnTo>
                    <a:pt x="0" y="977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7" b="2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2001622" y="5933942"/>
            <a:ext cx="2187559" cy="9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4"/>
              </a:lnSpc>
            </a:pPr>
            <a:r>
              <a:rPr lang="en-US" sz="1100">
                <a:solidFill>
                  <a:srgbClr val="0B2E7A"/>
                </a:solidFill>
                <a:latin typeface="Arial"/>
                <a:ea typeface="Arial"/>
                <a:cs typeface="Arial"/>
                <a:sym typeface="Arial"/>
              </a:rPr>
              <a:t>•  Sentinel-1 (SAR)</a:t>
            </a:r>
          </a:p>
          <a:p>
            <a:pPr algn="l">
              <a:lnSpc>
                <a:spcPts val="1584"/>
              </a:lnSpc>
            </a:pPr>
            <a:r>
              <a:rPr lang="en-US" sz="1100">
                <a:solidFill>
                  <a:srgbClr val="0B2E7A"/>
                </a:solidFill>
                <a:latin typeface="Arial"/>
                <a:ea typeface="Arial"/>
                <a:cs typeface="Arial"/>
                <a:sym typeface="Arial"/>
              </a:rPr>
              <a:t>•  Sentinel-2 (Optical)</a:t>
            </a:r>
          </a:p>
          <a:p>
            <a:pPr algn="l">
              <a:lnSpc>
                <a:spcPts val="1584"/>
              </a:lnSpc>
            </a:pPr>
            <a:r>
              <a:rPr lang="en-US" sz="1100">
                <a:solidFill>
                  <a:srgbClr val="0B2E7A"/>
                </a:solidFill>
                <a:latin typeface="Arial"/>
                <a:ea typeface="Arial"/>
                <a:cs typeface="Arial"/>
                <a:sym typeface="Arial"/>
              </a:rPr>
              <a:t>•  Landsat</a:t>
            </a:r>
          </a:p>
          <a:p>
            <a:pPr algn="l">
              <a:lnSpc>
                <a:spcPts val="1584"/>
              </a:lnSpc>
            </a:pPr>
            <a:r>
              <a:rPr lang="en-US" sz="1100">
                <a:solidFill>
                  <a:srgbClr val="0B2E7A"/>
                </a:solidFill>
                <a:latin typeface="Arial"/>
                <a:ea typeface="Arial"/>
                <a:cs typeface="Arial"/>
                <a:sym typeface="Arial"/>
              </a:rPr>
              <a:t>•  Historical Archive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437512" y="6923627"/>
            <a:ext cx="525018" cy="525018"/>
            <a:chOff x="0" y="0"/>
            <a:chExt cx="700024" cy="7000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00024" cy="700024"/>
            </a:xfrm>
            <a:custGeom>
              <a:avLst/>
              <a:gdLst/>
              <a:ahLst/>
              <a:cxnLst/>
              <a:rect r="r" b="b" t="t" l="l"/>
              <a:pathLst>
                <a:path h="700024" w="700024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cubicBezTo>
                    <a:pt x="543306" y="0"/>
                    <a:pt x="700024" y="156718"/>
                    <a:pt x="700024" y="350012"/>
                  </a:cubicBezTo>
                  <a:cubicBezTo>
                    <a:pt x="700024" y="543306"/>
                    <a:pt x="543306" y="700024"/>
                    <a:pt x="350012" y="700024"/>
                  </a:cubicBezTo>
                  <a:cubicBezTo>
                    <a:pt x="156718" y="700024"/>
                    <a:pt x="0" y="543306"/>
                    <a:pt x="0" y="350012"/>
                  </a:cubicBezTo>
                  <a:close/>
                </a:path>
              </a:pathLst>
            </a:custGeom>
            <a:solidFill>
              <a:srgbClr val="0A6AC4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700024" cy="709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37533" y="6896462"/>
            <a:ext cx="3281343" cy="25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Get a Verified Change Report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37533" y="7158971"/>
            <a:ext cx="2843832" cy="54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Returns changes with evidence,</a:t>
            </a:r>
          </a:p>
          <a:p>
            <a:pPr algn="l">
              <a:lnSpc>
                <a:spcPts val="1740"/>
              </a:lnSpc>
            </a:pPr>
            <a:r>
              <a:rPr lang="en-US" sz="12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reasoning and confidence.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3871979" y="6934562"/>
            <a:ext cx="568766" cy="656263"/>
            <a:chOff x="0" y="0"/>
            <a:chExt cx="758355" cy="875017"/>
          </a:xfrm>
        </p:grpSpPr>
        <p:sp>
          <p:nvSpPr>
            <p:cNvPr name="Freeform 60" id="60" descr="p4_doc.png"/>
            <p:cNvSpPr/>
            <p:nvPr/>
          </p:nvSpPr>
          <p:spPr>
            <a:xfrm flipH="false" flipV="false" rot="0">
              <a:off x="0" y="0"/>
              <a:ext cx="758317" cy="875030"/>
            </a:xfrm>
            <a:custGeom>
              <a:avLst/>
              <a:gdLst/>
              <a:ahLst/>
              <a:cxnLst/>
              <a:rect r="r" b="b" t="t" l="l"/>
              <a:pathLst>
                <a:path h="875030" w="758317">
                  <a:moveTo>
                    <a:pt x="0" y="0"/>
                  </a:moveTo>
                  <a:lnTo>
                    <a:pt x="758317" y="0"/>
                  </a:lnTo>
                  <a:lnTo>
                    <a:pt x="758317" y="875030"/>
                  </a:lnTo>
                  <a:lnTo>
                    <a:pt x="0" y="875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5" b="1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29715" y="1470250"/>
            <a:ext cx="9091070" cy="6148807"/>
            <a:chOff x="0" y="0"/>
            <a:chExt cx="12121426" cy="819840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121515" cy="8198486"/>
            </a:xfrm>
            <a:custGeom>
              <a:avLst/>
              <a:gdLst/>
              <a:ahLst/>
              <a:cxnLst/>
              <a:rect r="r" b="b" t="t" l="l"/>
              <a:pathLst>
                <a:path h="8198486" w="12121515">
                  <a:moveTo>
                    <a:pt x="0" y="409956"/>
                  </a:moveTo>
                  <a:cubicBezTo>
                    <a:pt x="0" y="183515"/>
                    <a:pt x="183515" y="0"/>
                    <a:pt x="409956" y="0"/>
                  </a:cubicBezTo>
                  <a:lnTo>
                    <a:pt x="11711559" y="0"/>
                  </a:lnTo>
                  <a:cubicBezTo>
                    <a:pt x="11938000" y="0"/>
                    <a:pt x="12121515" y="183515"/>
                    <a:pt x="12121515" y="409956"/>
                  </a:cubicBezTo>
                  <a:lnTo>
                    <a:pt x="12121515" y="7788529"/>
                  </a:lnTo>
                  <a:cubicBezTo>
                    <a:pt x="12121515" y="8014970"/>
                    <a:pt x="11938000" y="8198486"/>
                    <a:pt x="11711559" y="8198486"/>
                  </a:cubicBezTo>
                  <a:lnTo>
                    <a:pt x="409956" y="8198486"/>
                  </a:lnTo>
                  <a:cubicBezTo>
                    <a:pt x="183515" y="8198358"/>
                    <a:pt x="0" y="8014843"/>
                    <a:pt x="0" y="778852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4900136" y="1640672"/>
            <a:ext cx="87506" cy="317192"/>
            <a:chOff x="0" y="0"/>
            <a:chExt cx="116675" cy="42292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6713" cy="422910"/>
            </a:xfrm>
            <a:custGeom>
              <a:avLst/>
              <a:gdLst/>
              <a:ahLst/>
              <a:cxnLst/>
              <a:rect r="r" b="b" t="t" l="l"/>
              <a:pathLst>
                <a:path h="422910" w="116713">
                  <a:moveTo>
                    <a:pt x="0" y="0"/>
                  </a:moveTo>
                  <a:lnTo>
                    <a:pt x="116713" y="0"/>
                  </a:lnTo>
                  <a:lnTo>
                    <a:pt x="116713" y="422910"/>
                  </a:lnTo>
                  <a:lnTo>
                    <a:pt x="0" y="422910"/>
                  </a:lnTo>
                  <a:close/>
                </a:path>
              </a:pathLst>
            </a:custGeom>
            <a:solidFill>
              <a:srgbClr val="1A6FD4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5097018" y="1593047"/>
            <a:ext cx="7656462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b="true" sz="1700" i="true">
                <a:solidFill>
                  <a:srgbClr val="1F497D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HeisenBug</a:t>
            </a:r>
            <a:r>
              <a:rPr lang="en-US" sz="17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– Satellite Intelligence for Defence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4779816" y="2034426"/>
            <a:ext cx="8990867" cy="5523586"/>
            <a:chOff x="0" y="0"/>
            <a:chExt cx="11987822" cy="7364781"/>
          </a:xfrm>
        </p:grpSpPr>
        <p:sp>
          <p:nvSpPr>
            <p:cNvPr name="Freeform 67" id="67" descr="ui_mockup.png"/>
            <p:cNvSpPr/>
            <p:nvPr/>
          </p:nvSpPr>
          <p:spPr>
            <a:xfrm flipH="false" flipV="false" rot="0">
              <a:off x="0" y="0"/>
              <a:ext cx="11987784" cy="7364730"/>
            </a:xfrm>
            <a:custGeom>
              <a:avLst/>
              <a:gdLst/>
              <a:ahLst/>
              <a:cxnLst/>
              <a:rect r="r" b="b" t="t" l="l"/>
              <a:pathLst>
                <a:path h="7364730" w="11987784">
                  <a:moveTo>
                    <a:pt x="0" y="0"/>
                  </a:moveTo>
                  <a:lnTo>
                    <a:pt x="11987784" y="0"/>
                  </a:lnTo>
                  <a:lnTo>
                    <a:pt x="11987784" y="7364730"/>
                  </a:lnTo>
                  <a:lnTo>
                    <a:pt x="0" y="7364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939342" y="1470250"/>
            <a:ext cx="4048744" cy="6148807"/>
            <a:chOff x="0" y="0"/>
            <a:chExt cx="5398326" cy="819840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398262" cy="8198358"/>
            </a:xfrm>
            <a:custGeom>
              <a:avLst/>
              <a:gdLst/>
              <a:ahLst/>
              <a:cxnLst/>
              <a:rect r="r" b="b" t="t" l="l"/>
              <a:pathLst>
                <a:path h="8198358" w="5398262">
                  <a:moveTo>
                    <a:pt x="0" y="269875"/>
                  </a:moveTo>
                  <a:cubicBezTo>
                    <a:pt x="0" y="120904"/>
                    <a:pt x="120904" y="0"/>
                    <a:pt x="269875" y="0"/>
                  </a:cubicBezTo>
                  <a:lnTo>
                    <a:pt x="5128387" y="0"/>
                  </a:lnTo>
                  <a:cubicBezTo>
                    <a:pt x="5277485" y="0"/>
                    <a:pt x="5398262" y="120904"/>
                    <a:pt x="5398262" y="269875"/>
                  </a:cubicBezTo>
                  <a:lnTo>
                    <a:pt x="5398262" y="7928483"/>
                  </a:lnTo>
                  <a:cubicBezTo>
                    <a:pt x="5398262" y="8077581"/>
                    <a:pt x="5277358" y="8198358"/>
                    <a:pt x="5128387" y="8198358"/>
                  </a:cubicBezTo>
                  <a:lnTo>
                    <a:pt x="269875" y="8198358"/>
                  </a:lnTo>
                  <a:cubicBezTo>
                    <a:pt x="120904" y="8198358"/>
                    <a:pt x="0" y="8077581"/>
                    <a:pt x="0" y="792848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sp>
        <p:nvSpPr>
          <p:cNvPr name="TextBox 70" id="70"/>
          <p:cNvSpPr txBox="true"/>
          <p:nvPr/>
        </p:nvSpPr>
        <p:spPr>
          <a:xfrm rot="0">
            <a:off x="14087885" y="1536944"/>
            <a:ext cx="3718855" cy="25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Sample Change Report</a:t>
            </a:r>
            <a:r>
              <a:rPr lang="en-US" sz="144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 (Generated)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4011323" y="1848488"/>
            <a:ext cx="3926672" cy="5687654"/>
            <a:chOff x="0" y="0"/>
            <a:chExt cx="5235562" cy="7583538"/>
          </a:xfrm>
        </p:grpSpPr>
        <p:sp>
          <p:nvSpPr>
            <p:cNvPr name="Freeform 72" id="72" descr="report_card.png"/>
            <p:cNvSpPr/>
            <p:nvPr/>
          </p:nvSpPr>
          <p:spPr>
            <a:xfrm flipH="false" flipV="false" rot="0">
              <a:off x="0" y="0"/>
              <a:ext cx="5235575" cy="7583551"/>
            </a:xfrm>
            <a:custGeom>
              <a:avLst/>
              <a:gdLst/>
              <a:ahLst/>
              <a:cxnLst/>
              <a:rect r="r" b="b" t="t" l="l"/>
              <a:pathLst>
                <a:path h="7583551" w="5235575">
                  <a:moveTo>
                    <a:pt x="0" y="0"/>
                  </a:moveTo>
                  <a:lnTo>
                    <a:pt x="5235575" y="0"/>
                  </a:lnTo>
                  <a:lnTo>
                    <a:pt x="5235575" y="7583551"/>
                  </a:lnTo>
                  <a:lnTo>
                    <a:pt x="0" y="7583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88969" y="7737615"/>
            <a:ext cx="8128549" cy="1806502"/>
            <a:chOff x="0" y="0"/>
            <a:chExt cx="10838066" cy="240866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838052" cy="2408682"/>
            </a:xfrm>
            <a:custGeom>
              <a:avLst/>
              <a:gdLst/>
              <a:ahLst/>
              <a:cxnLst/>
              <a:rect r="r" b="b" t="t" l="l"/>
              <a:pathLst>
                <a:path h="2408682" w="10838052">
                  <a:moveTo>
                    <a:pt x="0" y="120396"/>
                  </a:moveTo>
                  <a:cubicBezTo>
                    <a:pt x="0" y="53975"/>
                    <a:pt x="53975" y="0"/>
                    <a:pt x="120396" y="0"/>
                  </a:cubicBezTo>
                  <a:lnTo>
                    <a:pt x="10717657" y="0"/>
                  </a:lnTo>
                  <a:cubicBezTo>
                    <a:pt x="10784205" y="0"/>
                    <a:pt x="10838052" y="53975"/>
                    <a:pt x="10838052" y="120396"/>
                  </a:cubicBezTo>
                  <a:lnTo>
                    <a:pt x="10838052" y="2288286"/>
                  </a:lnTo>
                  <a:cubicBezTo>
                    <a:pt x="10838052" y="2354834"/>
                    <a:pt x="10784077" y="2408682"/>
                    <a:pt x="10717657" y="2408682"/>
                  </a:cubicBezTo>
                  <a:lnTo>
                    <a:pt x="120396" y="2408682"/>
                  </a:lnTo>
                  <a:cubicBezTo>
                    <a:pt x="53848" y="2408682"/>
                    <a:pt x="0" y="2354707"/>
                    <a:pt x="0" y="228828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8536067" y="7737615"/>
            <a:ext cx="6006617" cy="1806502"/>
            <a:chOff x="0" y="0"/>
            <a:chExt cx="8008823" cy="240866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008747" cy="2408682"/>
            </a:xfrm>
            <a:custGeom>
              <a:avLst/>
              <a:gdLst/>
              <a:ahLst/>
              <a:cxnLst/>
              <a:rect r="r" b="b" t="t" l="l"/>
              <a:pathLst>
                <a:path h="2408682" w="8008747">
                  <a:moveTo>
                    <a:pt x="0" y="120396"/>
                  </a:moveTo>
                  <a:cubicBezTo>
                    <a:pt x="0" y="53975"/>
                    <a:pt x="53975" y="0"/>
                    <a:pt x="120396" y="0"/>
                  </a:cubicBezTo>
                  <a:lnTo>
                    <a:pt x="7888351" y="0"/>
                  </a:lnTo>
                  <a:cubicBezTo>
                    <a:pt x="7954899" y="0"/>
                    <a:pt x="8008747" y="53975"/>
                    <a:pt x="8008747" y="120396"/>
                  </a:cubicBezTo>
                  <a:lnTo>
                    <a:pt x="8008747" y="2288286"/>
                  </a:lnTo>
                  <a:cubicBezTo>
                    <a:pt x="8008747" y="2354834"/>
                    <a:pt x="7954772" y="2408682"/>
                    <a:pt x="7888351" y="2408682"/>
                  </a:cubicBezTo>
                  <a:lnTo>
                    <a:pt x="120396" y="2408682"/>
                  </a:lnTo>
                  <a:cubicBezTo>
                    <a:pt x="53848" y="2408682"/>
                    <a:pt x="0" y="2354707"/>
                    <a:pt x="0" y="228828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4650298" y="7737615"/>
            <a:ext cx="3337789" cy="1806502"/>
            <a:chOff x="0" y="0"/>
            <a:chExt cx="4450385" cy="240866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450334" cy="2408682"/>
            </a:xfrm>
            <a:custGeom>
              <a:avLst/>
              <a:gdLst/>
              <a:ahLst/>
              <a:cxnLst/>
              <a:rect r="r" b="b" t="t" l="l"/>
              <a:pathLst>
                <a:path h="2408682" w="4450334">
                  <a:moveTo>
                    <a:pt x="0" y="120396"/>
                  </a:moveTo>
                  <a:cubicBezTo>
                    <a:pt x="0" y="53975"/>
                    <a:pt x="53975" y="0"/>
                    <a:pt x="120396" y="0"/>
                  </a:cubicBezTo>
                  <a:lnTo>
                    <a:pt x="4329938" y="0"/>
                  </a:lnTo>
                  <a:cubicBezTo>
                    <a:pt x="4396486" y="0"/>
                    <a:pt x="4450334" y="53975"/>
                    <a:pt x="4450334" y="120396"/>
                  </a:cubicBezTo>
                  <a:lnTo>
                    <a:pt x="4450334" y="2288286"/>
                  </a:lnTo>
                  <a:cubicBezTo>
                    <a:pt x="4450334" y="2354834"/>
                    <a:pt x="4396359" y="2408682"/>
                    <a:pt x="4329938" y="2408682"/>
                  </a:cubicBezTo>
                  <a:lnTo>
                    <a:pt x="120396" y="2408682"/>
                  </a:lnTo>
                  <a:cubicBezTo>
                    <a:pt x="53848" y="2408682"/>
                    <a:pt x="0" y="2354707"/>
                    <a:pt x="0" y="228828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DF7"/>
              </a:solidFill>
              <a:prstDash val="solid"/>
              <a:miter/>
            </a:ln>
          </p:spPr>
        </p:sp>
      </p:grpSp>
      <p:sp>
        <p:nvSpPr>
          <p:cNvPr name="TextBox 79" id="79"/>
          <p:cNvSpPr txBox="true"/>
          <p:nvPr/>
        </p:nvSpPr>
        <p:spPr>
          <a:xfrm rot="0">
            <a:off x="557832" y="7783840"/>
            <a:ext cx="3281343" cy="2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4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Key Innovations</a:t>
            </a:r>
          </a:p>
        </p:txBody>
      </p:sp>
      <p:sp>
        <p:nvSpPr>
          <p:cNvPr name="AutoShape 80" id="80"/>
          <p:cNvSpPr/>
          <p:nvPr/>
        </p:nvSpPr>
        <p:spPr>
          <a:xfrm rot="5366520">
            <a:off x="1492101" y="8778288"/>
            <a:ext cx="1303420" cy="0"/>
          </a:xfrm>
          <a:prstGeom prst="line">
            <a:avLst/>
          </a:prstGeom>
          <a:ln cap="rnd" w="9525">
            <a:solidFill>
              <a:srgbClr val="DBEA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rot="5366520">
            <a:off x="3810914" y="8778288"/>
            <a:ext cx="1303420" cy="0"/>
          </a:xfrm>
          <a:prstGeom prst="line">
            <a:avLst/>
          </a:prstGeom>
          <a:ln cap="rnd" w="9525">
            <a:solidFill>
              <a:srgbClr val="DBEAF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 rot="5366520">
            <a:off x="5725030" y="8778288"/>
            <a:ext cx="1303420" cy="0"/>
          </a:xfrm>
          <a:prstGeom prst="line">
            <a:avLst/>
          </a:prstGeom>
          <a:ln cap="rnd" w="9525">
            <a:solidFill>
              <a:srgbClr val="DBEAF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3" id="83"/>
          <p:cNvGrpSpPr/>
          <p:nvPr/>
        </p:nvGrpSpPr>
        <p:grpSpPr>
          <a:xfrm rot="0">
            <a:off x="1050026" y="8126787"/>
            <a:ext cx="459391" cy="437512"/>
            <a:chOff x="0" y="0"/>
            <a:chExt cx="612521" cy="583349"/>
          </a:xfrm>
        </p:grpSpPr>
        <p:sp>
          <p:nvSpPr>
            <p:cNvPr name="Freeform 84" id="84" descr="ki_116.png"/>
            <p:cNvSpPr/>
            <p:nvPr/>
          </p:nvSpPr>
          <p:spPr>
            <a:xfrm flipH="false" flipV="false" rot="0">
              <a:off x="0" y="0"/>
              <a:ext cx="612521" cy="583311"/>
            </a:xfrm>
            <a:custGeom>
              <a:avLst/>
              <a:gdLst/>
              <a:ahLst/>
              <a:cxnLst/>
              <a:rect r="r" b="b" t="t" l="l"/>
              <a:pathLst>
                <a:path h="583311" w="612521">
                  <a:moveTo>
                    <a:pt x="0" y="0"/>
                  </a:moveTo>
                  <a:lnTo>
                    <a:pt x="612521" y="0"/>
                  </a:lnTo>
                  <a:lnTo>
                    <a:pt x="612521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6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229695" y="8635575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 b="true">
                <a:solidFill>
                  <a:srgbClr val="0B2E7A"/>
                </a:solidFill>
                <a:latin typeface="Arial Bold"/>
                <a:ea typeface="Arial Bold"/>
                <a:cs typeface="Arial Bold"/>
                <a:sym typeface="Arial Bold"/>
              </a:rPr>
              <a:t>Geo-object index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29695" y="8876205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Search by meaning,</a:t>
            </a:r>
          </a:p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not just coordinates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3062583" y="8104908"/>
            <a:ext cx="393764" cy="415633"/>
            <a:chOff x="0" y="0"/>
            <a:chExt cx="525018" cy="554177"/>
          </a:xfrm>
        </p:grpSpPr>
        <p:sp>
          <p:nvSpPr>
            <p:cNvPr name="Freeform 88" id="88" descr="ki_298.png"/>
            <p:cNvSpPr/>
            <p:nvPr/>
          </p:nvSpPr>
          <p:spPr>
            <a:xfrm flipH="false" flipV="false" rot="0">
              <a:off x="0" y="0"/>
              <a:ext cx="525018" cy="554228"/>
            </a:xfrm>
            <a:custGeom>
              <a:avLst/>
              <a:gdLst/>
              <a:ahLst/>
              <a:cxnLst/>
              <a:rect r="r" b="b" t="t" l="l"/>
              <a:pathLst>
                <a:path h="554228" w="525018">
                  <a:moveTo>
                    <a:pt x="0" y="0"/>
                  </a:moveTo>
                  <a:lnTo>
                    <a:pt x="525018" y="0"/>
                  </a:lnTo>
                  <a:lnTo>
                    <a:pt x="525018" y="554228"/>
                  </a:lnTo>
                  <a:lnTo>
                    <a:pt x="0" y="554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9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2220373" y="8580882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 b="true">
                <a:solidFill>
                  <a:srgbClr val="0B2E7A"/>
                </a:solidFill>
                <a:latin typeface="Arial Bold"/>
                <a:ea typeface="Arial Bold"/>
                <a:cs typeface="Arial Bold"/>
                <a:sym typeface="Arial Bold"/>
              </a:rPr>
              <a:t>Time-series based</a:t>
            </a:r>
          </a:p>
          <a:p>
            <a:pPr algn="ctr">
              <a:lnSpc>
                <a:spcPts val="1600"/>
              </a:lnSpc>
            </a:pPr>
            <a:r>
              <a:rPr lang="en-US" sz="1149" b="true">
                <a:solidFill>
                  <a:srgbClr val="0B2E7A"/>
                </a:solidFill>
                <a:latin typeface="Arial Bold"/>
                <a:ea typeface="Arial Bold"/>
                <a:cs typeface="Arial Bold"/>
                <a:sym typeface="Arial Bold"/>
              </a:rPr>
              <a:t>change detection (CCDC)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220373" y="9007459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Detects real changes,</a:t>
            </a:r>
          </a:p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not two-date difference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5206394" y="8104908"/>
            <a:ext cx="448447" cy="437512"/>
            <a:chOff x="0" y="0"/>
            <a:chExt cx="597929" cy="583349"/>
          </a:xfrm>
        </p:grpSpPr>
        <p:sp>
          <p:nvSpPr>
            <p:cNvPr name="Freeform 92" id="92" descr="ki_497.png"/>
            <p:cNvSpPr/>
            <p:nvPr/>
          </p:nvSpPr>
          <p:spPr>
            <a:xfrm flipH="false" flipV="false" rot="0">
              <a:off x="0" y="0"/>
              <a:ext cx="597916" cy="583311"/>
            </a:xfrm>
            <a:custGeom>
              <a:avLst/>
              <a:gdLst/>
              <a:ahLst/>
              <a:cxnLst/>
              <a:rect r="r" b="b" t="t" l="l"/>
              <a:pathLst>
                <a:path h="583311" w="597916">
                  <a:moveTo>
                    <a:pt x="0" y="0"/>
                  </a:moveTo>
                  <a:lnTo>
                    <a:pt x="597916" y="0"/>
                  </a:lnTo>
                  <a:lnTo>
                    <a:pt x="597916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2" b="-6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4396997" y="8635575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 b="true">
                <a:solidFill>
                  <a:srgbClr val="0B2E7A"/>
                </a:solidFill>
                <a:latin typeface="Arial Bold"/>
                <a:ea typeface="Arial Bold"/>
                <a:cs typeface="Arial Bold"/>
                <a:sym typeface="Arial Bold"/>
              </a:rPr>
              <a:t>Two-stage retrieval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396997" y="8876205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Keeps small targets</a:t>
            </a:r>
          </a:p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(e.g., buildings)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7197071" y="8083029"/>
            <a:ext cx="415633" cy="481260"/>
            <a:chOff x="0" y="0"/>
            <a:chExt cx="554177" cy="641680"/>
          </a:xfrm>
        </p:grpSpPr>
        <p:sp>
          <p:nvSpPr>
            <p:cNvPr name="Freeform 96" id="96" descr="ki_677.png"/>
            <p:cNvSpPr/>
            <p:nvPr/>
          </p:nvSpPr>
          <p:spPr>
            <a:xfrm flipH="false" flipV="false" rot="0">
              <a:off x="0" y="0"/>
              <a:ext cx="554228" cy="641731"/>
            </a:xfrm>
            <a:custGeom>
              <a:avLst/>
              <a:gdLst/>
              <a:ahLst/>
              <a:cxnLst/>
              <a:rect r="r" b="b" t="t" l="l"/>
              <a:pathLst>
                <a:path h="641731" w="554228">
                  <a:moveTo>
                    <a:pt x="0" y="0"/>
                  </a:moveTo>
                  <a:lnTo>
                    <a:pt x="554228" y="0"/>
                  </a:lnTo>
                  <a:lnTo>
                    <a:pt x="554228" y="641731"/>
                  </a:lnTo>
                  <a:lnTo>
                    <a:pt x="0" y="64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9" b="7"/>
              </a:stretch>
            </a:blip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6365796" y="8635575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 b="true">
                <a:solidFill>
                  <a:srgbClr val="0B2E7A"/>
                </a:solidFill>
                <a:latin typeface="Arial Bold"/>
                <a:ea typeface="Arial Bold"/>
                <a:cs typeface="Arial Bold"/>
                <a:sym typeface="Arial Bold"/>
              </a:rPr>
              <a:t>Analyst feedback loop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6365796" y="8876205"/>
            <a:ext cx="2078184" cy="475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Past decisions improve</a:t>
            </a:r>
          </a:p>
          <a:p>
            <a:pPr algn="ctr">
              <a:lnSpc>
                <a:spcPts val="1600"/>
              </a:lnSpc>
            </a:pPr>
            <a:r>
              <a:rPr lang="en-US" sz="1149">
                <a:solidFill>
                  <a:srgbClr val="1B4E9B"/>
                </a:solidFill>
                <a:latin typeface="Arial"/>
                <a:ea typeface="Arial"/>
                <a:cs typeface="Arial"/>
                <a:sym typeface="Arial"/>
              </a:rPr>
              <a:t>future results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8695553" y="7794774"/>
            <a:ext cx="3718855" cy="2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4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Real Use Cases (Examples)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8662740" y="8126787"/>
            <a:ext cx="5753281" cy="1050026"/>
            <a:chOff x="0" y="0"/>
            <a:chExt cx="7671041" cy="1400035"/>
          </a:xfrm>
        </p:grpSpPr>
        <p:sp>
          <p:nvSpPr>
            <p:cNvPr name="Freeform 101" id="101" descr="uc_strip.png"/>
            <p:cNvSpPr/>
            <p:nvPr/>
          </p:nvSpPr>
          <p:spPr>
            <a:xfrm flipH="false" flipV="false" rot="0">
              <a:off x="0" y="0"/>
              <a:ext cx="7671054" cy="1400048"/>
            </a:xfrm>
            <a:custGeom>
              <a:avLst/>
              <a:gdLst/>
              <a:ahLst/>
              <a:cxnLst/>
              <a:rect r="r" b="b" t="t" l="l"/>
              <a:pathLst>
                <a:path h="1400048" w="7671054">
                  <a:moveTo>
                    <a:pt x="0" y="0"/>
                  </a:moveTo>
                  <a:lnTo>
                    <a:pt x="7671054" y="0"/>
                  </a:lnTo>
                  <a:lnTo>
                    <a:pt x="7671054" y="1400048"/>
                  </a:lnTo>
                  <a:lnTo>
                    <a:pt x="0" y="1400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8575234" y="9168698"/>
            <a:ext cx="1531287" cy="25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 b="true">
                <a:solidFill>
                  <a:srgbClr val="12275E"/>
                </a:solidFill>
                <a:latin typeface="Arial Bold"/>
                <a:ea typeface="Arial Bold"/>
                <a:cs typeface="Arial Bold"/>
                <a:sym typeface="Arial Bold"/>
              </a:rPr>
              <a:t>Bridge construction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029958" y="9168698"/>
            <a:ext cx="1531287" cy="25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 b="true">
                <a:solidFill>
                  <a:srgbClr val="12275E"/>
                </a:solidFill>
                <a:latin typeface="Arial Bold"/>
                <a:ea typeface="Arial Bold"/>
                <a:cs typeface="Arial Bold"/>
                <a:sym typeface="Arial Bold"/>
              </a:rPr>
              <a:t>Land clearance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484693" y="9168698"/>
            <a:ext cx="1531287" cy="25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 b="true">
                <a:solidFill>
                  <a:srgbClr val="12275E"/>
                </a:solidFill>
                <a:latin typeface="Arial Bold"/>
                <a:ea typeface="Arial Bold"/>
                <a:cs typeface="Arial Bold"/>
                <a:sym typeface="Arial Bold"/>
              </a:rPr>
              <a:t>Road development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950352" y="9168698"/>
            <a:ext cx="1531287" cy="25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 b="true">
                <a:solidFill>
                  <a:srgbClr val="12275E"/>
                </a:solidFill>
                <a:latin typeface="Arial Bold"/>
                <a:ea typeface="Arial Bold"/>
                <a:cs typeface="Arial Bold"/>
                <a:sym typeface="Arial Bold"/>
              </a:rPr>
              <a:t>Facility expansion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4820719" y="7794774"/>
            <a:ext cx="3281343" cy="25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4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Impact for Defence Users</a:t>
            </a:r>
          </a:p>
        </p:txBody>
      </p:sp>
      <p:grpSp>
        <p:nvGrpSpPr>
          <p:cNvPr name="Group 107" id="107"/>
          <p:cNvGrpSpPr/>
          <p:nvPr/>
        </p:nvGrpSpPr>
        <p:grpSpPr>
          <a:xfrm rot="0">
            <a:off x="15006657" y="8181470"/>
            <a:ext cx="240630" cy="306257"/>
            <a:chOff x="0" y="0"/>
            <a:chExt cx="320840" cy="408343"/>
          </a:xfrm>
        </p:grpSpPr>
        <p:sp>
          <p:nvSpPr>
            <p:cNvPr name="Freeform 108" id="108" descr="im_753.png"/>
            <p:cNvSpPr/>
            <p:nvPr/>
          </p:nvSpPr>
          <p:spPr>
            <a:xfrm flipH="false" flipV="false" rot="0">
              <a:off x="0" y="0"/>
              <a:ext cx="320802" cy="408305"/>
            </a:xfrm>
            <a:custGeom>
              <a:avLst/>
              <a:gdLst/>
              <a:ahLst/>
              <a:cxnLst/>
              <a:rect r="r" b="b" t="t" l="l"/>
              <a:pathLst>
                <a:path h="408305" w="320802">
                  <a:moveTo>
                    <a:pt x="0" y="0"/>
                  </a:moveTo>
                  <a:lnTo>
                    <a:pt x="320802" y="0"/>
                  </a:lnTo>
                  <a:lnTo>
                    <a:pt x="320802" y="408305"/>
                  </a:lnTo>
                  <a:lnTo>
                    <a:pt x="0" y="408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11" b="-9"/>
              </a:stretch>
            </a:blip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5444168" y="8207588"/>
            <a:ext cx="251569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"/>
              </a:lnSpc>
            </a:pPr>
            <a:r>
              <a:rPr lang="en-US" sz="10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Faster discovery of critical changes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4984787" y="8509606"/>
            <a:ext cx="262509" cy="317192"/>
            <a:chOff x="0" y="0"/>
            <a:chExt cx="350012" cy="422923"/>
          </a:xfrm>
        </p:grpSpPr>
        <p:sp>
          <p:nvSpPr>
            <p:cNvPr name="Freeform 111" id="111" descr="im_783.png"/>
            <p:cNvSpPr/>
            <p:nvPr/>
          </p:nvSpPr>
          <p:spPr>
            <a:xfrm flipH="false" flipV="false" rot="0">
              <a:off x="0" y="0"/>
              <a:ext cx="350012" cy="422910"/>
            </a:xfrm>
            <a:custGeom>
              <a:avLst/>
              <a:gdLst/>
              <a:ahLst/>
              <a:cxnLst/>
              <a:rect r="r" b="b" t="t" l="l"/>
              <a:pathLst>
                <a:path h="422910" w="350012">
                  <a:moveTo>
                    <a:pt x="0" y="0"/>
                  </a:moveTo>
                  <a:lnTo>
                    <a:pt x="350012" y="0"/>
                  </a:lnTo>
                  <a:lnTo>
                    <a:pt x="350012" y="422910"/>
                  </a:lnTo>
                  <a:lnTo>
                    <a:pt x="0" y="422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3"/>
              </a:stretch>
            </a:blip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15444168" y="8535724"/>
            <a:ext cx="251569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"/>
              </a:lnSpc>
            </a:pPr>
            <a:r>
              <a:rPr lang="en-US" sz="10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Fewer false alarms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4984787" y="8848677"/>
            <a:ext cx="262509" cy="306257"/>
            <a:chOff x="0" y="0"/>
            <a:chExt cx="350012" cy="408343"/>
          </a:xfrm>
        </p:grpSpPr>
        <p:sp>
          <p:nvSpPr>
            <p:cNvPr name="Freeform 114" id="114" descr="im_814.png"/>
            <p:cNvSpPr/>
            <p:nvPr/>
          </p:nvSpPr>
          <p:spPr>
            <a:xfrm flipH="false" flipV="false" rot="0">
              <a:off x="0" y="0"/>
              <a:ext cx="350012" cy="408305"/>
            </a:xfrm>
            <a:custGeom>
              <a:avLst/>
              <a:gdLst/>
              <a:ahLst/>
              <a:cxnLst/>
              <a:rect r="r" b="b" t="t" l="l"/>
              <a:pathLst>
                <a:path h="408305" w="350012">
                  <a:moveTo>
                    <a:pt x="0" y="0"/>
                  </a:moveTo>
                  <a:lnTo>
                    <a:pt x="350012" y="0"/>
                  </a:lnTo>
                  <a:lnTo>
                    <a:pt x="350012" y="408305"/>
                  </a:lnTo>
                  <a:lnTo>
                    <a:pt x="0" y="408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-9"/>
              </a:stretch>
            </a:blipFill>
          </p:spPr>
        </p:sp>
      </p:grpSp>
      <p:sp>
        <p:nvSpPr>
          <p:cNvPr name="TextBox 115" id="115"/>
          <p:cNvSpPr txBox="true"/>
          <p:nvPr/>
        </p:nvSpPr>
        <p:spPr>
          <a:xfrm rot="0">
            <a:off x="15444168" y="8874795"/>
            <a:ext cx="251569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"/>
              </a:lnSpc>
            </a:pPr>
            <a:r>
              <a:rPr lang="en-US" sz="10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Evidence-backed, auditable reports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4941029" y="9198693"/>
            <a:ext cx="360950" cy="251565"/>
            <a:chOff x="0" y="0"/>
            <a:chExt cx="481267" cy="335420"/>
          </a:xfrm>
        </p:grpSpPr>
        <p:sp>
          <p:nvSpPr>
            <p:cNvPr name="Freeform 117" id="117" descr="im_845.png"/>
            <p:cNvSpPr/>
            <p:nvPr/>
          </p:nvSpPr>
          <p:spPr>
            <a:xfrm flipH="false" flipV="false" rot="0">
              <a:off x="0" y="0"/>
              <a:ext cx="481203" cy="335407"/>
            </a:xfrm>
            <a:custGeom>
              <a:avLst/>
              <a:gdLst/>
              <a:ahLst/>
              <a:cxnLst/>
              <a:rect r="r" b="b" t="t" l="l"/>
              <a:pathLst>
                <a:path h="335407" w="481203">
                  <a:moveTo>
                    <a:pt x="0" y="0"/>
                  </a:moveTo>
                  <a:lnTo>
                    <a:pt x="481203" y="0"/>
                  </a:lnTo>
                  <a:lnTo>
                    <a:pt x="481203" y="335407"/>
                  </a:lnTo>
                  <a:lnTo>
                    <a:pt x="0" y="335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-13" b="-3"/>
              </a:stretch>
            </a:blipFill>
          </p:spPr>
        </p:sp>
      </p:grpSp>
      <p:sp>
        <p:nvSpPr>
          <p:cNvPr name="TextBox 118" id="118"/>
          <p:cNvSpPr txBox="true"/>
          <p:nvPr/>
        </p:nvSpPr>
        <p:spPr>
          <a:xfrm rot="0">
            <a:off x="15444168" y="9213866"/>
            <a:ext cx="2515695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1"/>
              </a:lnSpc>
            </a:pPr>
            <a:r>
              <a:rPr lang="en-US" sz="1050">
                <a:solidFill>
                  <a:srgbClr val="2A3345"/>
                </a:solidFill>
                <a:latin typeface="Arial"/>
                <a:ea typeface="Arial"/>
                <a:cs typeface="Arial"/>
                <a:sym typeface="Arial"/>
              </a:rPr>
              <a:t>Builtt for secure, offline operation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168" r="0" b="-167"/>
              </a:stretch>
            </a:blip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475488" y="438150"/>
            <a:ext cx="31089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 i="true" u="sng">
                <a:solidFill>
                  <a:srgbClr val="40404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HeisenBug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0" y="9647139"/>
            <a:ext cx="18288000" cy="645328"/>
            <a:chOff x="0" y="0"/>
            <a:chExt cx="24384000" cy="86043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384000" cy="860425"/>
            </a:xfrm>
            <a:custGeom>
              <a:avLst/>
              <a:gdLst/>
              <a:ahLst/>
              <a:cxnLst/>
              <a:rect r="r" b="b" t="t" l="l"/>
              <a:pathLst>
                <a:path h="8604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0425"/>
                  </a:lnTo>
                  <a:lnTo>
                    <a:pt x="0" y="860425"/>
                  </a:lnTo>
                  <a:close/>
                </a:path>
              </a:pathLst>
            </a:custGeom>
            <a:solidFill>
              <a:srgbClr val="086FC5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72993" y="111157"/>
            <a:ext cx="6731079" cy="76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8"/>
              </a:lnSpc>
            </a:pPr>
            <a:r>
              <a:rPr lang="en-US" sz="4500" b="true">
                <a:solidFill>
                  <a:srgbClr val="000027"/>
                </a:solidFill>
                <a:latin typeface="Arial Bold"/>
                <a:ea typeface="Arial Bold"/>
                <a:cs typeface="Arial Bold"/>
                <a:sym typeface="Arial Bold"/>
              </a:rPr>
              <a:t>TECHNICAL APPROACH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81343" y="1033805"/>
            <a:ext cx="11714378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</a:pPr>
            <a:r>
              <a:rPr lang="en-US" sz="18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From a natural language query to an evidence-backed change report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67091" y="1842135"/>
            <a:ext cx="2539327" cy="5765978"/>
            <a:chOff x="0" y="0"/>
            <a:chExt cx="3385769" cy="76879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5693" cy="7687945"/>
            </a:xfrm>
            <a:custGeom>
              <a:avLst/>
              <a:gdLst/>
              <a:ahLst/>
              <a:cxnLst/>
              <a:rect r="r" b="b" t="t" l="l"/>
              <a:pathLst>
                <a:path h="7687945" w="3385693">
                  <a:moveTo>
                    <a:pt x="0" y="186182"/>
                  </a:moveTo>
                  <a:cubicBezTo>
                    <a:pt x="0" y="83312"/>
                    <a:pt x="83312" y="0"/>
                    <a:pt x="186182" y="0"/>
                  </a:cubicBezTo>
                  <a:lnTo>
                    <a:pt x="3199511" y="0"/>
                  </a:lnTo>
                  <a:cubicBezTo>
                    <a:pt x="3302381" y="0"/>
                    <a:pt x="3385693" y="83312"/>
                    <a:pt x="3385693" y="186182"/>
                  </a:cubicBezTo>
                  <a:lnTo>
                    <a:pt x="3385693" y="7501763"/>
                  </a:lnTo>
                  <a:cubicBezTo>
                    <a:pt x="3385693" y="7604633"/>
                    <a:pt x="3302381" y="7687945"/>
                    <a:pt x="3199511" y="7687945"/>
                  </a:cubicBezTo>
                  <a:lnTo>
                    <a:pt x="186182" y="7687945"/>
                  </a:lnTo>
                  <a:cubicBezTo>
                    <a:pt x="83312" y="7687945"/>
                    <a:pt x="0" y="7604633"/>
                    <a:pt x="0" y="750176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3ECF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946854" y="1842135"/>
            <a:ext cx="3020597" cy="5765978"/>
            <a:chOff x="0" y="0"/>
            <a:chExt cx="4027462" cy="7687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27424" cy="7687945"/>
            </a:xfrm>
            <a:custGeom>
              <a:avLst/>
              <a:gdLst/>
              <a:ahLst/>
              <a:cxnLst/>
              <a:rect r="r" b="b" t="t" l="l"/>
              <a:pathLst>
                <a:path h="7687945" w="4027424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3805936" y="0"/>
                  </a:lnTo>
                  <a:cubicBezTo>
                    <a:pt x="3928237" y="0"/>
                    <a:pt x="4027424" y="99187"/>
                    <a:pt x="4027424" y="221488"/>
                  </a:cubicBezTo>
                  <a:lnTo>
                    <a:pt x="4027424" y="7466457"/>
                  </a:lnTo>
                  <a:cubicBezTo>
                    <a:pt x="4027424" y="7588758"/>
                    <a:pt x="3928237" y="7687945"/>
                    <a:pt x="3805936" y="7687945"/>
                  </a:cubicBezTo>
                  <a:lnTo>
                    <a:pt x="221488" y="7687945"/>
                  </a:lnTo>
                  <a:cubicBezTo>
                    <a:pt x="99187" y="7687945"/>
                    <a:pt x="0" y="7588758"/>
                    <a:pt x="0" y="746645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3ECF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107878" y="1842135"/>
            <a:ext cx="3162786" cy="5765978"/>
            <a:chOff x="0" y="0"/>
            <a:chExt cx="4217048" cy="76879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17035" cy="7687945"/>
            </a:xfrm>
            <a:custGeom>
              <a:avLst/>
              <a:gdLst/>
              <a:ahLst/>
              <a:cxnLst/>
              <a:rect r="r" b="b" t="t" l="l"/>
              <a:pathLst>
                <a:path h="7687945" w="4217035">
                  <a:moveTo>
                    <a:pt x="0" y="231902"/>
                  </a:moveTo>
                  <a:cubicBezTo>
                    <a:pt x="0" y="103886"/>
                    <a:pt x="103886" y="0"/>
                    <a:pt x="231902" y="0"/>
                  </a:cubicBezTo>
                  <a:lnTo>
                    <a:pt x="3985133" y="0"/>
                  </a:lnTo>
                  <a:cubicBezTo>
                    <a:pt x="4113276" y="0"/>
                    <a:pt x="4217035" y="103886"/>
                    <a:pt x="4217035" y="231902"/>
                  </a:cubicBezTo>
                  <a:lnTo>
                    <a:pt x="4217035" y="7456043"/>
                  </a:lnTo>
                  <a:cubicBezTo>
                    <a:pt x="4217035" y="7584187"/>
                    <a:pt x="4113149" y="7687945"/>
                    <a:pt x="3985133" y="7687945"/>
                  </a:cubicBezTo>
                  <a:lnTo>
                    <a:pt x="231902" y="7687945"/>
                  </a:lnTo>
                  <a:cubicBezTo>
                    <a:pt x="103886" y="7687945"/>
                    <a:pt x="0" y="7584186"/>
                    <a:pt x="0" y="745604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3ECF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411091" y="1842135"/>
            <a:ext cx="2572141" cy="5765978"/>
            <a:chOff x="0" y="0"/>
            <a:chExt cx="3429521" cy="76879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29508" cy="7687945"/>
            </a:xfrm>
            <a:custGeom>
              <a:avLst/>
              <a:gdLst/>
              <a:ahLst/>
              <a:cxnLst/>
              <a:rect r="r" b="b" t="t" l="l"/>
              <a:pathLst>
                <a:path h="7687945" w="3429508">
                  <a:moveTo>
                    <a:pt x="0" y="188595"/>
                  </a:moveTo>
                  <a:cubicBezTo>
                    <a:pt x="0" y="84455"/>
                    <a:pt x="84455" y="0"/>
                    <a:pt x="188595" y="0"/>
                  </a:cubicBezTo>
                  <a:lnTo>
                    <a:pt x="3240913" y="0"/>
                  </a:lnTo>
                  <a:cubicBezTo>
                    <a:pt x="3345053" y="0"/>
                    <a:pt x="3429508" y="84455"/>
                    <a:pt x="3429508" y="188595"/>
                  </a:cubicBezTo>
                  <a:lnTo>
                    <a:pt x="3429508" y="7499350"/>
                  </a:lnTo>
                  <a:cubicBezTo>
                    <a:pt x="3429508" y="7603490"/>
                    <a:pt x="3345053" y="7687945"/>
                    <a:pt x="3240913" y="7687945"/>
                  </a:cubicBezTo>
                  <a:lnTo>
                    <a:pt x="188595" y="7687945"/>
                  </a:lnTo>
                  <a:cubicBezTo>
                    <a:pt x="84455" y="7687945"/>
                    <a:pt x="0" y="7603490"/>
                    <a:pt x="0" y="74993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3ECF4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134602" y="1842135"/>
            <a:ext cx="2779966" cy="5765978"/>
            <a:chOff x="0" y="0"/>
            <a:chExt cx="3706622" cy="7687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6622" cy="7687945"/>
            </a:xfrm>
            <a:custGeom>
              <a:avLst/>
              <a:gdLst/>
              <a:ahLst/>
              <a:cxnLst/>
              <a:rect r="r" b="b" t="t" l="l"/>
              <a:pathLst>
                <a:path h="7687945" w="3706622">
                  <a:moveTo>
                    <a:pt x="0" y="203835"/>
                  </a:moveTo>
                  <a:cubicBezTo>
                    <a:pt x="0" y="91313"/>
                    <a:pt x="91313" y="0"/>
                    <a:pt x="203835" y="0"/>
                  </a:cubicBezTo>
                  <a:lnTo>
                    <a:pt x="3502787" y="0"/>
                  </a:lnTo>
                  <a:cubicBezTo>
                    <a:pt x="3615436" y="0"/>
                    <a:pt x="3706622" y="91313"/>
                    <a:pt x="3706622" y="203835"/>
                  </a:cubicBezTo>
                  <a:lnTo>
                    <a:pt x="3706622" y="7484110"/>
                  </a:lnTo>
                  <a:cubicBezTo>
                    <a:pt x="3706622" y="7596759"/>
                    <a:pt x="3615309" y="7687945"/>
                    <a:pt x="3502787" y="7687945"/>
                  </a:cubicBezTo>
                  <a:lnTo>
                    <a:pt x="203835" y="7687945"/>
                  </a:lnTo>
                  <a:cubicBezTo>
                    <a:pt x="91313" y="7687945"/>
                    <a:pt x="0" y="7596759"/>
                    <a:pt x="0" y="748411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3ECF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789139" y="4287622"/>
            <a:ext cx="185938" cy="262509"/>
            <a:chOff x="0" y="0"/>
            <a:chExt cx="247917" cy="350012"/>
          </a:xfrm>
        </p:grpSpPr>
        <p:sp>
          <p:nvSpPr>
            <p:cNvPr name="Freeform 15" id="15" descr="arrow_255.png"/>
            <p:cNvSpPr/>
            <p:nvPr/>
          </p:nvSpPr>
          <p:spPr>
            <a:xfrm flipH="false" flipV="false" rot="0">
              <a:off x="0" y="0"/>
              <a:ext cx="247904" cy="350012"/>
            </a:xfrm>
            <a:custGeom>
              <a:avLst/>
              <a:gdLst/>
              <a:ahLst/>
              <a:cxnLst/>
              <a:rect r="r" b="b" t="t" l="l"/>
              <a:pathLst>
                <a:path h="350012" w="247904">
                  <a:moveTo>
                    <a:pt x="0" y="0"/>
                  </a:moveTo>
                  <a:lnTo>
                    <a:pt x="247904" y="0"/>
                  </a:lnTo>
                  <a:lnTo>
                    <a:pt x="247904" y="350012"/>
                  </a:lnTo>
                  <a:lnTo>
                    <a:pt x="0" y="350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961097" y="4287622"/>
            <a:ext cx="175003" cy="262509"/>
            <a:chOff x="0" y="0"/>
            <a:chExt cx="233337" cy="350012"/>
          </a:xfrm>
        </p:grpSpPr>
        <p:sp>
          <p:nvSpPr>
            <p:cNvPr name="Freeform 17" id="17" descr="arrow_545.png"/>
            <p:cNvSpPr/>
            <p:nvPr/>
          </p:nvSpPr>
          <p:spPr>
            <a:xfrm flipH="false" flipV="false" rot="0">
              <a:off x="0" y="0"/>
              <a:ext cx="233299" cy="350012"/>
            </a:xfrm>
            <a:custGeom>
              <a:avLst/>
              <a:gdLst/>
              <a:ahLst/>
              <a:cxnLst/>
              <a:rect r="r" b="b" t="t" l="l"/>
              <a:pathLst>
                <a:path h="350012" w="233299">
                  <a:moveTo>
                    <a:pt x="0" y="0"/>
                  </a:moveTo>
                  <a:lnTo>
                    <a:pt x="233299" y="0"/>
                  </a:lnTo>
                  <a:lnTo>
                    <a:pt x="233299" y="350012"/>
                  </a:lnTo>
                  <a:lnTo>
                    <a:pt x="0" y="350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6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53376" y="4287622"/>
            <a:ext cx="185938" cy="262509"/>
            <a:chOff x="0" y="0"/>
            <a:chExt cx="247917" cy="350012"/>
          </a:xfrm>
        </p:grpSpPr>
        <p:sp>
          <p:nvSpPr>
            <p:cNvPr name="Freeform 19" id="19" descr="arrow_846.png"/>
            <p:cNvSpPr/>
            <p:nvPr/>
          </p:nvSpPr>
          <p:spPr>
            <a:xfrm flipH="false" flipV="false" rot="0">
              <a:off x="0" y="0"/>
              <a:ext cx="247904" cy="350012"/>
            </a:xfrm>
            <a:custGeom>
              <a:avLst/>
              <a:gdLst/>
              <a:ahLst/>
              <a:cxnLst/>
              <a:rect r="r" b="b" t="t" l="l"/>
              <a:pathLst>
                <a:path h="350012" w="247904">
                  <a:moveTo>
                    <a:pt x="0" y="0"/>
                  </a:moveTo>
                  <a:lnTo>
                    <a:pt x="247904" y="0"/>
                  </a:lnTo>
                  <a:lnTo>
                    <a:pt x="247904" y="350012"/>
                  </a:lnTo>
                  <a:lnTo>
                    <a:pt x="0" y="350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965953" y="4287622"/>
            <a:ext cx="196882" cy="262509"/>
            <a:chOff x="0" y="0"/>
            <a:chExt cx="262509" cy="350012"/>
          </a:xfrm>
        </p:grpSpPr>
        <p:sp>
          <p:nvSpPr>
            <p:cNvPr name="Freeform 21" id="21" descr="arrow_1094.png"/>
            <p:cNvSpPr/>
            <p:nvPr/>
          </p:nvSpPr>
          <p:spPr>
            <a:xfrm flipH="false" flipV="false" rot="0">
              <a:off x="0" y="0"/>
              <a:ext cx="262509" cy="350012"/>
            </a:xfrm>
            <a:custGeom>
              <a:avLst/>
              <a:gdLst/>
              <a:ahLst/>
              <a:cxnLst/>
              <a:rect r="r" b="b" t="t" l="l"/>
              <a:pathLst>
                <a:path h="350012" w="262509">
                  <a:moveTo>
                    <a:pt x="0" y="0"/>
                  </a:moveTo>
                  <a:lnTo>
                    <a:pt x="262509" y="0"/>
                  </a:lnTo>
                  <a:lnTo>
                    <a:pt x="262509" y="350012"/>
                  </a:lnTo>
                  <a:lnTo>
                    <a:pt x="0" y="350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37512" y="2034426"/>
            <a:ext cx="371885" cy="371885"/>
            <a:chOff x="0" y="0"/>
            <a:chExt cx="495846" cy="4958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5808" cy="495808"/>
            </a:xfrm>
            <a:custGeom>
              <a:avLst/>
              <a:gdLst/>
              <a:ahLst/>
              <a:cxnLst/>
              <a:rect r="r" b="b" t="t" l="l"/>
              <a:pathLst>
                <a:path h="495808" w="495808">
                  <a:moveTo>
                    <a:pt x="0" y="247904"/>
                  </a:moveTo>
                  <a:cubicBezTo>
                    <a:pt x="0" y="110998"/>
                    <a:pt x="110998" y="0"/>
                    <a:pt x="247904" y="0"/>
                  </a:cubicBezTo>
                  <a:cubicBezTo>
                    <a:pt x="384810" y="0"/>
                    <a:pt x="495808" y="110998"/>
                    <a:pt x="495808" y="247904"/>
                  </a:cubicBezTo>
                  <a:cubicBezTo>
                    <a:pt x="495808" y="384810"/>
                    <a:pt x="384810" y="495808"/>
                    <a:pt x="247904" y="495808"/>
                  </a:cubicBezTo>
                  <a:cubicBezTo>
                    <a:pt x="110998" y="495808"/>
                    <a:pt x="0" y="384810"/>
                    <a:pt x="0" y="247904"/>
                  </a:cubicBezTo>
                  <a:close/>
                </a:path>
              </a:pathLst>
            </a:custGeom>
            <a:solidFill>
              <a:srgbClr val="062E6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95846" cy="51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39092" y="2049609"/>
            <a:ext cx="1750047" cy="6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Query</a:t>
            </a:r>
          </a:p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Understanding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37512" y="2975077"/>
            <a:ext cx="2242252" cy="1400042"/>
            <a:chOff x="0" y="0"/>
            <a:chExt cx="2989669" cy="18667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989707" cy="1866773"/>
            </a:xfrm>
            <a:custGeom>
              <a:avLst/>
              <a:gdLst/>
              <a:ahLst/>
              <a:cxnLst/>
              <a:rect r="r" b="b" t="t" l="l"/>
              <a:pathLst>
                <a:path h="1866773" w="2989707">
                  <a:moveTo>
                    <a:pt x="0" y="168021"/>
                  </a:moveTo>
                  <a:cubicBezTo>
                    <a:pt x="0" y="75184"/>
                    <a:pt x="75184" y="0"/>
                    <a:pt x="168021" y="0"/>
                  </a:cubicBezTo>
                  <a:lnTo>
                    <a:pt x="2821686" y="0"/>
                  </a:lnTo>
                  <a:cubicBezTo>
                    <a:pt x="2914523" y="0"/>
                    <a:pt x="2989707" y="75184"/>
                    <a:pt x="2989707" y="168021"/>
                  </a:cubicBezTo>
                  <a:lnTo>
                    <a:pt x="2989707" y="1698752"/>
                  </a:lnTo>
                  <a:cubicBezTo>
                    <a:pt x="2989707" y="1791589"/>
                    <a:pt x="2914523" y="1866773"/>
                    <a:pt x="2821686" y="1866773"/>
                  </a:cubicBezTo>
                  <a:lnTo>
                    <a:pt x="168021" y="1866773"/>
                  </a:lnTo>
                  <a:cubicBezTo>
                    <a:pt x="75184" y="1866773"/>
                    <a:pt x="0" y="1791462"/>
                    <a:pt x="0" y="1698752"/>
                  </a:cubicBezTo>
                  <a:close/>
                </a:path>
              </a:pathLst>
            </a:custGeom>
            <a:solidFill>
              <a:srgbClr val="EFF3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89077" y="4353239"/>
            <a:ext cx="306257" cy="218751"/>
            <a:chOff x="0" y="0"/>
            <a:chExt cx="408343" cy="2916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8305" cy="291719"/>
            </a:xfrm>
            <a:custGeom>
              <a:avLst/>
              <a:gdLst/>
              <a:ahLst/>
              <a:cxnLst/>
              <a:rect r="r" b="b" t="t" l="l"/>
              <a:pathLst>
                <a:path h="291719" w="408305">
                  <a:moveTo>
                    <a:pt x="0" y="291719"/>
                  </a:moveTo>
                  <a:lnTo>
                    <a:pt x="0" y="0"/>
                  </a:lnTo>
                  <a:lnTo>
                    <a:pt x="408305" y="291719"/>
                  </a:lnTo>
                  <a:close/>
                </a:path>
              </a:pathLst>
            </a:custGeom>
            <a:solidFill>
              <a:srgbClr val="EFF3F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91741" y="3066936"/>
            <a:ext cx="1968798" cy="11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449">
                <a:solidFill>
                  <a:srgbClr val="2C3344"/>
                </a:solidFill>
                <a:latin typeface="Arial"/>
                <a:ea typeface="Arial"/>
                <a:cs typeface="Arial"/>
                <a:sym typeface="Arial"/>
              </a:rPr>
              <a:t>“Show new</a:t>
            </a:r>
          </a:p>
          <a:p>
            <a:pPr algn="l">
              <a:lnSpc>
                <a:spcPts val="2227"/>
              </a:lnSpc>
            </a:pPr>
            <a:r>
              <a:rPr lang="en-US" sz="1449">
                <a:solidFill>
                  <a:srgbClr val="2C3344"/>
                </a:solidFill>
                <a:latin typeface="Arial"/>
                <a:ea typeface="Arial"/>
                <a:cs typeface="Arial"/>
                <a:sym typeface="Arial"/>
              </a:rPr>
              <a:t>constructions near</a:t>
            </a:r>
          </a:p>
          <a:p>
            <a:pPr algn="l">
              <a:lnSpc>
                <a:spcPts val="2227"/>
              </a:lnSpc>
            </a:pPr>
            <a:r>
              <a:rPr lang="en-US" sz="1449">
                <a:solidFill>
                  <a:srgbClr val="2C3344"/>
                </a:solidFill>
                <a:latin typeface="Arial"/>
                <a:ea typeface="Arial"/>
                <a:cs typeface="Arial"/>
                <a:sym typeface="Arial"/>
              </a:rPr>
              <a:t>a river in the last</a:t>
            </a:r>
          </a:p>
          <a:p>
            <a:pPr algn="l">
              <a:lnSpc>
                <a:spcPts val="2227"/>
              </a:lnSpc>
            </a:pPr>
            <a:r>
              <a:rPr lang="en-US" sz="1449">
                <a:solidFill>
                  <a:srgbClr val="2C3344"/>
                </a:solidFill>
                <a:latin typeface="Arial"/>
                <a:ea typeface="Arial"/>
                <a:cs typeface="Arial"/>
                <a:sym typeface="Arial"/>
              </a:rPr>
              <a:t>2 years”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25018" y="4779816"/>
            <a:ext cx="590645" cy="667207"/>
            <a:chOff x="0" y="0"/>
            <a:chExt cx="787527" cy="889610"/>
          </a:xfrm>
        </p:grpSpPr>
        <p:sp>
          <p:nvSpPr>
            <p:cNvPr name="Freeform 32" id="32" descr="p1_doc.png"/>
            <p:cNvSpPr/>
            <p:nvPr/>
          </p:nvSpPr>
          <p:spPr>
            <a:xfrm flipH="false" flipV="false" rot="0">
              <a:off x="0" y="0"/>
              <a:ext cx="787527" cy="889635"/>
            </a:xfrm>
            <a:custGeom>
              <a:avLst/>
              <a:gdLst/>
              <a:ahLst/>
              <a:cxnLst/>
              <a:rect r="r" b="b" t="t" l="l"/>
              <a:pathLst>
                <a:path h="889635" w="787527">
                  <a:moveTo>
                    <a:pt x="0" y="0"/>
                  </a:moveTo>
                  <a:lnTo>
                    <a:pt x="787527" y="0"/>
                  </a:lnTo>
                  <a:lnTo>
                    <a:pt x="787527" y="889635"/>
                  </a:lnTo>
                  <a:lnTo>
                    <a:pt x="0" y="889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2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225029" y="4775940"/>
            <a:ext cx="1476604" cy="81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Plain-language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or example image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57832" y="5797029"/>
            <a:ext cx="426577" cy="568766"/>
            <a:chOff x="0" y="0"/>
            <a:chExt cx="568770" cy="758355"/>
          </a:xfrm>
        </p:grpSpPr>
        <p:sp>
          <p:nvSpPr>
            <p:cNvPr name="Freeform 35" id="35" descr="p1_pin.png"/>
            <p:cNvSpPr/>
            <p:nvPr/>
          </p:nvSpPr>
          <p:spPr>
            <a:xfrm flipH="false" flipV="false" rot="0">
              <a:off x="0" y="0"/>
              <a:ext cx="568706" cy="758317"/>
            </a:xfrm>
            <a:custGeom>
              <a:avLst/>
              <a:gdLst/>
              <a:ahLst/>
              <a:cxnLst/>
              <a:rect r="r" b="b" t="t" l="l"/>
              <a:pathLst>
                <a:path h="758317" w="568706">
                  <a:moveTo>
                    <a:pt x="0" y="0"/>
                  </a:moveTo>
                  <a:lnTo>
                    <a:pt x="568706" y="0"/>
                  </a:lnTo>
                  <a:lnTo>
                    <a:pt x="568706" y="758317"/>
                  </a:lnTo>
                  <a:lnTo>
                    <a:pt x="0" y="758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1" b="-4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25029" y="5782218"/>
            <a:ext cx="147660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Extract location,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time and target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(semantic intent)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3117275" y="2034426"/>
            <a:ext cx="371885" cy="371885"/>
            <a:chOff x="0" y="0"/>
            <a:chExt cx="495846" cy="49584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5808" cy="495808"/>
            </a:xfrm>
            <a:custGeom>
              <a:avLst/>
              <a:gdLst/>
              <a:ahLst/>
              <a:cxnLst/>
              <a:rect r="r" b="b" t="t" l="l"/>
              <a:pathLst>
                <a:path h="495808" w="495808">
                  <a:moveTo>
                    <a:pt x="0" y="247904"/>
                  </a:moveTo>
                  <a:cubicBezTo>
                    <a:pt x="0" y="110998"/>
                    <a:pt x="110998" y="0"/>
                    <a:pt x="247904" y="0"/>
                  </a:cubicBezTo>
                  <a:cubicBezTo>
                    <a:pt x="384810" y="0"/>
                    <a:pt x="495808" y="110998"/>
                    <a:pt x="495808" y="247904"/>
                  </a:cubicBezTo>
                  <a:cubicBezTo>
                    <a:pt x="495808" y="384810"/>
                    <a:pt x="384810" y="495808"/>
                    <a:pt x="247904" y="495808"/>
                  </a:cubicBezTo>
                  <a:cubicBezTo>
                    <a:pt x="110998" y="495808"/>
                    <a:pt x="0" y="384810"/>
                    <a:pt x="0" y="247904"/>
                  </a:cubicBezTo>
                  <a:close/>
                </a:path>
              </a:pathLst>
            </a:custGeom>
            <a:solidFill>
              <a:srgbClr val="062E6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495846" cy="51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3740725" y="2083832"/>
            <a:ext cx="2078184" cy="32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Data Retrieval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3045295" y="2782786"/>
            <a:ext cx="2834650" cy="2823715"/>
            <a:chOff x="0" y="0"/>
            <a:chExt cx="3779533" cy="376495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79520" cy="3764915"/>
            </a:xfrm>
            <a:custGeom>
              <a:avLst/>
              <a:gdLst/>
              <a:ahLst/>
              <a:cxnLst/>
              <a:rect r="r" b="b" t="t" l="l"/>
              <a:pathLst>
                <a:path h="3764915" w="3779520">
                  <a:moveTo>
                    <a:pt x="0" y="169418"/>
                  </a:moveTo>
                  <a:cubicBezTo>
                    <a:pt x="0" y="75819"/>
                    <a:pt x="75819" y="0"/>
                    <a:pt x="169418" y="0"/>
                  </a:cubicBezTo>
                  <a:lnTo>
                    <a:pt x="3610102" y="0"/>
                  </a:lnTo>
                  <a:cubicBezTo>
                    <a:pt x="3703701" y="0"/>
                    <a:pt x="3779520" y="75819"/>
                    <a:pt x="3779520" y="169418"/>
                  </a:cubicBezTo>
                  <a:lnTo>
                    <a:pt x="3779520" y="3595497"/>
                  </a:lnTo>
                  <a:cubicBezTo>
                    <a:pt x="3779520" y="3689096"/>
                    <a:pt x="3703701" y="3764915"/>
                    <a:pt x="3610102" y="3764915"/>
                  </a:cubicBezTo>
                  <a:lnTo>
                    <a:pt x="169418" y="3764915"/>
                  </a:lnTo>
                  <a:cubicBezTo>
                    <a:pt x="75819" y="3764915"/>
                    <a:pt x="0" y="3689096"/>
                    <a:pt x="0" y="359549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3F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3095396" y="2986021"/>
            <a:ext cx="1235974" cy="2417254"/>
            <a:chOff x="0" y="0"/>
            <a:chExt cx="1647965" cy="3223006"/>
          </a:xfrm>
        </p:grpSpPr>
        <p:sp>
          <p:nvSpPr>
            <p:cNvPr name="Freeform 44" id="44" descr="p2_stack.png"/>
            <p:cNvSpPr/>
            <p:nvPr/>
          </p:nvSpPr>
          <p:spPr>
            <a:xfrm flipH="false" flipV="false" rot="0">
              <a:off x="0" y="0"/>
              <a:ext cx="1647952" cy="3223006"/>
            </a:xfrm>
            <a:custGeom>
              <a:avLst/>
              <a:gdLst/>
              <a:ahLst/>
              <a:cxnLst/>
              <a:rect r="r" b="b" t="t" l="l"/>
              <a:pathLst>
                <a:path h="3223006" w="1647952">
                  <a:moveTo>
                    <a:pt x="0" y="0"/>
                  </a:moveTo>
                  <a:lnTo>
                    <a:pt x="1647952" y="0"/>
                  </a:lnTo>
                  <a:lnTo>
                    <a:pt x="1647952" y="3223006"/>
                  </a:lnTo>
                  <a:lnTo>
                    <a:pt x="0" y="3223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4440746" y="3040704"/>
            <a:ext cx="350006" cy="404698"/>
            <a:chOff x="0" y="0"/>
            <a:chExt cx="466674" cy="539598"/>
          </a:xfrm>
        </p:grpSpPr>
        <p:sp>
          <p:nvSpPr>
            <p:cNvPr name="Freeform 46" id="46" descr="p2_db280.png"/>
            <p:cNvSpPr/>
            <p:nvPr/>
          </p:nvSpPr>
          <p:spPr>
            <a:xfrm flipH="false" flipV="false" rot="0">
              <a:off x="0" y="0"/>
              <a:ext cx="466725" cy="539623"/>
            </a:xfrm>
            <a:custGeom>
              <a:avLst/>
              <a:gdLst/>
              <a:ahLst/>
              <a:cxnLst/>
              <a:rect r="r" b="b" t="t" l="l"/>
              <a:pathLst>
                <a:path h="539623" w="466725">
                  <a:moveTo>
                    <a:pt x="0" y="0"/>
                  </a:moveTo>
                  <a:lnTo>
                    <a:pt x="466725" y="0"/>
                  </a:lnTo>
                  <a:lnTo>
                    <a:pt x="466725" y="539623"/>
                  </a:lnTo>
                  <a:lnTo>
                    <a:pt x="0" y="539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0" b="4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4922006" y="3004023"/>
            <a:ext cx="1006278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Sentinel-2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(Optical)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4440746" y="3631349"/>
            <a:ext cx="350006" cy="404698"/>
            <a:chOff x="0" y="0"/>
            <a:chExt cx="466674" cy="539598"/>
          </a:xfrm>
        </p:grpSpPr>
        <p:sp>
          <p:nvSpPr>
            <p:cNvPr name="Freeform 49" id="49" descr="p2_db334.png"/>
            <p:cNvSpPr/>
            <p:nvPr/>
          </p:nvSpPr>
          <p:spPr>
            <a:xfrm flipH="false" flipV="false" rot="0">
              <a:off x="0" y="0"/>
              <a:ext cx="466725" cy="539623"/>
            </a:xfrm>
            <a:custGeom>
              <a:avLst/>
              <a:gdLst/>
              <a:ahLst/>
              <a:cxnLst/>
              <a:rect r="r" b="b" t="t" l="l"/>
              <a:pathLst>
                <a:path h="539623" w="466725">
                  <a:moveTo>
                    <a:pt x="0" y="0"/>
                  </a:moveTo>
                  <a:lnTo>
                    <a:pt x="466725" y="0"/>
                  </a:lnTo>
                  <a:lnTo>
                    <a:pt x="466725" y="539623"/>
                  </a:lnTo>
                  <a:lnTo>
                    <a:pt x="0" y="539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0" b="4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4922006" y="3594659"/>
            <a:ext cx="1006278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Sentinel-1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(SAR)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4440746" y="4221994"/>
            <a:ext cx="350006" cy="404698"/>
            <a:chOff x="0" y="0"/>
            <a:chExt cx="466674" cy="539598"/>
          </a:xfrm>
        </p:grpSpPr>
        <p:sp>
          <p:nvSpPr>
            <p:cNvPr name="Freeform 52" id="52" descr="p2_db388.png"/>
            <p:cNvSpPr/>
            <p:nvPr/>
          </p:nvSpPr>
          <p:spPr>
            <a:xfrm flipH="false" flipV="false" rot="0">
              <a:off x="0" y="0"/>
              <a:ext cx="466725" cy="539623"/>
            </a:xfrm>
            <a:custGeom>
              <a:avLst/>
              <a:gdLst/>
              <a:ahLst/>
              <a:cxnLst/>
              <a:rect r="r" b="b" t="t" l="l"/>
              <a:pathLst>
                <a:path h="539623" w="466725">
                  <a:moveTo>
                    <a:pt x="0" y="0"/>
                  </a:moveTo>
                  <a:lnTo>
                    <a:pt x="466725" y="0"/>
                  </a:lnTo>
                  <a:lnTo>
                    <a:pt x="466725" y="539623"/>
                  </a:lnTo>
                  <a:lnTo>
                    <a:pt x="0" y="539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10" b="4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4922006" y="4185304"/>
            <a:ext cx="1006278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Landsat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4440746" y="4801695"/>
            <a:ext cx="350006" cy="404698"/>
            <a:chOff x="0" y="0"/>
            <a:chExt cx="466674" cy="539598"/>
          </a:xfrm>
        </p:grpSpPr>
        <p:sp>
          <p:nvSpPr>
            <p:cNvPr name="Freeform 55" id="55" descr="p2_db441.png"/>
            <p:cNvSpPr/>
            <p:nvPr/>
          </p:nvSpPr>
          <p:spPr>
            <a:xfrm flipH="false" flipV="false" rot="0">
              <a:off x="0" y="0"/>
              <a:ext cx="466725" cy="539623"/>
            </a:xfrm>
            <a:custGeom>
              <a:avLst/>
              <a:gdLst/>
              <a:ahLst/>
              <a:cxnLst/>
              <a:rect r="r" b="b" t="t" l="l"/>
              <a:pathLst>
                <a:path h="539623" w="466725">
                  <a:moveTo>
                    <a:pt x="0" y="0"/>
                  </a:moveTo>
                  <a:lnTo>
                    <a:pt x="466725" y="0"/>
                  </a:lnTo>
                  <a:lnTo>
                    <a:pt x="466725" y="539623"/>
                  </a:lnTo>
                  <a:lnTo>
                    <a:pt x="0" y="539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10" b="4"/>
              </a:stretch>
            </a:blip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4922006" y="4765005"/>
            <a:ext cx="1006278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Historical</a:t>
            </a:r>
          </a:p>
          <a:p>
            <a:pPr algn="l">
              <a:lnSpc>
                <a:spcPts val="1800"/>
              </a:lnSpc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Archive</a:t>
            </a:r>
          </a:p>
        </p:txBody>
      </p:sp>
      <p:sp>
        <p:nvSpPr>
          <p:cNvPr name="AutoShape 57" id="57"/>
          <p:cNvSpPr/>
          <p:nvPr/>
        </p:nvSpPr>
        <p:spPr>
          <a:xfrm rot="16200">
            <a:off x="3110903" y="5639143"/>
            <a:ext cx="2692489" cy="0"/>
          </a:xfrm>
          <a:prstGeom prst="line">
            <a:avLst/>
          </a:prstGeom>
          <a:ln cap="rnd" w="9525">
            <a:solidFill>
              <a:srgbClr val="E9EF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3117275" y="5683777"/>
            <a:ext cx="2537565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6845" indent="-78422" lvl="1">
              <a:lnSpc>
                <a:spcPts val="1871"/>
              </a:lnSpc>
              <a:buFont typeface="Arial"/>
              <a:buChar char="•"/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Search local archive using spatial + temporal + semantic indexing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117275" y="6449425"/>
            <a:ext cx="2537565" cy="6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6845" indent="-78422" lvl="1">
              <a:lnSpc>
                <a:spcPts val="1871"/>
              </a:lnSpc>
              <a:buFont typeface="Arial"/>
              <a:buChar char="•"/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Retrieve relevant scenes and geo-objects (structures, water, roads, cleared ground)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6311113" y="2034426"/>
            <a:ext cx="371885" cy="371885"/>
            <a:chOff x="0" y="0"/>
            <a:chExt cx="495846" cy="49584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95808" cy="495808"/>
            </a:xfrm>
            <a:custGeom>
              <a:avLst/>
              <a:gdLst/>
              <a:ahLst/>
              <a:cxnLst/>
              <a:rect r="r" b="b" t="t" l="l"/>
              <a:pathLst>
                <a:path h="495808" w="495808">
                  <a:moveTo>
                    <a:pt x="0" y="247904"/>
                  </a:moveTo>
                  <a:cubicBezTo>
                    <a:pt x="0" y="110998"/>
                    <a:pt x="110998" y="0"/>
                    <a:pt x="247904" y="0"/>
                  </a:cubicBezTo>
                  <a:cubicBezTo>
                    <a:pt x="384810" y="0"/>
                    <a:pt x="495808" y="110998"/>
                    <a:pt x="495808" y="247904"/>
                  </a:cubicBezTo>
                  <a:cubicBezTo>
                    <a:pt x="495808" y="384810"/>
                    <a:pt x="384810" y="495808"/>
                    <a:pt x="247904" y="495808"/>
                  </a:cubicBezTo>
                  <a:cubicBezTo>
                    <a:pt x="110998" y="495808"/>
                    <a:pt x="0" y="384810"/>
                    <a:pt x="0" y="247904"/>
                  </a:cubicBezTo>
                  <a:close/>
                </a:path>
              </a:pathLst>
            </a:custGeom>
            <a:solidFill>
              <a:srgbClr val="062E6B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95846" cy="51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6934562" y="2049609"/>
            <a:ext cx="2187559" cy="6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Multi-Temporal</a:t>
            </a:r>
          </a:p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Change Detection</a:t>
            </a:r>
          </a:p>
        </p:txBody>
      </p:sp>
      <p:sp>
        <p:nvSpPr>
          <p:cNvPr name="AutoShape 64" id="64"/>
          <p:cNvSpPr/>
          <p:nvPr/>
        </p:nvSpPr>
        <p:spPr>
          <a:xfrm rot="15480">
            <a:off x="6282871" y="2751563"/>
            <a:ext cx="2823743" cy="0"/>
          </a:xfrm>
          <a:prstGeom prst="line">
            <a:avLst/>
          </a:prstGeom>
          <a:ln cap="rnd" w="9525">
            <a:solidFill>
              <a:srgbClr val="E9EFF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6912693" y="2964142"/>
            <a:ext cx="743769" cy="700021"/>
            <a:chOff x="0" y="0"/>
            <a:chExt cx="991692" cy="933361"/>
          </a:xfrm>
        </p:grpSpPr>
        <p:sp>
          <p:nvSpPr>
            <p:cNvPr name="Freeform 66" id="66" descr="p3_t0.png"/>
            <p:cNvSpPr/>
            <p:nvPr/>
          </p:nvSpPr>
          <p:spPr>
            <a:xfrm flipH="false" flipV="false" rot="0">
              <a:off x="0" y="0"/>
              <a:ext cx="991743" cy="933323"/>
            </a:xfrm>
            <a:custGeom>
              <a:avLst/>
              <a:gdLst/>
              <a:ahLst/>
              <a:cxnLst/>
              <a:rect r="r" b="b" t="t" l="l"/>
              <a:pathLst>
                <a:path h="933323" w="991743">
                  <a:moveTo>
                    <a:pt x="0" y="0"/>
                  </a:moveTo>
                  <a:lnTo>
                    <a:pt x="991743" y="0"/>
                  </a:lnTo>
                  <a:lnTo>
                    <a:pt x="991743" y="933323"/>
                  </a:lnTo>
                  <a:lnTo>
                    <a:pt x="0" y="933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5" b="-4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6190793" y="3166672"/>
            <a:ext cx="787517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20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Jan 2022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6912693" y="3740725"/>
            <a:ext cx="743769" cy="700021"/>
            <a:chOff x="0" y="0"/>
            <a:chExt cx="991692" cy="933361"/>
          </a:xfrm>
        </p:grpSpPr>
        <p:sp>
          <p:nvSpPr>
            <p:cNvPr name="Freeform 69" id="69" descr="p3_t1.png"/>
            <p:cNvSpPr/>
            <p:nvPr/>
          </p:nvSpPr>
          <p:spPr>
            <a:xfrm flipH="false" flipV="false" rot="0">
              <a:off x="0" y="0"/>
              <a:ext cx="991743" cy="933323"/>
            </a:xfrm>
            <a:custGeom>
              <a:avLst/>
              <a:gdLst/>
              <a:ahLst/>
              <a:cxnLst/>
              <a:rect r="r" b="b" t="t" l="l"/>
              <a:pathLst>
                <a:path h="933323" w="991743">
                  <a:moveTo>
                    <a:pt x="0" y="0"/>
                  </a:moveTo>
                  <a:lnTo>
                    <a:pt x="991743" y="0"/>
                  </a:lnTo>
                  <a:lnTo>
                    <a:pt x="991743" y="933323"/>
                  </a:lnTo>
                  <a:lnTo>
                    <a:pt x="0" y="933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5" b="-4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6190793" y="3943255"/>
            <a:ext cx="787517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20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Jan 2023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912693" y="4484494"/>
            <a:ext cx="743769" cy="700021"/>
            <a:chOff x="0" y="0"/>
            <a:chExt cx="991692" cy="933361"/>
          </a:xfrm>
        </p:grpSpPr>
        <p:sp>
          <p:nvSpPr>
            <p:cNvPr name="Freeform 72" id="72" descr="p3_t2.png"/>
            <p:cNvSpPr/>
            <p:nvPr/>
          </p:nvSpPr>
          <p:spPr>
            <a:xfrm flipH="false" flipV="false" rot="0">
              <a:off x="0" y="0"/>
              <a:ext cx="991743" cy="933323"/>
            </a:xfrm>
            <a:custGeom>
              <a:avLst/>
              <a:gdLst/>
              <a:ahLst/>
              <a:cxnLst/>
              <a:rect r="r" b="b" t="t" l="l"/>
              <a:pathLst>
                <a:path h="933323" w="991743">
                  <a:moveTo>
                    <a:pt x="0" y="0"/>
                  </a:moveTo>
                  <a:lnTo>
                    <a:pt x="991743" y="0"/>
                  </a:lnTo>
                  <a:lnTo>
                    <a:pt x="991743" y="933323"/>
                  </a:lnTo>
                  <a:lnTo>
                    <a:pt x="0" y="9333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5" b="-4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6190793" y="4687033"/>
            <a:ext cx="787517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"/>
              </a:lnSpc>
            </a:pPr>
            <a:r>
              <a:rPr lang="en-US" sz="120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Jan 2024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7153323" y="5140766"/>
            <a:ext cx="218751" cy="393764"/>
            <a:chOff x="0" y="0"/>
            <a:chExt cx="291668" cy="525018"/>
          </a:xfrm>
        </p:grpSpPr>
        <p:sp>
          <p:nvSpPr>
            <p:cNvPr name="Freeform 75" id="75" descr="p3_dots.png"/>
            <p:cNvSpPr/>
            <p:nvPr/>
          </p:nvSpPr>
          <p:spPr>
            <a:xfrm flipH="false" flipV="false" rot="0">
              <a:off x="0" y="0"/>
              <a:ext cx="291719" cy="525018"/>
            </a:xfrm>
            <a:custGeom>
              <a:avLst/>
              <a:gdLst/>
              <a:ahLst/>
              <a:cxnLst/>
              <a:rect r="r" b="b" t="t" l="l"/>
              <a:pathLst>
                <a:path h="525018" w="291719">
                  <a:moveTo>
                    <a:pt x="0" y="0"/>
                  </a:moveTo>
                  <a:lnTo>
                    <a:pt x="291719" y="0"/>
                  </a:lnTo>
                  <a:lnTo>
                    <a:pt x="291719" y="525018"/>
                  </a:lnTo>
                  <a:lnTo>
                    <a:pt x="0" y="525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7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754903" y="3259465"/>
            <a:ext cx="284378" cy="1662541"/>
            <a:chOff x="0" y="0"/>
            <a:chExt cx="379171" cy="2216722"/>
          </a:xfrm>
        </p:grpSpPr>
        <p:sp>
          <p:nvSpPr>
            <p:cNvPr name="Freeform 77" id="77" descr="p3_bracket.png"/>
            <p:cNvSpPr/>
            <p:nvPr/>
          </p:nvSpPr>
          <p:spPr>
            <a:xfrm flipH="false" flipV="false" rot="0">
              <a:off x="0" y="0"/>
              <a:ext cx="379222" cy="2216785"/>
            </a:xfrm>
            <a:custGeom>
              <a:avLst/>
              <a:gdLst/>
              <a:ahLst/>
              <a:cxnLst/>
              <a:rect r="r" b="b" t="t" l="l"/>
              <a:pathLst>
                <a:path h="2216785" w="379222">
                  <a:moveTo>
                    <a:pt x="0" y="0"/>
                  </a:moveTo>
                  <a:lnTo>
                    <a:pt x="379222" y="0"/>
                  </a:lnTo>
                  <a:lnTo>
                    <a:pt x="379222" y="2216785"/>
                  </a:lnTo>
                  <a:lnTo>
                    <a:pt x="0" y="2216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13" b="2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076686" y="3515620"/>
            <a:ext cx="1062723" cy="1543993"/>
            <a:chOff x="0" y="0"/>
            <a:chExt cx="1416964" cy="205865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416812" cy="2058543"/>
            </a:xfrm>
            <a:custGeom>
              <a:avLst/>
              <a:gdLst/>
              <a:ahLst/>
              <a:cxnLst/>
              <a:rect r="r" b="b" t="t" l="l"/>
              <a:pathLst>
                <a:path h="2058543" w="1416812">
                  <a:moveTo>
                    <a:pt x="0" y="84963"/>
                  </a:moveTo>
                  <a:cubicBezTo>
                    <a:pt x="0" y="38100"/>
                    <a:pt x="38100" y="0"/>
                    <a:pt x="84963" y="0"/>
                  </a:cubicBezTo>
                  <a:lnTo>
                    <a:pt x="1331849" y="0"/>
                  </a:lnTo>
                  <a:cubicBezTo>
                    <a:pt x="1378839" y="0"/>
                    <a:pt x="1416812" y="38100"/>
                    <a:pt x="1416812" y="84963"/>
                  </a:cubicBezTo>
                  <a:lnTo>
                    <a:pt x="1416812" y="1973580"/>
                  </a:lnTo>
                  <a:cubicBezTo>
                    <a:pt x="1416812" y="2020570"/>
                    <a:pt x="1378712" y="2058543"/>
                    <a:pt x="1331849" y="2058543"/>
                  </a:cubicBezTo>
                  <a:lnTo>
                    <a:pt x="84963" y="2058543"/>
                  </a:lnTo>
                  <a:cubicBezTo>
                    <a:pt x="38100" y="2058670"/>
                    <a:pt x="0" y="2020570"/>
                    <a:pt x="0" y="197358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DCE7F2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8356483" y="3686042"/>
            <a:ext cx="503139" cy="481260"/>
            <a:chOff x="0" y="0"/>
            <a:chExt cx="670852" cy="641680"/>
          </a:xfrm>
        </p:grpSpPr>
        <p:sp>
          <p:nvSpPr>
            <p:cNvPr name="Freeform 81" id="81" descr="p3_chart.png"/>
            <p:cNvSpPr/>
            <p:nvPr/>
          </p:nvSpPr>
          <p:spPr>
            <a:xfrm flipH="false" flipV="false" rot="0">
              <a:off x="0" y="0"/>
              <a:ext cx="670814" cy="641731"/>
            </a:xfrm>
            <a:custGeom>
              <a:avLst/>
              <a:gdLst/>
              <a:ahLst/>
              <a:cxnLst/>
              <a:rect r="r" b="b" t="t" l="l"/>
              <a:pathLst>
                <a:path h="641731" w="670814">
                  <a:moveTo>
                    <a:pt x="0" y="0"/>
                  </a:moveTo>
                  <a:lnTo>
                    <a:pt x="670814" y="0"/>
                  </a:lnTo>
                  <a:lnTo>
                    <a:pt x="670814" y="641731"/>
                  </a:lnTo>
                  <a:lnTo>
                    <a:pt x="0" y="64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5" b="7"/>
              </a:stretch>
            </a:blip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8115843" y="4205764"/>
            <a:ext cx="1006278" cy="738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B254C"/>
                </a:solidFill>
                <a:latin typeface="Arial Bold"/>
                <a:ea typeface="Arial Bold"/>
                <a:cs typeface="Arial Bold"/>
                <a:sym typeface="Arial Bold"/>
              </a:rPr>
              <a:t>Time-Series</a:t>
            </a:r>
          </a:p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B254C"/>
                </a:solidFill>
                <a:latin typeface="Arial Bold"/>
                <a:ea typeface="Arial Bold"/>
                <a:cs typeface="Arial Bold"/>
                <a:sym typeface="Arial Bold"/>
              </a:rPr>
              <a:t>Analysis</a:t>
            </a:r>
          </a:p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B254C"/>
                </a:solidFill>
                <a:latin typeface="Arial Bold"/>
                <a:ea typeface="Arial Bold"/>
                <a:cs typeface="Arial Bold"/>
                <a:sym typeface="Arial Bold"/>
              </a:rPr>
              <a:t>(CCDC)</a:t>
            </a:r>
          </a:p>
        </p:txBody>
      </p:sp>
      <p:sp>
        <p:nvSpPr>
          <p:cNvPr name="AutoShape 83" id="83"/>
          <p:cNvSpPr/>
          <p:nvPr/>
        </p:nvSpPr>
        <p:spPr>
          <a:xfrm rot="15480">
            <a:off x="6282871" y="5639143"/>
            <a:ext cx="2823743" cy="0"/>
          </a:xfrm>
          <a:prstGeom prst="line">
            <a:avLst/>
          </a:prstGeom>
          <a:ln cap="rnd" w="9525">
            <a:solidFill>
              <a:srgbClr val="E9EF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4" id="84"/>
          <p:cNvSpPr txBox="true"/>
          <p:nvPr/>
        </p:nvSpPr>
        <p:spPr>
          <a:xfrm rot="0">
            <a:off x="6289234" y="5683777"/>
            <a:ext cx="2646950" cy="46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6845" indent="-78422" lvl="1">
              <a:lnSpc>
                <a:spcPts val="1871"/>
              </a:lnSpc>
              <a:buFont typeface="Arial"/>
              <a:buChar char="•"/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Analyse each location with its own historical time-series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289234" y="6274422"/>
            <a:ext cx="2646950" cy="70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6845" indent="-78422" lvl="1">
              <a:lnSpc>
                <a:spcPts val="1871"/>
              </a:lnSpc>
              <a:buFont typeface="Arial"/>
              <a:buChar char="•"/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Detect real changes (not just two-date difference)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289234" y="6865068"/>
            <a:ext cx="2646950" cy="70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6845" indent="-78422" lvl="1">
              <a:lnSpc>
                <a:spcPts val="1871"/>
              </a:lnSpc>
              <a:buFont typeface="Arial"/>
              <a:buChar char="•"/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Estimate earliest supported date with uncertainty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9570577" y="2034426"/>
            <a:ext cx="371885" cy="371885"/>
            <a:chOff x="0" y="0"/>
            <a:chExt cx="495846" cy="49584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95808" cy="495808"/>
            </a:xfrm>
            <a:custGeom>
              <a:avLst/>
              <a:gdLst/>
              <a:ahLst/>
              <a:cxnLst/>
              <a:rect r="r" b="b" t="t" l="l"/>
              <a:pathLst>
                <a:path h="495808" w="495808">
                  <a:moveTo>
                    <a:pt x="0" y="247904"/>
                  </a:moveTo>
                  <a:cubicBezTo>
                    <a:pt x="0" y="110998"/>
                    <a:pt x="110998" y="0"/>
                    <a:pt x="247904" y="0"/>
                  </a:cubicBezTo>
                  <a:cubicBezTo>
                    <a:pt x="384810" y="0"/>
                    <a:pt x="495808" y="110998"/>
                    <a:pt x="495808" y="247904"/>
                  </a:cubicBezTo>
                  <a:cubicBezTo>
                    <a:pt x="495808" y="384810"/>
                    <a:pt x="384810" y="495808"/>
                    <a:pt x="247904" y="495808"/>
                  </a:cubicBezTo>
                  <a:cubicBezTo>
                    <a:pt x="110998" y="495808"/>
                    <a:pt x="0" y="384810"/>
                    <a:pt x="0" y="247904"/>
                  </a:cubicBezTo>
                  <a:close/>
                </a:path>
              </a:pathLst>
            </a:custGeom>
            <a:solidFill>
              <a:srgbClr val="062E6B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495846" cy="51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0194026" y="2049609"/>
            <a:ext cx="1640672" cy="6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False Alarm</a:t>
            </a:r>
          </a:p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Filtering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9498597" y="2804665"/>
            <a:ext cx="2408072" cy="3720617"/>
            <a:chOff x="0" y="0"/>
            <a:chExt cx="3210763" cy="496082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10814" cy="4960874"/>
            </a:xfrm>
            <a:custGeom>
              <a:avLst/>
              <a:gdLst/>
              <a:ahLst/>
              <a:cxnLst/>
              <a:rect r="r" b="b" t="t" l="l"/>
              <a:pathLst>
                <a:path h="4960874" w="3210814">
                  <a:moveTo>
                    <a:pt x="0" y="144526"/>
                  </a:moveTo>
                  <a:cubicBezTo>
                    <a:pt x="0" y="64643"/>
                    <a:pt x="64643" y="0"/>
                    <a:pt x="144526" y="0"/>
                  </a:cubicBezTo>
                  <a:lnTo>
                    <a:pt x="3066288" y="0"/>
                  </a:lnTo>
                  <a:cubicBezTo>
                    <a:pt x="3146044" y="0"/>
                    <a:pt x="3210814" y="64643"/>
                    <a:pt x="3210814" y="144526"/>
                  </a:cubicBezTo>
                  <a:lnTo>
                    <a:pt x="3210814" y="4816348"/>
                  </a:lnTo>
                  <a:cubicBezTo>
                    <a:pt x="3210814" y="4896104"/>
                    <a:pt x="3146171" y="4960874"/>
                    <a:pt x="3066288" y="4960874"/>
                  </a:cubicBezTo>
                  <a:lnTo>
                    <a:pt x="144526" y="4960874"/>
                  </a:lnTo>
                  <a:cubicBezTo>
                    <a:pt x="64643" y="4960874"/>
                    <a:pt x="0" y="4896104"/>
                    <a:pt x="0" y="481634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3F8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9712766" y="3018834"/>
            <a:ext cx="525018" cy="393764"/>
            <a:chOff x="0" y="0"/>
            <a:chExt cx="700024" cy="525018"/>
          </a:xfrm>
        </p:grpSpPr>
        <p:sp>
          <p:nvSpPr>
            <p:cNvPr name="Freeform 94" id="94" descr="p4_i0.png"/>
            <p:cNvSpPr/>
            <p:nvPr/>
          </p:nvSpPr>
          <p:spPr>
            <a:xfrm flipH="false" flipV="false" rot="0">
              <a:off x="0" y="0"/>
              <a:ext cx="700024" cy="525018"/>
            </a:xfrm>
            <a:custGeom>
              <a:avLst/>
              <a:gdLst/>
              <a:ahLst/>
              <a:cxnLst/>
              <a:rect r="r" b="b" t="t" l="l"/>
              <a:pathLst>
                <a:path h="525018" w="700024">
                  <a:moveTo>
                    <a:pt x="0" y="0"/>
                  </a:moveTo>
                  <a:lnTo>
                    <a:pt x="700024" y="0"/>
                  </a:lnTo>
                  <a:lnTo>
                    <a:pt x="700024" y="525018"/>
                  </a:lnTo>
                  <a:lnTo>
                    <a:pt x="0" y="525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10445601" y="2993079"/>
            <a:ext cx="1476604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Cloud / shadow</a:t>
            </a:r>
          </a:p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detection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9734645" y="3653228"/>
            <a:ext cx="481260" cy="503139"/>
            <a:chOff x="0" y="0"/>
            <a:chExt cx="641680" cy="670852"/>
          </a:xfrm>
        </p:grpSpPr>
        <p:sp>
          <p:nvSpPr>
            <p:cNvPr name="Freeform 97" id="97" descr="p4_i1.png"/>
            <p:cNvSpPr/>
            <p:nvPr/>
          </p:nvSpPr>
          <p:spPr>
            <a:xfrm flipH="false" flipV="false" rot="0">
              <a:off x="0" y="0"/>
              <a:ext cx="641731" cy="670814"/>
            </a:xfrm>
            <a:custGeom>
              <a:avLst/>
              <a:gdLst/>
              <a:ahLst/>
              <a:cxnLst/>
              <a:rect r="r" b="b" t="t" l="l"/>
              <a:pathLst>
                <a:path h="670814" w="641731">
                  <a:moveTo>
                    <a:pt x="0" y="0"/>
                  </a:moveTo>
                  <a:lnTo>
                    <a:pt x="641731" y="0"/>
                  </a:lnTo>
                  <a:lnTo>
                    <a:pt x="641731" y="670814"/>
                  </a:lnTo>
                  <a:lnTo>
                    <a:pt x="0" y="670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7" b="-5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0445601" y="3627472"/>
            <a:ext cx="1476604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Seasonal</a:t>
            </a:r>
          </a:p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variation filter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9712766" y="4353239"/>
            <a:ext cx="514074" cy="481260"/>
            <a:chOff x="0" y="0"/>
            <a:chExt cx="685432" cy="641680"/>
          </a:xfrm>
        </p:grpSpPr>
        <p:sp>
          <p:nvSpPr>
            <p:cNvPr name="Freeform 100" id="100" descr="p4_i2.png"/>
            <p:cNvSpPr/>
            <p:nvPr/>
          </p:nvSpPr>
          <p:spPr>
            <a:xfrm flipH="false" flipV="false" rot="0">
              <a:off x="0" y="0"/>
              <a:ext cx="685419" cy="641731"/>
            </a:xfrm>
            <a:custGeom>
              <a:avLst/>
              <a:gdLst/>
              <a:ahLst/>
              <a:cxnLst/>
              <a:rect r="r" b="b" t="t" l="l"/>
              <a:pathLst>
                <a:path h="641731" w="685419">
                  <a:moveTo>
                    <a:pt x="0" y="0"/>
                  </a:moveTo>
                  <a:lnTo>
                    <a:pt x="685419" y="0"/>
                  </a:lnTo>
                  <a:lnTo>
                    <a:pt x="685419" y="641731"/>
                  </a:lnTo>
                  <a:lnTo>
                    <a:pt x="0" y="64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-1" b="7"/>
              </a:stretch>
            </a:blip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10445601" y="4327493"/>
            <a:ext cx="1476604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River-stage</a:t>
            </a:r>
          </a:p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changes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9690887" y="5031391"/>
            <a:ext cx="568766" cy="459391"/>
            <a:chOff x="0" y="0"/>
            <a:chExt cx="758355" cy="612521"/>
          </a:xfrm>
        </p:grpSpPr>
        <p:sp>
          <p:nvSpPr>
            <p:cNvPr name="Freeform 103" id="103" descr="p4_i3.png"/>
            <p:cNvSpPr/>
            <p:nvPr/>
          </p:nvSpPr>
          <p:spPr>
            <a:xfrm flipH="false" flipV="false" rot="0">
              <a:off x="0" y="0"/>
              <a:ext cx="758317" cy="612521"/>
            </a:xfrm>
            <a:custGeom>
              <a:avLst/>
              <a:gdLst/>
              <a:ahLst/>
              <a:cxnLst/>
              <a:rect r="r" b="b" t="t" l="l"/>
              <a:pathLst>
                <a:path h="612521" w="758317">
                  <a:moveTo>
                    <a:pt x="0" y="0"/>
                  </a:moveTo>
                  <a:lnTo>
                    <a:pt x="758317" y="0"/>
                  </a:lnTo>
                  <a:lnTo>
                    <a:pt x="758317" y="612521"/>
                  </a:lnTo>
                  <a:lnTo>
                    <a:pt x="0" y="612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-5" b="0"/>
              </a:stretch>
            </a:blipFill>
          </p:spPr>
        </p:sp>
      </p:grpSp>
      <p:sp>
        <p:nvSpPr>
          <p:cNvPr name="TextBox 104" id="104"/>
          <p:cNvSpPr txBox="true"/>
          <p:nvPr/>
        </p:nvSpPr>
        <p:spPr>
          <a:xfrm rot="0">
            <a:off x="10445601" y="5027514"/>
            <a:ext cx="1476604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Sun-angle</a:t>
            </a:r>
          </a:p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effects</a:t>
            </a:r>
          </a:p>
        </p:txBody>
      </p:sp>
      <p:grpSp>
        <p:nvGrpSpPr>
          <p:cNvPr name="Group 105" id="105"/>
          <p:cNvGrpSpPr/>
          <p:nvPr/>
        </p:nvGrpSpPr>
        <p:grpSpPr>
          <a:xfrm rot="0">
            <a:off x="9690887" y="5687654"/>
            <a:ext cx="557832" cy="590645"/>
            <a:chOff x="0" y="0"/>
            <a:chExt cx="743776" cy="787527"/>
          </a:xfrm>
        </p:grpSpPr>
        <p:sp>
          <p:nvSpPr>
            <p:cNvPr name="Freeform 106" id="106" descr="p4_i4.png"/>
            <p:cNvSpPr/>
            <p:nvPr/>
          </p:nvSpPr>
          <p:spPr>
            <a:xfrm flipH="false" flipV="false" rot="0">
              <a:off x="0" y="0"/>
              <a:ext cx="743712" cy="787527"/>
            </a:xfrm>
            <a:custGeom>
              <a:avLst/>
              <a:gdLst/>
              <a:ahLst/>
              <a:cxnLst/>
              <a:rect r="r" b="b" t="t" l="l"/>
              <a:pathLst>
                <a:path h="787527" w="743712">
                  <a:moveTo>
                    <a:pt x="0" y="0"/>
                  </a:moveTo>
                  <a:lnTo>
                    <a:pt x="743712" y="0"/>
                  </a:lnTo>
                  <a:lnTo>
                    <a:pt x="743712" y="787527"/>
                  </a:lnTo>
                  <a:lnTo>
                    <a:pt x="0" y="787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-8" b="0"/>
              </a:stretch>
            </a:blipFill>
          </p:spPr>
        </p:sp>
      </p:grpSp>
      <p:sp>
        <p:nvSpPr>
          <p:cNvPr name="TextBox 107" id="107"/>
          <p:cNvSpPr txBox="true"/>
          <p:nvPr/>
        </p:nvSpPr>
        <p:spPr>
          <a:xfrm rot="0">
            <a:off x="10445601" y="5683777"/>
            <a:ext cx="1476604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</a:p>
          <a:p>
            <a:pPr algn="l">
              <a:lnSpc>
                <a:spcPts val="1871"/>
              </a:lnSpc>
            </a:pPr>
            <a:r>
              <a:rPr lang="en-US" sz="129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mis-registration</a:t>
            </a:r>
          </a:p>
        </p:txBody>
      </p:sp>
      <p:sp>
        <p:nvSpPr>
          <p:cNvPr name="AutoShape 108" id="108"/>
          <p:cNvSpPr/>
          <p:nvPr/>
        </p:nvSpPr>
        <p:spPr>
          <a:xfrm rot="19200">
            <a:off x="9564205" y="6601663"/>
            <a:ext cx="2276856" cy="0"/>
          </a:xfrm>
          <a:prstGeom prst="line">
            <a:avLst/>
          </a:prstGeom>
          <a:ln cap="rnd" w="9525">
            <a:solidFill>
              <a:srgbClr val="E9EF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9" id="109"/>
          <p:cNvSpPr txBox="true"/>
          <p:nvPr/>
        </p:nvSpPr>
        <p:spPr>
          <a:xfrm rot="0">
            <a:off x="9570577" y="6646307"/>
            <a:ext cx="2242252" cy="594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0813" indent="-75406" lvl="1">
              <a:lnSpc>
                <a:spcPts val="1800"/>
              </a:lnSpc>
              <a:buFont typeface="Arial"/>
              <a:buChar char="•"/>
            </a:pPr>
            <a:r>
              <a:rPr lang="en-US" sz="1250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Apply multiple checks to remove non-real changes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12283145" y="2034426"/>
            <a:ext cx="371885" cy="371885"/>
            <a:chOff x="0" y="0"/>
            <a:chExt cx="495846" cy="49584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95808" cy="495808"/>
            </a:xfrm>
            <a:custGeom>
              <a:avLst/>
              <a:gdLst/>
              <a:ahLst/>
              <a:cxnLst/>
              <a:rect r="r" b="b" t="t" l="l"/>
              <a:pathLst>
                <a:path h="495808" w="495808">
                  <a:moveTo>
                    <a:pt x="0" y="247904"/>
                  </a:moveTo>
                  <a:cubicBezTo>
                    <a:pt x="0" y="110998"/>
                    <a:pt x="110998" y="0"/>
                    <a:pt x="247904" y="0"/>
                  </a:cubicBezTo>
                  <a:cubicBezTo>
                    <a:pt x="384810" y="0"/>
                    <a:pt x="495808" y="110998"/>
                    <a:pt x="495808" y="247904"/>
                  </a:cubicBezTo>
                  <a:cubicBezTo>
                    <a:pt x="495808" y="384810"/>
                    <a:pt x="384810" y="495808"/>
                    <a:pt x="247904" y="495808"/>
                  </a:cubicBezTo>
                  <a:cubicBezTo>
                    <a:pt x="110998" y="495808"/>
                    <a:pt x="0" y="384810"/>
                    <a:pt x="0" y="247904"/>
                  </a:cubicBezTo>
                  <a:close/>
                </a:path>
              </a:pathLst>
            </a:custGeom>
            <a:solidFill>
              <a:srgbClr val="062E6B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19050"/>
              <a:ext cx="495846" cy="5148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2906604" y="2049609"/>
            <a:ext cx="1750047" cy="6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Evidence &amp;</a:t>
            </a:r>
          </a:p>
          <a:p>
            <a:pPr algn="l">
              <a:lnSpc>
                <a:spcPts val="2462"/>
              </a:lnSpc>
            </a:pPr>
            <a:r>
              <a:rPr lang="en-US" sz="18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Output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12222109" y="2782786"/>
            <a:ext cx="2637768" cy="1762744"/>
            <a:chOff x="0" y="0"/>
            <a:chExt cx="3517024" cy="235032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517011" cy="2350262"/>
            </a:xfrm>
            <a:custGeom>
              <a:avLst/>
              <a:gdLst/>
              <a:ahLst/>
              <a:cxnLst/>
              <a:rect r="r" b="b" t="t" l="l"/>
              <a:pathLst>
                <a:path h="2350262" w="3517011">
                  <a:moveTo>
                    <a:pt x="0" y="140970"/>
                  </a:moveTo>
                  <a:cubicBezTo>
                    <a:pt x="0" y="63119"/>
                    <a:pt x="63119" y="0"/>
                    <a:pt x="140970" y="0"/>
                  </a:cubicBezTo>
                  <a:lnTo>
                    <a:pt x="3376041" y="0"/>
                  </a:lnTo>
                  <a:cubicBezTo>
                    <a:pt x="3453892" y="0"/>
                    <a:pt x="3517011" y="63119"/>
                    <a:pt x="3517011" y="140970"/>
                  </a:cubicBezTo>
                  <a:lnTo>
                    <a:pt x="3517011" y="2209292"/>
                  </a:lnTo>
                  <a:cubicBezTo>
                    <a:pt x="3517011" y="2287143"/>
                    <a:pt x="3453892" y="2350262"/>
                    <a:pt x="3376041" y="2350262"/>
                  </a:cubicBezTo>
                  <a:lnTo>
                    <a:pt x="140970" y="2350262"/>
                  </a:lnTo>
                  <a:cubicBezTo>
                    <a:pt x="63119" y="2350262"/>
                    <a:pt x="0" y="2287143"/>
                    <a:pt x="0" y="220929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3F8"/>
              </a:solidFill>
              <a:prstDash val="solid"/>
              <a:miter/>
            </a:ln>
          </p:spPr>
        </p:sp>
      </p:grpSp>
      <p:sp>
        <p:nvSpPr>
          <p:cNvPr name="TextBox 116" id="116"/>
          <p:cNvSpPr txBox="true"/>
          <p:nvPr/>
        </p:nvSpPr>
        <p:spPr>
          <a:xfrm rot="0">
            <a:off x="12283145" y="2827601"/>
            <a:ext cx="1225029" cy="51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0182C"/>
                </a:solidFill>
                <a:latin typeface="Arial Bold"/>
                <a:ea typeface="Arial Bold"/>
                <a:cs typeface="Arial Bold"/>
                <a:sym typeface="Arial Bold"/>
              </a:rPr>
              <a:t>Before</a:t>
            </a:r>
          </a:p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0182C"/>
                </a:solidFill>
                <a:latin typeface="Arial Bold"/>
                <a:ea typeface="Arial Bold"/>
                <a:cs typeface="Arial Bold"/>
                <a:sym typeface="Arial Bold"/>
              </a:rPr>
              <a:t>(Mar 2023)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3595680" y="2827601"/>
            <a:ext cx="1225029" cy="51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0182C"/>
                </a:solidFill>
                <a:latin typeface="Arial Bold"/>
                <a:ea typeface="Arial Bold"/>
                <a:cs typeface="Arial Bold"/>
                <a:sym typeface="Arial Bold"/>
              </a:rPr>
              <a:t>After</a:t>
            </a:r>
          </a:p>
          <a:p>
            <a:pPr algn="ctr">
              <a:lnSpc>
                <a:spcPts val="1770"/>
              </a:lnSpc>
            </a:pPr>
            <a:r>
              <a:rPr lang="en-US" sz="1250" b="true">
                <a:solidFill>
                  <a:srgbClr val="10182C"/>
                </a:solidFill>
                <a:latin typeface="Arial Bold"/>
                <a:ea typeface="Arial Bold"/>
                <a:cs typeface="Arial Bold"/>
                <a:sym typeface="Arial Bold"/>
              </a:rPr>
              <a:t>(Mar 2024)</a:t>
            </a:r>
          </a:p>
        </p:txBody>
      </p:sp>
      <p:grpSp>
        <p:nvGrpSpPr>
          <p:cNvPr name="Group 118" id="118"/>
          <p:cNvGrpSpPr/>
          <p:nvPr/>
        </p:nvGrpSpPr>
        <p:grpSpPr>
          <a:xfrm rot="0">
            <a:off x="12283145" y="3325092"/>
            <a:ext cx="1203160" cy="1148467"/>
            <a:chOff x="0" y="0"/>
            <a:chExt cx="1604213" cy="1531290"/>
          </a:xfrm>
        </p:grpSpPr>
        <p:sp>
          <p:nvSpPr>
            <p:cNvPr name="Freeform 119" id="119" descr="p5_before.png"/>
            <p:cNvSpPr/>
            <p:nvPr/>
          </p:nvSpPr>
          <p:spPr>
            <a:xfrm flipH="false" flipV="false" rot="0">
              <a:off x="0" y="0"/>
              <a:ext cx="1604264" cy="1531239"/>
            </a:xfrm>
            <a:custGeom>
              <a:avLst/>
              <a:gdLst/>
              <a:ahLst/>
              <a:cxnLst/>
              <a:rect r="r" b="b" t="t" l="l"/>
              <a:pathLst>
                <a:path h="1531239" w="1604264">
                  <a:moveTo>
                    <a:pt x="0" y="0"/>
                  </a:moveTo>
                  <a:lnTo>
                    <a:pt x="1604264" y="0"/>
                  </a:lnTo>
                  <a:lnTo>
                    <a:pt x="1604264" y="1531239"/>
                  </a:lnTo>
                  <a:lnTo>
                    <a:pt x="0" y="153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3" b="-3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584746" y="3325092"/>
            <a:ext cx="1214095" cy="1148467"/>
            <a:chOff x="0" y="0"/>
            <a:chExt cx="1618793" cy="1531290"/>
          </a:xfrm>
        </p:grpSpPr>
        <p:sp>
          <p:nvSpPr>
            <p:cNvPr name="Freeform 121" id="121" descr="p5_after.png"/>
            <p:cNvSpPr/>
            <p:nvPr/>
          </p:nvSpPr>
          <p:spPr>
            <a:xfrm flipH="false" flipV="false" rot="0">
              <a:off x="0" y="0"/>
              <a:ext cx="1618742" cy="1531239"/>
            </a:xfrm>
            <a:custGeom>
              <a:avLst/>
              <a:gdLst/>
              <a:ahLst/>
              <a:cxnLst/>
              <a:rect r="r" b="b" t="t" l="l"/>
              <a:pathLst>
                <a:path h="1531239" w="1618742">
                  <a:moveTo>
                    <a:pt x="0" y="0"/>
                  </a:moveTo>
                  <a:lnTo>
                    <a:pt x="1618742" y="0"/>
                  </a:lnTo>
                  <a:lnTo>
                    <a:pt x="1618742" y="1531239"/>
                  </a:lnTo>
                  <a:lnTo>
                    <a:pt x="0" y="15312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-3" b="-3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447213" y="4681376"/>
            <a:ext cx="481260" cy="601580"/>
            <a:chOff x="0" y="0"/>
            <a:chExt cx="641680" cy="802107"/>
          </a:xfrm>
        </p:grpSpPr>
        <p:sp>
          <p:nvSpPr>
            <p:cNvPr name="Freeform 123" id="123" descr="p5_doc.png"/>
            <p:cNvSpPr/>
            <p:nvPr/>
          </p:nvSpPr>
          <p:spPr>
            <a:xfrm flipH="false" flipV="false" rot="0">
              <a:off x="0" y="0"/>
              <a:ext cx="641731" cy="802132"/>
            </a:xfrm>
            <a:custGeom>
              <a:avLst/>
              <a:gdLst/>
              <a:ahLst/>
              <a:cxnLst/>
              <a:rect r="r" b="b" t="t" l="l"/>
              <a:pathLst>
                <a:path h="802132" w="641731">
                  <a:moveTo>
                    <a:pt x="0" y="0"/>
                  </a:moveTo>
                  <a:lnTo>
                    <a:pt x="641731" y="0"/>
                  </a:lnTo>
                  <a:lnTo>
                    <a:pt x="641731" y="802132"/>
                  </a:lnTo>
                  <a:lnTo>
                    <a:pt x="0" y="802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7" b="3"/>
              </a:stretch>
            </a:blipFill>
          </p:spPr>
        </p:sp>
      </p:grpSp>
      <p:sp>
        <p:nvSpPr>
          <p:cNvPr name="TextBox 124" id="124"/>
          <p:cNvSpPr txBox="true"/>
          <p:nvPr/>
        </p:nvSpPr>
        <p:spPr>
          <a:xfrm rot="0">
            <a:off x="13081606" y="4643276"/>
            <a:ext cx="1859423" cy="36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500" b="true">
                <a:solidFill>
                  <a:srgbClr val="0B1A4A"/>
                </a:solidFill>
                <a:latin typeface="Arial Bold"/>
                <a:ea typeface="Arial Bold"/>
                <a:cs typeface="Arial Bold"/>
                <a:sym typeface="Arial Bold"/>
              </a:rPr>
              <a:t>Change Report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3081606" y="4905785"/>
            <a:ext cx="1771926" cy="167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8747" indent="-69374" lvl="1">
              <a:lnSpc>
                <a:spcPts val="1655"/>
              </a:lnSpc>
              <a:buFont typeface="Arial"/>
              <a:buChar char="•"/>
            </a:pPr>
            <a:r>
              <a:rPr lang="en-US" sz="114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Change type &amp; location</a:t>
            </a:r>
          </a:p>
          <a:p>
            <a:pPr algn="l" marL="138747" indent="-69374" lvl="1">
              <a:lnSpc>
                <a:spcPts val="1655"/>
              </a:lnSpc>
              <a:buFont typeface="Arial"/>
              <a:buChar char="•"/>
            </a:pPr>
            <a:r>
              <a:rPr lang="en-US" sz="114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Earliest supported date (with uncertainty)</a:t>
            </a:r>
          </a:p>
          <a:p>
            <a:pPr algn="l" marL="138747" indent="-69374" lvl="1">
              <a:lnSpc>
                <a:spcPts val="1655"/>
              </a:lnSpc>
              <a:buFont typeface="Arial"/>
              <a:buChar char="•"/>
            </a:pPr>
            <a:r>
              <a:rPr lang="en-US" sz="114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Evidence for / against</a:t>
            </a:r>
          </a:p>
          <a:p>
            <a:pPr algn="l" marL="138747" indent="-69374" lvl="1">
              <a:lnSpc>
                <a:spcPts val="1655"/>
              </a:lnSpc>
              <a:buFont typeface="Arial"/>
              <a:buChar char="•"/>
            </a:pPr>
            <a:r>
              <a:rPr lang="en-US" sz="114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Confidence level</a:t>
            </a:r>
          </a:p>
          <a:p>
            <a:pPr algn="l" marL="138747" indent="-69374" lvl="1">
              <a:lnSpc>
                <a:spcPts val="1655"/>
              </a:lnSpc>
              <a:buFont typeface="Arial"/>
              <a:buChar char="•"/>
            </a:pPr>
            <a:r>
              <a:rPr lang="en-US" sz="1149">
                <a:solidFill>
                  <a:srgbClr val="333A4A"/>
                </a:solidFill>
                <a:latin typeface="Arial"/>
                <a:ea typeface="Arial"/>
                <a:cs typeface="Arial"/>
                <a:sym typeface="Arial"/>
              </a:rPr>
              <a:t>Analyst review and feedback stored for future queries</a:t>
            </a:r>
          </a:p>
        </p:txBody>
      </p:sp>
      <p:grpSp>
        <p:nvGrpSpPr>
          <p:cNvPr name="Group 126" id="126"/>
          <p:cNvGrpSpPr/>
          <p:nvPr/>
        </p:nvGrpSpPr>
        <p:grpSpPr>
          <a:xfrm rot="0">
            <a:off x="267091" y="7857925"/>
            <a:ext cx="14647478" cy="1543993"/>
            <a:chOff x="0" y="0"/>
            <a:chExt cx="19529971" cy="2058657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9530061" cy="2058670"/>
            </a:xfrm>
            <a:custGeom>
              <a:avLst/>
              <a:gdLst/>
              <a:ahLst/>
              <a:cxnLst/>
              <a:rect r="r" b="b" t="t" l="l"/>
              <a:pathLst>
                <a:path h="2058670" w="19530061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lnTo>
                    <a:pt x="19416776" y="0"/>
                  </a:lnTo>
                  <a:cubicBezTo>
                    <a:pt x="19479261" y="0"/>
                    <a:pt x="19530061" y="50673"/>
                    <a:pt x="19530061" y="113284"/>
                  </a:cubicBezTo>
                  <a:lnTo>
                    <a:pt x="19530061" y="1945386"/>
                  </a:lnTo>
                  <a:cubicBezTo>
                    <a:pt x="19530061" y="2007870"/>
                    <a:pt x="19479388" y="2058670"/>
                    <a:pt x="19416776" y="2058670"/>
                  </a:cubicBezTo>
                  <a:lnTo>
                    <a:pt x="113284" y="2058670"/>
                  </a:lnTo>
                  <a:cubicBezTo>
                    <a:pt x="50800" y="2058670"/>
                    <a:pt x="0" y="2007997"/>
                    <a:pt x="0" y="194538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E3ECF4"/>
              </a:solidFill>
              <a:prstDash val="solid"/>
              <a:miter/>
            </a:ln>
          </p:spPr>
        </p:sp>
      </p:grpSp>
      <p:sp>
        <p:nvSpPr>
          <p:cNvPr name="TextBox 128" id="128"/>
          <p:cNvSpPr txBox="true"/>
          <p:nvPr/>
        </p:nvSpPr>
        <p:spPr>
          <a:xfrm rot="0">
            <a:off x="525018" y="7957433"/>
            <a:ext cx="3500095" cy="29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4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Key Differentiators</a:t>
            </a:r>
          </a:p>
        </p:txBody>
      </p:sp>
      <p:grpSp>
        <p:nvGrpSpPr>
          <p:cNvPr name="Group 129" id="129"/>
          <p:cNvGrpSpPr/>
          <p:nvPr/>
        </p:nvGrpSpPr>
        <p:grpSpPr>
          <a:xfrm rot="0">
            <a:off x="853145" y="8520541"/>
            <a:ext cx="492204" cy="525018"/>
            <a:chOff x="0" y="0"/>
            <a:chExt cx="656272" cy="700024"/>
          </a:xfrm>
        </p:grpSpPr>
        <p:sp>
          <p:nvSpPr>
            <p:cNvPr name="Freeform 130" id="130" descr="kd0.png"/>
            <p:cNvSpPr/>
            <p:nvPr/>
          </p:nvSpPr>
          <p:spPr>
            <a:xfrm flipH="false" flipV="false" rot="0">
              <a:off x="0" y="0"/>
              <a:ext cx="656209" cy="700024"/>
            </a:xfrm>
            <a:custGeom>
              <a:avLst/>
              <a:gdLst/>
              <a:ahLst/>
              <a:cxnLst/>
              <a:rect r="r" b="b" t="t" l="l"/>
              <a:pathLst>
                <a:path h="700024" w="656209">
                  <a:moveTo>
                    <a:pt x="0" y="0"/>
                  </a:moveTo>
                  <a:lnTo>
                    <a:pt x="656209" y="0"/>
                  </a:lnTo>
                  <a:lnTo>
                    <a:pt x="656209" y="700024"/>
                  </a:lnTo>
                  <a:lnTo>
                    <a:pt x="0" y="700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-9" b="0"/>
              </a:stretch>
            </a:blipFill>
          </p:spPr>
        </p:sp>
      </p:grpSp>
      <p:sp>
        <p:nvSpPr>
          <p:cNvPr name="TextBox 131" id="131"/>
          <p:cNvSpPr txBox="true"/>
          <p:nvPr/>
        </p:nvSpPr>
        <p:spPr>
          <a:xfrm rot="0">
            <a:off x="1454725" y="8470097"/>
            <a:ext cx="2734447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100" b="true">
                <a:solidFill>
                  <a:srgbClr val="141B30"/>
                </a:solidFill>
                <a:latin typeface="Arial Bold"/>
                <a:ea typeface="Arial Bold"/>
                <a:cs typeface="Arial Bold"/>
                <a:sym typeface="Arial Bold"/>
              </a:rPr>
              <a:t>Geo-object index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54725" y="8699792"/>
            <a:ext cx="2843832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50">
                <a:solidFill>
                  <a:srgbClr val="555C6B"/>
                </a:solidFill>
                <a:latin typeface="Arial"/>
                <a:ea typeface="Arial"/>
                <a:cs typeface="Arial"/>
                <a:sym typeface="Arial"/>
              </a:rPr>
              <a:t>Not one pooled vector per tile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4572000" y="8531485"/>
            <a:ext cx="371885" cy="459391"/>
            <a:chOff x="0" y="0"/>
            <a:chExt cx="495846" cy="612521"/>
          </a:xfrm>
        </p:grpSpPr>
        <p:sp>
          <p:nvSpPr>
            <p:cNvPr name="Freeform 134" id="134" descr="kd1.png"/>
            <p:cNvSpPr/>
            <p:nvPr/>
          </p:nvSpPr>
          <p:spPr>
            <a:xfrm flipH="false" flipV="false" rot="0">
              <a:off x="0" y="0"/>
              <a:ext cx="495808" cy="612521"/>
            </a:xfrm>
            <a:custGeom>
              <a:avLst/>
              <a:gdLst/>
              <a:ahLst/>
              <a:cxnLst/>
              <a:rect r="r" b="b" t="t" l="l"/>
              <a:pathLst>
                <a:path h="612521" w="495808">
                  <a:moveTo>
                    <a:pt x="0" y="0"/>
                  </a:moveTo>
                  <a:lnTo>
                    <a:pt x="495808" y="0"/>
                  </a:lnTo>
                  <a:lnTo>
                    <a:pt x="495808" y="612521"/>
                  </a:lnTo>
                  <a:lnTo>
                    <a:pt x="0" y="612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-7" b="0"/>
              </a:stretch>
            </a:blipFill>
          </p:spPr>
        </p:sp>
      </p:grpSp>
      <p:sp>
        <p:nvSpPr>
          <p:cNvPr name="TextBox 135" id="135"/>
          <p:cNvSpPr txBox="true"/>
          <p:nvPr/>
        </p:nvSpPr>
        <p:spPr>
          <a:xfrm rot="0">
            <a:off x="5053260" y="8470097"/>
            <a:ext cx="2734447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100" b="true">
                <a:solidFill>
                  <a:srgbClr val="141B30"/>
                </a:solidFill>
                <a:latin typeface="Arial Bold"/>
                <a:ea typeface="Arial Bold"/>
                <a:cs typeface="Arial Bold"/>
                <a:sym typeface="Arial Bold"/>
              </a:rPr>
              <a:t>Time-series based change detection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5053260" y="8699792"/>
            <a:ext cx="2843832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50">
                <a:solidFill>
                  <a:srgbClr val="555C6B"/>
                </a:solidFill>
                <a:latin typeface="Arial"/>
                <a:ea typeface="Arial"/>
                <a:cs typeface="Arial"/>
                <a:sym typeface="Arial"/>
              </a:rPr>
              <a:t>(CCDC) instead of two-date difference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8673675" y="8487728"/>
            <a:ext cx="415633" cy="535953"/>
            <a:chOff x="0" y="0"/>
            <a:chExt cx="554177" cy="714604"/>
          </a:xfrm>
        </p:grpSpPr>
        <p:sp>
          <p:nvSpPr>
            <p:cNvPr name="Freeform 138" id="138" descr="kd2.png"/>
            <p:cNvSpPr/>
            <p:nvPr/>
          </p:nvSpPr>
          <p:spPr>
            <a:xfrm flipH="false" flipV="false" rot="0">
              <a:off x="0" y="0"/>
              <a:ext cx="554228" cy="714629"/>
            </a:xfrm>
            <a:custGeom>
              <a:avLst/>
              <a:gdLst/>
              <a:ahLst/>
              <a:cxnLst/>
              <a:rect r="r" b="b" t="t" l="l"/>
              <a:pathLst>
                <a:path h="714629" w="554228">
                  <a:moveTo>
                    <a:pt x="0" y="0"/>
                  </a:moveTo>
                  <a:lnTo>
                    <a:pt x="554228" y="0"/>
                  </a:lnTo>
                  <a:lnTo>
                    <a:pt x="554228" y="714629"/>
                  </a:lnTo>
                  <a:lnTo>
                    <a:pt x="0" y="714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9" b="3"/>
              </a:stretch>
            </a:blipFill>
          </p:spPr>
        </p:sp>
      </p:grpSp>
      <p:sp>
        <p:nvSpPr>
          <p:cNvPr name="TextBox 139" id="139"/>
          <p:cNvSpPr txBox="true"/>
          <p:nvPr/>
        </p:nvSpPr>
        <p:spPr>
          <a:xfrm rot="0">
            <a:off x="9198693" y="8470097"/>
            <a:ext cx="2734447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100" b="true">
                <a:solidFill>
                  <a:srgbClr val="141B30"/>
                </a:solidFill>
                <a:latin typeface="Arial Bold"/>
                <a:ea typeface="Arial Bold"/>
                <a:cs typeface="Arial Bold"/>
                <a:sym typeface="Arial Bold"/>
              </a:rPr>
              <a:t>Analyst feedback loop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9198693" y="8699792"/>
            <a:ext cx="2843832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50">
                <a:solidFill>
                  <a:srgbClr val="555C6B"/>
                </a:solidFill>
                <a:latin typeface="Arial"/>
                <a:ea typeface="Arial"/>
                <a:cs typeface="Arial"/>
                <a:sym typeface="Arial"/>
              </a:rPr>
              <a:t>Decisions improve future results</a:t>
            </a:r>
          </a:p>
        </p:txBody>
      </p:sp>
      <p:grpSp>
        <p:nvGrpSpPr>
          <p:cNvPr name="Group 141" id="141"/>
          <p:cNvGrpSpPr/>
          <p:nvPr/>
        </p:nvGrpSpPr>
        <p:grpSpPr>
          <a:xfrm rot="0">
            <a:off x="11944074" y="8498672"/>
            <a:ext cx="459391" cy="492204"/>
            <a:chOff x="0" y="0"/>
            <a:chExt cx="612521" cy="656272"/>
          </a:xfrm>
        </p:grpSpPr>
        <p:sp>
          <p:nvSpPr>
            <p:cNvPr name="Freeform 142" id="142" descr="kd3.png"/>
            <p:cNvSpPr/>
            <p:nvPr/>
          </p:nvSpPr>
          <p:spPr>
            <a:xfrm flipH="false" flipV="false" rot="0">
              <a:off x="0" y="0"/>
              <a:ext cx="612521" cy="656209"/>
            </a:xfrm>
            <a:custGeom>
              <a:avLst/>
              <a:gdLst/>
              <a:ahLst/>
              <a:cxnLst/>
              <a:rect r="r" b="b" t="t" l="l"/>
              <a:pathLst>
                <a:path h="656209" w="612521">
                  <a:moveTo>
                    <a:pt x="0" y="0"/>
                  </a:moveTo>
                  <a:lnTo>
                    <a:pt x="612521" y="0"/>
                  </a:lnTo>
                  <a:lnTo>
                    <a:pt x="612521" y="656209"/>
                  </a:lnTo>
                  <a:lnTo>
                    <a:pt x="0" y="6562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-9"/>
              </a:stretch>
            </a:blipFill>
          </p:spPr>
        </p:sp>
      </p:grpSp>
      <p:sp>
        <p:nvSpPr>
          <p:cNvPr name="TextBox 143" id="143"/>
          <p:cNvSpPr txBox="true"/>
          <p:nvPr/>
        </p:nvSpPr>
        <p:spPr>
          <a:xfrm rot="0">
            <a:off x="12469092" y="8470097"/>
            <a:ext cx="2734447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100" b="true">
                <a:solidFill>
                  <a:srgbClr val="141B30"/>
                </a:solidFill>
                <a:latin typeface="Arial Bold"/>
                <a:ea typeface="Arial Bold"/>
                <a:cs typeface="Arial Bold"/>
                <a:sym typeface="Arial Bold"/>
              </a:rPr>
              <a:t>Designed for defence use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2469092" y="8699792"/>
            <a:ext cx="2843832" cy="29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"/>
              </a:lnSpc>
            </a:pPr>
            <a:r>
              <a:rPr lang="en-US" sz="1050">
                <a:solidFill>
                  <a:srgbClr val="555C6B"/>
                </a:solidFill>
                <a:latin typeface="Arial"/>
                <a:ea typeface="Arial"/>
                <a:cs typeface="Arial"/>
                <a:sym typeface="Arial"/>
              </a:rPr>
              <a:t>Offline, secure and policy compliant</a:t>
            </a:r>
          </a:p>
        </p:txBody>
      </p:sp>
      <p:sp>
        <p:nvSpPr>
          <p:cNvPr name="AutoShape 145" id="145"/>
          <p:cNvSpPr/>
          <p:nvPr/>
        </p:nvSpPr>
        <p:spPr>
          <a:xfrm rot="5336820">
            <a:off x="3548377" y="8756418"/>
            <a:ext cx="690963" cy="0"/>
          </a:xfrm>
          <a:prstGeom prst="line">
            <a:avLst/>
          </a:prstGeom>
          <a:ln cap="rnd" w="9525">
            <a:solidFill>
              <a:srgbClr val="DDE4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6" id="146"/>
          <p:cNvSpPr/>
          <p:nvPr/>
        </p:nvSpPr>
        <p:spPr>
          <a:xfrm rot="5336820">
            <a:off x="7803185" y="8756418"/>
            <a:ext cx="690963" cy="0"/>
          </a:xfrm>
          <a:prstGeom prst="line">
            <a:avLst/>
          </a:prstGeom>
          <a:ln cap="rnd" w="9525">
            <a:solidFill>
              <a:srgbClr val="DDE4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7" id="147"/>
          <p:cNvSpPr/>
          <p:nvPr/>
        </p:nvSpPr>
        <p:spPr>
          <a:xfrm rot="5336820">
            <a:off x="11117332" y="8756418"/>
            <a:ext cx="690963" cy="0"/>
          </a:xfrm>
          <a:prstGeom prst="line">
            <a:avLst/>
          </a:prstGeom>
          <a:ln cap="rnd" w="9525">
            <a:solidFill>
              <a:srgbClr val="DDE4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8" id="148"/>
          <p:cNvGrpSpPr/>
          <p:nvPr/>
        </p:nvGrpSpPr>
        <p:grpSpPr>
          <a:xfrm rot="0">
            <a:off x="15065940" y="1842135"/>
            <a:ext cx="2944035" cy="7592597"/>
            <a:chOff x="0" y="0"/>
            <a:chExt cx="3925379" cy="10123462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925316" cy="10123424"/>
            </a:xfrm>
            <a:custGeom>
              <a:avLst/>
              <a:gdLst/>
              <a:ahLst/>
              <a:cxnLst/>
              <a:rect r="r" b="b" t="t" l="l"/>
              <a:pathLst>
                <a:path h="10123424" w="3925316">
                  <a:moveTo>
                    <a:pt x="0" y="86360"/>
                  </a:moveTo>
                  <a:cubicBezTo>
                    <a:pt x="0" y="38608"/>
                    <a:pt x="38608" y="0"/>
                    <a:pt x="86360" y="0"/>
                  </a:cubicBezTo>
                  <a:lnTo>
                    <a:pt x="3838956" y="0"/>
                  </a:lnTo>
                  <a:cubicBezTo>
                    <a:pt x="3886708" y="0"/>
                    <a:pt x="3925316" y="38608"/>
                    <a:pt x="3925316" y="86360"/>
                  </a:cubicBezTo>
                  <a:lnTo>
                    <a:pt x="3925316" y="10037064"/>
                  </a:lnTo>
                  <a:cubicBezTo>
                    <a:pt x="3925316" y="10084816"/>
                    <a:pt x="3886708" y="10123424"/>
                    <a:pt x="3838956" y="10123424"/>
                  </a:cubicBezTo>
                  <a:lnTo>
                    <a:pt x="86360" y="10123424"/>
                  </a:lnTo>
                  <a:cubicBezTo>
                    <a:pt x="38608" y="10123424"/>
                    <a:pt x="0" y="10084816"/>
                    <a:pt x="0" y="10037064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3ECF4"/>
              </a:solidFill>
              <a:prstDash val="solid"/>
              <a:miter/>
            </a:ln>
          </p:spPr>
        </p:sp>
      </p:grpSp>
      <p:grpSp>
        <p:nvGrpSpPr>
          <p:cNvPr name="Group 150" id="150"/>
          <p:cNvGrpSpPr/>
          <p:nvPr/>
        </p:nvGrpSpPr>
        <p:grpSpPr>
          <a:xfrm rot="0">
            <a:off x="15094163" y="1837553"/>
            <a:ext cx="2898515" cy="339071"/>
            <a:chOff x="0" y="0"/>
            <a:chExt cx="3864686" cy="452095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3864737" cy="452120"/>
            </a:xfrm>
            <a:custGeom>
              <a:avLst/>
              <a:gdLst/>
              <a:ahLst/>
              <a:cxnLst/>
              <a:rect r="r" b="b" t="t" l="l"/>
              <a:pathLst>
                <a:path h="452120" w="3864737">
                  <a:moveTo>
                    <a:pt x="0" y="0"/>
                  </a:moveTo>
                  <a:lnTo>
                    <a:pt x="3864737" y="0"/>
                  </a:lnTo>
                  <a:lnTo>
                    <a:pt x="3864737" y="452120"/>
                  </a:lnTo>
                  <a:lnTo>
                    <a:pt x="0" y="452120"/>
                  </a:lnTo>
                  <a:close/>
                </a:path>
              </a:pathLst>
            </a:custGeom>
            <a:solidFill>
              <a:srgbClr val="173253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15094163" y="1782861"/>
            <a:ext cx="2898515" cy="393764"/>
            <a:chOff x="0" y="0"/>
            <a:chExt cx="3864686" cy="525018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3864610" cy="525018"/>
            </a:xfrm>
            <a:custGeom>
              <a:avLst/>
              <a:gdLst/>
              <a:ahLst/>
              <a:cxnLst/>
              <a:rect r="r" b="b" t="t" l="l"/>
              <a:pathLst>
                <a:path h="525018" w="3864610">
                  <a:moveTo>
                    <a:pt x="0" y="157480"/>
                  </a:moveTo>
                  <a:cubicBezTo>
                    <a:pt x="0" y="70485"/>
                    <a:pt x="70485" y="0"/>
                    <a:pt x="157480" y="0"/>
                  </a:cubicBezTo>
                  <a:lnTo>
                    <a:pt x="3707130" y="0"/>
                  </a:lnTo>
                  <a:cubicBezTo>
                    <a:pt x="3794125" y="0"/>
                    <a:pt x="3864610" y="70485"/>
                    <a:pt x="3864610" y="157480"/>
                  </a:cubicBezTo>
                  <a:lnTo>
                    <a:pt x="3864610" y="367538"/>
                  </a:lnTo>
                  <a:cubicBezTo>
                    <a:pt x="3864610" y="454533"/>
                    <a:pt x="3794125" y="525018"/>
                    <a:pt x="3707130" y="525018"/>
                  </a:cubicBezTo>
                  <a:lnTo>
                    <a:pt x="157480" y="525018"/>
                  </a:lnTo>
                  <a:cubicBezTo>
                    <a:pt x="70485" y="525018"/>
                    <a:pt x="0" y="454533"/>
                    <a:pt x="0" y="367538"/>
                  </a:cubicBezTo>
                  <a:close/>
                </a:path>
              </a:pathLst>
            </a:custGeom>
            <a:solidFill>
              <a:srgbClr val="173253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15094163" y="1782861"/>
            <a:ext cx="2898515" cy="393764"/>
            <a:chOff x="0" y="0"/>
            <a:chExt cx="3864686" cy="525018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3864688" cy="525013"/>
            </a:xfrm>
            <a:custGeom>
              <a:avLst/>
              <a:gdLst/>
              <a:ahLst/>
              <a:cxnLst/>
              <a:rect r="r" b="b" t="t" l="l"/>
              <a:pathLst>
                <a:path h="525013" w="3864688">
                  <a:moveTo>
                    <a:pt x="0" y="0"/>
                  </a:moveTo>
                  <a:lnTo>
                    <a:pt x="3864688" y="0"/>
                  </a:lnTo>
                  <a:lnTo>
                    <a:pt x="3864688" y="525013"/>
                  </a:lnTo>
                  <a:lnTo>
                    <a:pt x="0" y="525013"/>
                  </a:lnTo>
                  <a:close/>
                </a:path>
              </a:pathLst>
            </a:custGeom>
            <a:blipFill>
              <a:blip r:embed="rId31">
                <a:alphaModFix amt="0"/>
              </a:blip>
              <a:stretch>
                <a:fillRect l="0" t="-93431" r="0" b="-93432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38100"/>
              <a:ext cx="3864686" cy="5631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16"/>
                </a:lnSpc>
              </a:pPr>
              <a:r>
                <a:rPr lang="en-US" sz="15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</p:grpSp>
      <p:sp>
        <p:nvSpPr>
          <p:cNvPr name="TextBox 157" id="157"/>
          <p:cNvSpPr txBox="true"/>
          <p:nvPr/>
        </p:nvSpPr>
        <p:spPr>
          <a:xfrm rot="0">
            <a:off x="15269166" y="2246490"/>
            <a:ext cx="2625071" cy="1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Data Sources</a:t>
            </a:r>
          </a:p>
        </p:txBody>
      </p:sp>
      <p:grpSp>
        <p:nvGrpSpPr>
          <p:cNvPr name="Group 158" id="158"/>
          <p:cNvGrpSpPr/>
          <p:nvPr/>
        </p:nvGrpSpPr>
        <p:grpSpPr>
          <a:xfrm rot="0">
            <a:off x="15247287" y="2603192"/>
            <a:ext cx="1071905" cy="481260"/>
            <a:chOff x="0" y="0"/>
            <a:chExt cx="1429207" cy="641680"/>
          </a:xfrm>
        </p:grpSpPr>
        <p:sp>
          <p:nvSpPr>
            <p:cNvPr name="Freeform 159" id="159" descr="ts_208_1394.png"/>
            <p:cNvSpPr/>
            <p:nvPr/>
          </p:nvSpPr>
          <p:spPr>
            <a:xfrm flipH="false" flipV="false" rot="0">
              <a:off x="0" y="0"/>
              <a:ext cx="1429258" cy="641731"/>
            </a:xfrm>
            <a:custGeom>
              <a:avLst/>
              <a:gdLst/>
              <a:ahLst/>
              <a:cxnLst/>
              <a:rect r="r" b="b" t="t" l="l"/>
              <a:pathLst>
                <a:path h="641731" w="1429258">
                  <a:moveTo>
                    <a:pt x="0" y="0"/>
                  </a:moveTo>
                  <a:lnTo>
                    <a:pt x="1429258" y="0"/>
                  </a:lnTo>
                  <a:lnTo>
                    <a:pt x="1429258" y="641731"/>
                  </a:lnTo>
                  <a:lnTo>
                    <a:pt x="0" y="64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3" b="7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6406698" y="2515695"/>
            <a:ext cx="590645" cy="568766"/>
            <a:chOff x="0" y="0"/>
            <a:chExt cx="787527" cy="758355"/>
          </a:xfrm>
        </p:grpSpPr>
        <p:sp>
          <p:nvSpPr>
            <p:cNvPr name="Freeform 161" id="161" descr="ts_208_1500.png"/>
            <p:cNvSpPr/>
            <p:nvPr/>
          </p:nvSpPr>
          <p:spPr>
            <a:xfrm flipH="false" flipV="false" rot="0">
              <a:off x="0" y="0"/>
              <a:ext cx="787527" cy="758317"/>
            </a:xfrm>
            <a:custGeom>
              <a:avLst/>
              <a:gdLst/>
              <a:ahLst/>
              <a:cxnLst/>
              <a:rect r="r" b="b" t="t" l="l"/>
              <a:pathLst>
                <a:path h="758317" w="787527">
                  <a:moveTo>
                    <a:pt x="0" y="0"/>
                  </a:moveTo>
                  <a:lnTo>
                    <a:pt x="787527" y="0"/>
                  </a:lnTo>
                  <a:lnTo>
                    <a:pt x="787527" y="758317"/>
                  </a:lnTo>
                  <a:lnTo>
                    <a:pt x="0" y="758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-4"/>
              </a:stretch>
            </a:blipFill>
          </p:spPr>
        </p:sp>
      </p:grpSp>
      <p:sp>
        <p:nvSpPr>
          <p:cNvPr name="TextBox 162" id="162"/>
          <p:cNvSpPr txBox="true"/>
          <p:nvPr/>
        </p:nvSpPr>
        <p:spPr>
          <a:xfrm rot="0">
            <a:off x="16253565" y="3065412"/>
            <a:ext cx="896903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Sentinel-1/2</a:t>
            </a:r>
          </a:p>
        </p:txBody>
      </p:sp>
      <p:grpSp>
        <p:nvGrpSpPr>
          <p:cNvPr name="Group 163" id="163"/>
          <p:cNvGrpSpPr/>
          <p:nvPr/>
        </p:nvGrpSpPr>
        <p:grpSpPr>
          <a:xfrm rot="0">
            <a:off x="17237974" y="2515695"/>
            <a:ext cx="568766" cy="568766"/>
            <a:chOff x="0" y="0"/>
            <a:chExt cx="758355" cy="758355"/>
          </a:xfrm>
        </p:grpSpPr>
        <p:sp>
          <p:nvSpPr>
            <p:cNvPr name="Freeform 164" id="164" descr="ts_208_1576.png"/>
            <p:cNvSpPr/>
            <p:nvPr/>
          </p:nvSpPr>
          <p:spPr>
            <a:xfrm flipH="false" flipV="false" rot="0">
              <a:off x="0" y="0"/>
              <a:ext cx="758317" cy="758317"/>
            </a:xfrm>
            <a:custGeom>
              <a:avLst/>
              <a:gdLst/>
              <a:ahLst/>
              <a:cxnLst/>
              <a:rect r="r" b="b" t="t" l="l"/>
              <a:pathLst>
                <a:path h="758317" w="758317">
                  <a:moveTo>
                    <a:pt x="0" y="0"/>
                  </a:moveTo>
                  <a:lnTo>
                    <a:pt x="758317" y="0"/>
                  </a:lnTo>
                  <a:lnTo>
                    <a:pt x="758317" y="758317"/>
                  </a:lnTo>
                  <a:lnTo>
                    <a:pt x="0" y="758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-5" b="-5"/>
              </a:stretch>
            </a:blipFill>
          </p:spPr>
        </p:sp>
      </p:grpSp>
      <p:sp>
        <p:nvSpPr>
          <p:cNvPr name="TextBox 165" id="165"/>
          <p:cNvSpPr txBox="true"/>
          <p:nvPr/>
        </p:nvSpPr>
        <p:spPr>
          <a:xfrm rot="0">
            <a:off x="17172346" y="3065412"/>
            <a:ext cx="678142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Landsat</a:t>
            </a:r>
          </a:p>
        </p:txBody>
      </p:sp>
      <p:sp>
        <p:nvSpPr>
          <p:cNvPr name="AutoShape 166" id="166"/>
          <p:cNvSpPr/>
          <p:nvPr/>
        </p:nvSpPr>
        <p:spPr>
          <a:xfrm rot="17280">
            <a:off x="15284682" y="3385957"/>
            <a:ext cx="2528421" cy="0"/>
          </a:xfrm>
          <a:prstGeom prst="line">
            <a:avLst/>
          </a:prstGeom>
          <a:ln cap="rnd" w="9525">
            <a:solidFill>
              <a:srgbClr val="E4EA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7" id="167"/>
          <p:cNvSpPr txBox="true"/>
          <p:nvPr/>
        </p:nvSpPr>
        <p:spPr>
          <a:xfrm rot="0">
            <a:off x="15269166" y="3449641"/>
            <a:ext cx="2625071" cy="1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Backend &amp; API</a:t>
            </a:r>
          </a:p>
        </p:txBody>
      </p:sp>
      <p:grpSp>
        <p:nvGrpSpPr>
          <p:cNvPr name="Group 168" id="168"/>
          <p:cNvGrpSpPr/>
          <p:nvPr/>
        </p:nvGrpSpPr>
        <p:grpSpPr>
          <a:xfrm rot="0">
            <a:off x="15444168" y="3740725"/>
            <a:ext cx="492204" cy="525018"/>
            <a:chOff x="0" y="0"/>
            <a:chExt cx="656272" cy="700024"/>
          </a:xfrm>
        </p:grpSpPr>
        <p:sp>
          <p:nvSpPr>
            <p:cNvPr name="Freeform 169" id="169" descr="ts_318_1412.png"/>
            <p:cNvSpPr/>
            <p:nvPr/>
          </p:nvSpPr>
          <p:spPr>
            <a:xfrm flipH="false" flipV="false" rot="0">
              <a:off x="0" y="0"/>
              <a:ext cx="656209" cy="700024"/>
            </a:xfrm>
            <a:custGeom>
              <a:avLst/>
              <a:gdLst/>
              <a:ahLst/>
              <a:cxnLst/>
              <a:rect r="r" b="b" t="t" l="l"/>
              <a:pathLst>
                <a:path h="700024" w="656209">
                  <a:moveTo>
                    <a:pt x="0" y="0"/>
                  </a:moveTo>
                  <a:lnTo>
                    <a:pt x="656209" y="0"/>
                  </a:lnTo>
                  <a:lnTo>
                    <a:pt x="656209" y="700024"/>
                  </a:lnTo>
                  <a:lnTo>
                    <a:pt x="0" y="700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-9" b="0"/>
              </a:stretch>
            </a:blipFill>
          </p:spPr>
        </p:sp>
      </p:grpSp>
      <p:sp>
        <p:nvSpPr>
          <p:cNvPr name="TextBox 170" id="170"/>
          <p:cNvSpPr txBox="true"/>
          <p:nvPr/>
        </p:nvSpPr>
        <p:spPr>
          <a:xfrm rot="0">
            <a:off x="15969186" y="3787302"/>
            <a:ext cx="678142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</a:p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(FastAPI)</a:t>
            </a:r>
          </a:p>
        </p:txBody>
      </p:sp>
      <p:grpSp>
        <p:nvGrpSpPr>
          <p:cNvPr name="Group 171" id="171"/>
          <p:cNvGrpSpPr/>
          <p:nvPr/>
        </p:nvGrpSpPr>
        <p:grpSpPr>
          <a:xfrm rot="0">
            <a:off x="16866089" y="3817287"/>
            <a:ext cx="393764" cy="393764"/>
            <a:chOff x="0" y="0"/>
            <a:chExt cx="525018" cy="525018"/>
          </a:xfrm>
        </p:grpSpPr>
        <p:sp>
          <p:nvSpPr>
            <p:cNvPr name="Freeform 172" id="172" descr="ts_318_1542.png"/>
            <p:cNvSpPr/>
            <p:nvPr/>
          </p:nvSpPr>
          <p:spPr>
            <a:xfrm flipH="false" flipV="false" rot="0">
              <a:off x="0" y="0"/>
              <a:ext cx="525018" cy="525018"/>
            </a:xfrm>
            <a:custGeom>
              <a:avLst/>
              <a:gdLst/>
              <a:ahLst/>
              <a:cxnLst/>
              <a:rect r="r" b="b" t="t" l="l"/>
              <a:pathLst>
                <a:path h="525018" w="525018">
                  <a:moveTo>
                    <a:pt x="0" y="0"/>
                  </a:moveTo>
                  <a:lnTo>
                    <a:pt x="525018" y="0"/>
                  </a:lnTo>
                  <a:lnTo>
                    <a:pt x="525018" y="525018"/>
                  </a:lnTo>
                  <a:lnTo>
                    <a:pt x="0" y="525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</p:grpSp>
      <p:sp>
        <p:nvSpPr>
          <p:cNvPr name="TextBox 173" id="173"/>
          <p:cNvSpPr txBox="true"/>
          <p:nvPr/>
        </p:nvSpPr>
        <p:spPr>
          <a:xfrm rot="0">
            <a:off x="17259843" y="3874808"/>
            <a:ext cx="568766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</a:p>
        </p:txBody>
      </p:sp>
      <p:sp>
        <p:nvSpPr>
          <p:cNvPr name="AutoShape 174" id="174"/>
          <p:cNvSpPr/>
          <p:nvPr/>
        </p:nvSpPr>
        <p:spPr>
          <a:xfrm rot="17280">
            <a:off x="15284682" y="4446918"/>
            <a:ext cx="2528421" cy="0"/>
          </a:xfrm>
          <a:prstGeom prst="line">
            <a:avLst/>
          </a:prstGeom>
          <a:ln cap="rnd" w="9525">
            <a:solidFill>
              <a:srgbClr val="E4EA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5" id="175"/>
          <p:cNvSpPr txBox="true"/>
          <p:nvPr/>
        </p:nvSpPr>
        <p:spPr>
          <a:xfrm rot="0">
            <a:off x="15269166" y="4510611"/>
            <a:ext cx="2625071" cy="1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 / ML &amp; Analytics</a:t>
            </a:r>
          </a:p>
        </p:txBody>
      </p:sp>
      <p:grpSp>
        <p:nvGrpSpPr>
          <p:cNvPr name="Group 176" id="176"/>
          <p:cNvGrpSpPr/>
          <p:nvPr/>
        </p:nvGrpSpPr>
        <p:grpSpPr>
          <a:xfrm rot="0">
            <a:off x="15455113" y="4812630"/>
            <a:ext cx="393764" cy="470325"/>
            <a:chOff x="0" y="0"/>
            <a:chExt cx="525018" cy="627101"/>
          </a:xfrm>
        </p:grpSpPr>
        <p:sp>
          <p:nvSpPr>
            <p:cNvPr name="Freeform 177" id="177" descr="ts_415_1413.png"/>
            <p:cNvSpPr/>
            <p:nvPr/>
          </p:nvSpPr>
          <p:spPr>
            <a:xfrm flipH="false" flipV="false" rot="0">
              <a:off x="0" y="0"/>
              <a:ext cx="525018" cy="627126"/>
            </a:xfrm>
            <a:custGeom>
              <a:avLst/>
              <a:gdLst/>
              <a:ahLst/>
              <a:cxnLst/>
              <a:rect r="r" b="b" t="t" l="l"/>
              <a:pathLst>
                <a:path h="627126" w="525018">
                  <a:moveTo>
                    <a:pt x="0" y="0"/>
                  </a:moveTo>
                  <a:lnTo>
                    <a:pt x="525018" y="0"/>
                  </a:lnTo>
                  <a:lnTo>
                    <a:pt x="525018" y="627126"/>
                  </a:lnTo>
                  <a:lnTo>
                    <a:pt x="0" y="627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4"/>
              </a:stretch>
            </a:blipFill>
          </p:spPr>
        </p:sp>
      </p:grpSp>
      <p:sp>
        <p:nvSpPr>
          <p:cNvPr name="TextBox 178" id="178"/>
          <p:cNvSpPr txBox="true"/>
          <p:nvPr/>
        </p:nvSpPr>
        <p:spPr>
          <a:xfrm rot="0">
            <a:off x="15859811" y="4902956"/>
            <a:ext cx="590645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</a:p>
        </p:txBody>
      </p:sp>
      <p:grpSp>
        <p:nvGrpSpPr>
          <p:cNvPr name="Group 179" id="179"/>
          <p:cNvGrpSpPr/>
          <p:nvPr/>
        </p:nvGrpSpPr>
        <p:grpSpPr>
          <a:xfrm rot="0">
            <a:off x="16669207" y="4747003"/>
            <a:ext cx="535953" cy="514074"/>
            <a:chOff x="0" y="0"/>
            <a:chExt cx="714604" cy="685432"/>
          </a:xfrm>
        </p:grpSpPr>
        <p:sp>
          <p:nvSpPr>
            <p:cNvPr name="Freeform 180" id="180" descr="ts_415_1524.png"/>
            <p:cNvSpPr/>
            <p:nvPr/>
          </p:nvSpPr>
          <p:spPr>
            <a:xfrm flipH="false" flipV="false" rot="0">
              <a:off x="0" y="0"/>
              <a:ext cx="714629" cy="685419"/>
            </a:xfrm>
            <a:custGeom>
              <a:avLst/>
              <a:gdLst/>
              <a:ahLst/>
              <a:cxnLst/>
              <a:rect r="r" b="b" t="t" l="l"/>
              <a:pathLst>
                <a:path h="685419" w="714629">
                  <a:moveTo>
                    <a:pt x="0" y="0"/>
                  </a:moveTo>
                  <a:lnTo>
                    <a:pt x="714629" y="0"/>
                  </a:lnTo>
                  <a:lnTo>
                    <a:pt x="714629" y="685419"/>
                  </a:lnTo>
                  <a:lnTo>
                    <a:pt x="0" y="685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3" b="-1"/>
              </a:stretch>
            </a:blipFill>
          </p:spPr>
        </p:sp>
      </p:grpSp>
      <p:sp>
        <p:nvSpPr>
          <p:cNvPr name="TextBox 181" id="181"/>
          <p:cNvSpPr txBox="true"/>
          <p:nvPr/>
        </p:nvSpPr>
        <p:spPr>
          <a:xfrm rot="0">
            <a:off x="17150467" y="4946714"/>
            <a:ext cx="831275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Hugging Face</a:t>
            </a:r>
          </a:p>
        </p:txBody>
      </p:sp>
      <p:sp>
        <p:nvSpPr>
          <p:cNvPr name="AutoShape 182" id="182"/>
          <p:cNvSpPr/>
          <p:nvPr/>
        </p:nvSpPr>
        <p:spPr>
          <a:xfrm rot="17280">
            <a:off x="15284682" y="5387569"/>
            <a:ext cx="2528421" cy="0"/>
          </a:xfrm>
          <a:prstGeom prst="line">
            <a:avLst/>
          </a:prstGeom>
          <a:ln cap="rnd" w="9525">
            <a:solidFill>
              <a:srgbClr val="E4EA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3" id="183"/>
          <p:cNvSpPr txBox="true"/>
          <p:nvPr/>
        </p:nvSpPr>
        <p:spPr>
          <a:xfrm rot="0">
            <a:off x="15269166" y="5473141"/>
            <a:ext cx="2625071" cy="1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Vector &amp; Geospatial DB</a:t>
            </a:r>
          </a:p>
        </p:txBody>
      </p:sp>
      <p:grpSp>
        <p:nvGrpSpPr>
          <p:cNvPr name="Group 184" id="184"/>
          <p:cNvGrpSpPr/>
          <p:nvPr/>
        </p:nvGrpSpPr>
        <p:grpSpPr>
          <a:xfrm rot="0">
            <a:off x="15269166" y="5687654"/>
            <a:ext cx="1159402" cy="525018"/>
            <a:chOff x="0" y="0"/>
            <a:chExt cx="1545869" cy="700024"/>
          </a:xfrm>
        </p:grpSpPr>
        <p:sp>
          <p:nvSpPr>
            <p:cNvPr name="Freeform 185" id="185" descr="ts_503_1396.png"/>
            <p:cNvSpPr/>
            <p:nvPr/>
          </p:nvSpPr>
          <p:spPr>
            <a:xfrm flipH="false" flipV="false" rot="0">
              <a:off x="0" y="0"/>
              <a:ext cx="1545844" cy="700024"/>
            </a:xfrm>
            <a:custGeom>
              <a:avLst/>
              <a:gdLst/>
              <a:ahLst/>
              <a:cxnLst/>
              <a:rect r="r" b="b" t="t" l="l"/>
              <a:pathLst>
                <a:path h="700024" w="1545844">
                  <a:moveTo>
                    <a:pt x="0" y="0"/>
                  </a:moveTo>
                  <a:lnTo>
                    <a:pt x="1545844" y="0"/>
                  </a:lnTo>
                  <a:lnTo>
                    <a:pt x="1545844" y="700024"/>
                  </a:lnTo>
                  <a:lnTo>
                    <a:pt x="0" y="700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0" t="0" r="-1" b="0"/>
              </a:stretch>
            </a:blipFill>
          </p:spPr>
        </p:sp>
      </p:grpSp>
      <p:sp>
        <p:nvSpPr>
          <p:cNvPr name="TextBox 186" id="186"/>
          <p:cNvSpPr txBox="true"/>
          <p:nvPr/>
        </p:nvSpPr>
        <p:spPr>
          <a:xfrm rot="0">
            <a:off x="15476982" y="6171743"/>
            <a:ext cx="984399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Qdrant</a:t>
            </a:r>
          </a:p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(Vector DB)</a:t>
            </a:r>
          </a:p>
        </p:txBody>
      </p:sp>
      <p:grpSp>
        <p:nvGrpSpPr>
          <p:cNvPr name="Group 187" id="187"/>
          <p:cNvGrpSpPr/>
          <p:nvPr/>
        </p:nvGrpSpPr>
        <p:grpSpPr>
          <a:xfrm rot="0">
            <a:off x="16822331" y="5687654"/>
            <a:ext cx="612515" cy="525018"/>
            <a:chOff x="0" y="0"/>
            <a:chExt cx="816686" cy="700024"/>
          </a:xfrm>
        </p:grpSpPr>
        <p:sp>
          <p:nvSpPr>
            <p:cNvPr name="Freeform 188" id="188" descr="ts_503_1538.png"/>
            <p:cNvSpPr/>
            <p:nvPr/>
          </p:nvSpPr>
          <p:spPr>
            <a:xfrm flipH="false" flipV="false" rot="0">
              <a:off x="0" y="0"/>
              <a:ext cx="816737" cy="700024"/>
            </a:xfrm>
            <a:custGeom>
              <a:avLst/>
              <a:gdLst/>
              <a:ahLst/>
              <a:cxnLst/>
              <a:rect r="r" b="b" t="t" l="l"/>
              <a:pathLst>
                <a:path h="700024" w="816737">
                  <a:moveTo>
                    <a:pt x="0" y="0"/>
                  </a:moveTo>
                  <a:lnTo>
                    <a:pt x="816737" y="0"/>
                  </a:lnTo>
                  <a:lnTo>
                    <a:pt x="816737" y="700024"/>
                  </a:lnTo>
                  <a:lnTo>
                    <a:pt x="0" y="700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6" b="0"/>
              </a:stretch>
            </a:blipFill>
          </p:spPr>
        </p:sp>
      </p:grpSp>
      <p:sp>
        <p:nvSpPr>
          <p:cNvPr name="TextBox 189" id="189"/>
          <p:cNvSpPr txBox="true"/>
          <p:nvPr/>
        </p:nvSpPr>
        <p:spPr>
          <a:xfrm rot="0">
            <a:off x="16811396" y="6171743"/>
            <a:ext cx="984399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PostGIS</a:t>
            </a:r>
          </a:p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(Spatial DB)</a:t>
            </a:r>
          </a:p>
        </p:txBody>
      </p:sp>
      <p:sp>
        <p:nvSpPr>
          <p:cNvPr name="AutoShape 190" id="190"/>
          <p:cNvSpPr/>
          <p:nvPr/>
        </p:nvSpPr>
        <p:spPr>
          <a:xfrm rot="17280">
            <a:off x="15284682" y="6667290"/>
            <a:ext cx="2528421" cy="0"/>
          </a:xfrm>
          <a:prstGeom prst="line">
            <a:avLst/>
          </a:prstGeom>
          <a:ln cap="rnd" w="9525">
            <a:solidFill>
              <a:srgbClr val="E4EA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1" id="191"/>
          <p:cNvSpPr txBox="true"/>
          <p:nvPr/>
        </p:nvSpPr>
        <p:spPr>
          <a:xfrm rot="0">
            <a:off x="15269166" y="6720049"/>
            <a:ext cx="2625071" cy="1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Visualization &amp; UI</a:t>
            </a:r>
          </a:p>
        </p:txBody>
      </p:sp>
      <p:grpSp>
        <p:nvGrpSpPr>
          <p:cNvPr name="Group 192" id="192"/>
          <p:cNvGrpSpPr/>
          <p:nvPr/>
        </p:nvGrpSpPr>
        <p:grpSpPr>
          <a:xfrm rot="0">
            <a:off x="15509796" y="7033003"/>
            <a:ext cx="404698" cy="557832"/>
            <a:chOff x="0" y="0"/>
            <a:chExt cx="539598" cy="743776"/>
          </a:xfrm>
        </p:grpSpPr>
        <p:sp>
          <p:nvSpPr>
            <p:cNvPr name="Freeform 193" id="193" descr="ts_617_1418.png"/>
            <p:cNvSpPr/>
            <p:nvPr/>
          </p:nvSpPr>
          <p:spPr>
            <a:xfrm flipH="false" flipV="false" rot="0">
              <a:off x="0" y="0"/>
              <a:ext cx="539623" cy="743712"/>
            </a:xfrm>
            <a:custGeom>
              <a:avLst/>
              <a:gdLst/>
              <a:ahLst/>
              <a:cxnLst/>
              <a:rect r="r" b="b" t="t" l="l"/>
              <a:pathLst>
                <a:path h="743712" w="539623">
                  <a:moveTo>
                    <a:pt x="0" y="0"/>
                  </a:moveTo>
                  <a:lnTo>
                    <a:pt x="539623" y="0"/>
                  </a:lnTo>
                  <a:lnTo>
                    <a:pt x="539623" y="743712"/>
                  </a:lnTo>
                  <a:lnTo>
                    <a:pt x="0" y="74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4" b="-8"/>
              </a:stretch>
            </a:blipFill>
          </p:spPr>
        </p:sp>
      </p:grpSp>
      <p:sp>
        <p:nvSpPr>
          <p:cNvPr name="TextBox 194" id="194"/>
          <p:cNvSpPr txBox="true"/>
          <p:nvPr/>
        </p:nvSpPr>
        <p:spPr>
          <a:xfrm rot="0">
            <a:off x="15881680" y="7134273"/>
            <a:ext cx="721890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MapLibre</a:t>
            </a:r>
          </a:p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(Maps)</a:t>
            </a:r>
          </a:p>
        </p:txBody>
      </p:sp>
      <p:grpSp>
        <p:nvGrpSpPr>
          <p:cNvPr name="Group 195" id="195"/>
          <p:cNvGrpSpPr/>
          <p:nvPr/>
        </p:nvGrpSpPr>
        <p:grpSpPr>
          <a:xfrm rot="0">
            <a:off x="16712956" y="7033003"/>
            <a:ext cx="579701" cy="557832"/>
            <a:chOff x="0" y="0"/>
            <a:chExt cx="772935" cy="743776"/>
          </a:xfrm>
        </p:grpSpPr>
        <p:sp>
          <p:nvSpPr>
            <p:cNvPr name="Freeform 196" id="196" descr="ts_617_1528.png"/>
            <p:cNvSpPr/>
            <p:nvPr/>
          </p:nvSpPr>
          <p:spPr>
            <a:xfrm flipH="false" flipV="false" rot="0">
              <a:off x="0" y="0"/>
              <a:ext cx="772922" cy="743712"/>
            </a:xfrm>
            <a:custGeom>
              <a:avLst/>
              <a:gdLst/>
              <a:ahLst/>
              <a:cxnLst/>
              <a:rect r="r" b="b" t="t" l="l"/>
              <a:pathLst>
                <a:path h="743712" w="772922">
                  <a:moveTo>
                    <a:pt x="0" y="0"/>
                  </a:moveTo>
                  <a:lnTo>
                    <a:pt x="772922" y="0"/>
                  </a:lnTo>
                  <a:lnTo>
                    <a:pt x="772922" y="743712"/>
                  </a:lnTo>
                  <a:lnTo>
                    <a:pt x="0" y="74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0" r="-1" b="-8"/>
              </a:stretch>
            </a:blipFill>
          </p:spPr>
        </p:sp>
      </p:grpSp>
      <p:sp>
        <p:nvSpPr>
          <p:cNvPr name="TextBox 197" id="197"/>
          <p:cNvSpPr txBox="true"/>
          <p:nvPr/>
        </p:nvSpPr>
        <p:spPr>
          <a:xfrm rot="0">
            <a:off x="17259843" y="7134273"/>
            <a:ext cx="656263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</a:p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(Frontend)</a:t>
            </a:r>
          </a:p>
        </p:txBody>
      </p:sp>
      <p:sp>
        <p:nvSpPr>
          <p:cNvPr name="AutoShape 198" id="198"/>
          <p:cNvSpPr/>
          <p:nvPr/>
        </p:nvSpPr>
        <p:spPr>
          <a:xfrm rot="17280">
            <a:off x="15284682" y="7750140"/>
            <a:ext cx="2528421" cy="0"/>
          </a:xfrm>
          <a:prstGeom prst="line">
            <a:avLst/>
          </a:prstGeom>
          <a:ln cap="rnd" w="9525">
            <a:solidFill>
              <a:srgbClr val="E4EAF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9" id="199"/>
          <p:cNvSpPr txBox="true"/>
          <p:nvPr/>
        </p:nvSpPr>
        <p:spPr>
          <a:xfrm rot="0">
            <a:off x="15269166" y="7879451"/>
            <a:ext cx="2625071" cy="198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5"/>
              </a:lnSpc>
            </a:pPr>
            <a:r>
              <a:rPr lang="en-US" sz="11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Deployment</a:t>
            </a:r>
          </a:p>
        </p:txBody>
      </p:sp>
      <p:grpSp>
        <p:nvGrpSpPr>
          <p:cNvPr name="Group 200" id="200"/>
          <p:cNvGrpSpPr/>
          <p:nvPr/>
        </p:nvGrpSpPr>
        <p:grpSpPr>
          <a:xfrm rot="0">
            <a:off x="15466047" y="8247097"/>
            <a:ext cx="678142" cy="437512"/>
            <a:chOff x="0" y="0"/>
            <a:chExt cx="904189" cy="583349"/>
          </a:xfrm>
        </p:grpSpPr>
        <p:sp>
          <p:nvSpPr>
            <p:cNvPr name="Freeform 201" id="201" descr="ts_723_1414.png"/>
            <p:cNvSpPr/>
            <p:nvPr/>
          </p:nvSpPr>
          <p:spPr>
            <a:xfrm flipH="false" flipV="false" rot="0">
              <a:off x="0" y="0"/>
              <a:ext cx="904240" cy="583311"/>
            </a:xfrm>
            <a:custGeom>
              <a:avLst/>
              <a:gdLst/>
              <a:ahLst/>
              <a:cxnLst/>
              <a:rect r="r" b="b" t="t" l="l"/>
              <a:pathLst>
                <a:path h="583311" w="904240">
                  <a:moveTo>
                    <a:pt x="0" y="0"/>
                  </a:moveTo>
                  <a:lnTo>
                    <a:pt x="904240" y="0"/>
                  </a:lnTo>
                  <a:lnTo>
                    <a:pt x="904240" y="583311"/>
                  </a:lnTo>
                  <a:lnTo>
                    <a:pt x="0" y="583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5" b="-6"/>
              </a:stretch>
            </a:blipFill>
          </p:spPr>
        </p:sp>
      </p:grpSp>
      <p:sp>
        <p:nvSpPr>
          <p:cNvPr name="TextBox 202" id="202"/>
          <p:cNvSpPr txBox="true"/>
          <p:nvPr/>
        </p:nvSpPr>
        <p:spPr>
          <a:xfrm rot="0">
            <a:off x="15444168" y="8796814"/>
            <a:ext cx="634394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</a:p>
        </p:txBody>
      </p:sp>
      <p:grpSp>
        <p:nvGrpSpPr>
          <p:cNvPr name="Group 203" id="203"/>
          <p:cNvGrpSpPr/>
          <p:nvPr/>
        </p:nvGrpSpPr>
        <p:grpSpPr>
          <a:xfrm rot="0">
            <a:off x="16559832" y="8159601"/>
            <a:ext cx="546887" cy="612515"/>
            <a:chOff x="0" y="0"/>
            <a:chExt cx="729183" cy="816686"/>
          </a:xfrm>
        </p:grpSpPr>
        <p:sp>
          <p:nvSpPr>
            <p:cNvPr name="Freeform 204" id="204" descr="ts_723_1514.png"/>
            <p:cNvSpPr/>
            <p:nvPr/>
          </p:nvSpPr>
          <p:spPr>
            <a:xfrm flipH="false" flipV="false" rot="0">
              <a:off x="0" y="0"/>
              <a:ext cx="729234" cy="816737"/>
            </a:xfrm>
            <a:custGeom>
              <a:avLst/>
              <a:gdLst/>
              <a:ahLst/>
              <a:cxnLst/>
              <a:rect r="r" b="b" t="t" l="l"/>
              <a:pathLst>
                <a:path h="816737" w="729234">
                  <a:moveTo>
                    <a:pt x="0" y="0"/>
                  </a:moveTo>
                  <a:lnTo>
                    <a:pt x="729234" y="0"/>
                  </a:lnTo>
                  <a:lnTo>
                    <a:pt x="729234" y="816737"/>
                  </a:lnTo>
                  <a:lnTo>
                    <a:pt x="0" y="816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6" b="6"/>
              </a:stretch>
            </a:blipFill>
          </p:spPr>
        </p:sp>
      </p:grpSp>
      <p:sp>
        <p:nvSpPr>
          <p:cNvPr name="TextBox 205" id="205"/>
          <p:cNvSpPr txBox="true"/>
          <p:nvPr/>
        </p:nvSpPr>
        <p:spPr>
          <a:xfrm rot="0">
            <a:off x="16406698" y="8796814"/>
            <a:ext cx="1400042" cy="412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</a:p>
          <a:p>
            <a:pPr algn="ctr">
              <a:lnSpc>
                <a:spcPts val="1391"/>
              </a:lnSpc>
            </a:pPr>
            <a:r>
              <a:rPr lang="en-US" sz="999">
                <a:solidFill>
                  <a:srgbClr val="242A38"/>
                </a:solidFill>
                <a:latin typeface="Arial"/>
                <a:ea typeface="Arial"/>
                <a:cs typeface="Arial"/>
                <a:sym typeface="Arial"/>
              </a:rPr>
              <a:t>(Offline/Air-gapped)</a:t>
            </a:r>
          </a:p>
        </p:txBody>
      </p:sp>
      <p:sp>
        <p:nvSpPr>
          <p:cNvPr name="TextBox 206" id="206"/>
          <p:cNvSpPr txBox="true"/>
          <p:nvPr/>
        </p:nvSpPr>
        <p:spPr>
          <a:xfrm rot="0">
            <a:off x="5468903" y="9794977"/>
            <a:ext cx="7350204" cy="32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7"/>
              </a:lnSpc>
            </a:pPr>
            <a:r>
              <a:rPr lang="en-US" sz="1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 Template</a:t>
            </a:r>
          </a:p>
        </p:txBody>
      </p:sp>
      <p:sp>
        <p:nvSpPr>
          <p:cNvPr name="TextBox 207" id="207"/>
          <p:cNvSpPr txBox="true"/>
          <p:nvPr/>
        </p:nvSpPr>
        <p:spPr>
          <a:xfrm rot="0">
            <a:off x="16844210" y="9794977"/>
            <a:ext cx="875024" cy="32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7"/>
              </a:lnSpc>
            </a:pPr>
            <a:r>
              <a:rPr lang="en-US" sz="1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208" id="208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-168" r="0" b="-167"/>
              </a:stretch>
            </a:blipFill>
          </p:spPr>
        </p:sp>
      </p:grpSp>
      <p:sp>
        <p:nvSpPr>
          <p:cNvPr name="TextBox 210" id="210"/>
          <p:cNvSpPr txBox="true"/>
          <p:nvPr/>
        </p:nvSpPr>
        <p:spPr>
          <a:xfrm rot="0">
            <a:off x="475488" y="438150"/>
            <a:ext cx="31089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 i="true" u="sng">
                <a:solidFill>
                  <a:srgbClr val="40404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HeisenBug</a:t>
            </a:r>
          </a:p>
        </p:txBody>
      </p:sp>
      <p:grpSp>
        <p:nvGrpSpPr>
          <p:cNvPr name="Group 211" id="211"/>
          <p:cNvGrpSpPr/>
          <p:nvPr/>
        </p:nvGrpSpPr>
        <p:grpSpPr>
          <a:xfrm rot="0">
            <a:off x="0" y="9647139"/>
            <a:ext cx="18288000" cy="645328"/>
            <a:chOff x="0" y="0"/>
            <a:chExt cx="24384000" cy="860438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24384000" cy="860425"/>
            </a:xfrm>
            <a:custGeom>
              <a:avLst/>
              <a:gdLst/>
              <a:ahLst/>
              <a:cxnLst/>
              <a:rect r="r" b="b" t="t" l="l"/>
              <a:pathLst>
                <a:path h="8604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0425"/>
                  </a:lnTo>
                  <a:lnTo>
                    <a:pt x="0" y="860425"/>
                  </a:lnTo>
                  <a:close/>
                </a:path>
              </a:pathLst>
            </a:custGeom>
            <a:solidFill>
              <a:srgbClr val="086FC5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0966" y="905375"/>
            <a:ext cx="4650410" cy="37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3E4C66"/>
                </a:solidFill>
                <a:latin typeface="Arial"/>
                <a:ea typeface="Arial"/>
                <a:cs typeface="Arial"/>
                <a:sym typeface="Arial"/>
              </a:rPr>
              <a:t>Satellite Intelligence for a Safer Tomorrow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25151" y="99612"/>
            <a:ext cx="7810738" cy="78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3"/>
              </a:lnSpc>
            </a:pPr>
            <a:r>
              <a:rPr lang="en-US" b="true" sz="4500">
                <a:solidFill>
                  <a:srgbClr val="011E31"/>
                </a:solidFill>
                <a:latin typeface="Arial Bold"/>
                <a:ea typeface="Arial Bold"/>
                <a:cs typeface="Arial Bold"/>
                <a:sym typeface="Arial Bold"/>
              </a:rPr>
              <a:t>FEASIBILITY AND VIABILITY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93140" y="720233"/>
            <a:ext cx="11863949" cy="33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Proven Approach. Practical Implementation. Real-World Ready.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09950" y="1399584"/>
            <a:ext cx="4349477" cy="5495858"/>
            <a:chOff x="0" y="0"/>
            <a:chExt cx="5799303" cy="7327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99328" cy="7327773"/>
            </a:xfrm>
            <a:custGeom>
              <a:avLst/>
              <a:gdLst/>
              <a:ahLst/>
              <a:cxnLst/>
              <a:rect r="r" b="b" t="t" l="l"/>
              <a:pathLst>
                <a:path h="7327773" w="5799328">
                  <a:moveTo>
                    <a:pt x="0" y="289941"/>
                  </a:moveTo>
                  <a:cubicBezTo>
                    <a:pt x="0" y="129794"/>
                    <a:pt x="129794" y="0"/>
                    <a:pt x="289941" y="0"/>
                  </a:cubicBezTo>
                  <a:lnTo>
                    <a:pt x="5509387" y="0"/>
                  </a:lnTo>
                  <a:cubicBezTo>
                    <a:pt x="5669534" y="0"/>
                    <a:pt x="5799328" y="129794"/>
                    <a:pt x="5799328" y="289941"/>
                  </a:cubicBezTo>
                  <a:lnTo>
                    <a:pt x="5799328" y="7037832"/>
                  </a:lnTo>
                  <a:cubicBezTo>
                    <a:pt x="5799328" y="7197978"/>
                    <a:pt x="5669534" y="7327773"/>
                    <a:pt x="5509387" y="7327773"/>
                  </a:cubicBezTo>
                  <a:lnTo>
                    <a:pt x="289941" y="7327773"/>
                  </a:lnTo>
                  <a:cubicBezTo>
                    <a:pt x="129794" y="7327773"/>
                    <a:pt x="0" y="7197979"/>
                    <a:pt x="0" y="703783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AF1F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00155" y="1524905"/>
            <a:ext cx="746227" cy="746227"/>
            <a:chOff x="0" y="0"/>
            <a:chExt cx="994969" cy="9949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4918" cy="994918"/>
            </a:xfrm>
            <a:custGeom>
              <a:avLst/>
              <a:gdLst/>
              <a:ahLst/>
              <a:cxnLst/>
              <a:rect r="r" b="b" t="t" l="l"/>
              <a:pathLst>
                <a:path h="994918" w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E6EFF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994969" cy="100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C4B9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3495" y="1511008"/>
            <a:ext cx="2793683" cy="3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Technological Feasibility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6748" y="1888246"/>
            <a:ext cx="3049800" cy="32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Built on proven technologies.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94817" y="2433352"/>
            <a:ext cx="227114" cy="194672"/>
            <a:chOff x="0" y="0"/>
            <a:chExt cx="302819" cy="259563"/>
          </a:xfrm>
        </p:grpSpPr>
        <p:sp>
          <p:nvSpPr>
            <p:cNvPr name="Freeform 13" id="13" descr="ck_0_226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6" b="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27414" y="2319547"/>
            <a:ext cx="343913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Uses well-established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7414" y="2579103"/>
            <a:ext cx="343913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AI/ML methods.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94817" y="2974096"/>
            <a:ext cx="227114" cy="194672"/>
            <a:chOff x="0" y="0"/>
            <a:chExt cx="302819" cy="259563"/>
          </a:xfrm>
        </p:grpSpPr>
        <p:sp>
          <p:nvSpPr>
            <p:cNvPr name="Freeform 17" id="17" descr="ck_0_276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6" b="9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7414" y="2860291"/>
            <a:ext cx="343913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Works with Sentinel-1,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7414" y="3119847"/>
            <a:ext cx="343913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Sentinel-2 and Landsat data.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94817" y="3525660"/>
            <a:ext cx="227114" cy="194672"/>
            <a:chOff x="0" y="0"/>
            <a:chExt cx="302819" cy="259563"/>
          </a:xfrm>
        </p:grpSpPr>
        <p:sp>
          <p:nvSpPr>
            <p:cNvPr name="Freeform 21" id="21" descr="ck_0_327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6" b="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7414" y="3411855"/>
            <a:ext cx="343913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Relies on open-source tools.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594817" y="3871732"/>
            <a:ext cx="227114" cy="194672"/>
            <a:chOff x="0" y="0"/>
            <a:chExt cx="302819" cy="259563"/>
          </a:xfrm>
        </p:grpSpPr>
        <p:sp>
          <p:nvSpPr>
            <p:cNvPr name="Freeform 24" id="24" descr="ck_0_359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6" b="9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27414" y="3757927"/>
            <a:ext cx="343913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Can be deployed offline.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270377" y="4509811"/>
            <a:ext cx="4239444" cy="2379278"/>
            <a:chOff x="0" y="0"/>
            <a:chExt cx="5652592" cy="3172371"/>
          </a:xfrm>
        </p:grpSpPr>
        <p:sp>
          <p:nvSpPr>
            <p:cNvPr name="Freeform 27" id="27" descr="photo0.png"/>
            <p:cNvSpPr/>
            <p:nvPr/>
          </p:nvSpPr>
          <p:spPr>
            <a:xfrm flipH="false" flipV="false" rot="0">
              <a:off x="0" y="0"/>
              <a:ext cx="5652643" cy="3172333"/>
            </a:xfrm>
            <a:custGeom>
              <a:avLst/>
              <a:gdLst/>
              <a:ahLst/>
              <a:cxnLst/>
              <a:rect r="r" b="b" t="t" l="l"/>
              <a:pathLst>
                <a:path h="3172333" w="5652643">
                  <a:moveTo>
                    <a:pt x="0" y="0"/>
                  </a:moveTo>
                  <a:lnTo>
                    <a:pt x="5652643" y="0"/>
                  </a:lnTo>
                  <a:lnTo>
                    <a:pt x="5652643" y="3172333"/>
                  </a:lnTo>
                  <a:lnTo>
                    <a:pt x="0" y="317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335261" y="5937380"/>
            <a:ext cx="4109666" cy="843563"/>
            <a:chOff x="0" y="0"/>
            <a:chExt cx="5479555" cy="1124750"/>
          </a:xfrm>
        </p:grpSpPr>
        <p:sp>
          <p:nvSpPr>
            <p:cNvPr name="Freeform 29" id="29" descr="scrim0.png"/>
            <p:cNvSpPr/>
            <p:nvPr/>
          </p:nvSpPr>
          <p:spPr>
            <a:xfrm flipH="false" flipV="false" rot="0">
              <a:off x="0" y="0"/>
              <a:ext cx="5479542" cy="1124712"/>
            </a:xfrm>
            <a:custGeom>
              <a:avLst/>
              <a:gdLst/>
              <a:ahLst/>
              <a:cxnLst/>
              <a:rect r="r" b="b" t="t" l="l"/>
              <a:pathLst>
                <a:path h="1124712" w="5479542">
                  <a:moveTo>
                    <a:pt x="0" y="0"/>
                  </a:moveTo>
                  <a:lnTo>
                    <a:pt x="5479542" y="0"/>
                  </a:lnTo>
                  <a:lnTo>
                    <a:pt x="5479542" y="1124712"/>
                  </a:lnTo>
                  <a:lnTo>
                    <a:pt x="0" y="1124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3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594817" y="6022115"/>
            <a:ext cx="3741953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Proven data. Proven methods.</a:t>
            </a:r>
          </a:p>
          <a:p>
            <a:pPr algn="l">
              <a:lnSpc>
                <a:spcPts val="2418"/>
              </a:lnSpc>
            </a:pPr>
            <a:r>
              <a:rPr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build.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665688" y="1399584"/>
            <a:ext cx="4392740" cy="5495858"/>
            <a:chOff x="0" y="0"/>
            <a:chExt cx="5856986" cy="73278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6986" cy="7327773"/>
            </a:xfrm>
            <a:custGeom>
              <a:avLst/>
              <a:gdLst/>
              <a:ahLst/>
              <a:cxnLst/>
              <a:rect r="r" b="b" t="t" l="l"/>
              <a:pathLst>
                <a:path h="7327773" w="5856986">
                  <a:moveTo>
                    <a:pt x="0" y="292862"/>
                  </a:moveTo>
                  <a:cubicBezTo>
                    <a:pt x="0" y="131064"/>
                    <a:pt x="131064" y="0"/>
                    <a:pt x="292862" y="0"/>
                  </a:cubicBezTo>
                  <a:lnTo>
                    <a:pt x="5564124" y="0"/>
                  </a:lnTo>
                  <a:cubicBezTo>
                    <a:pt x="5725922" y="0"/>
                    <a:pt x="5856986" y="131064"/>
                    <a:pt x="5856986" y="292862"/>
                  </a:cubicBezTo>
                  <a:lnTo>
                    <a:pt x="5856986" y="7034911"/>
                  </a:lnTo>
                  <a:cubicBezTo>
                    <a:pt x="5856986" y="7196709"/>
                    <a:pt x="5725922" y="7327773"/>
                    <a:pt x="5564124" y="7327773"/>
                  </a:cubicBezTo>
                  <a:lnTo>
                    <a:pt x="292862" y="7327773"/>
                  </a:lnTo>
                  <a:cubicBezTo>
                    <a:pt x="131064" y="7327773"/>
                    <a:pt x="0" y="7196709"/>
                    <a:pt x="0" y="703491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AF1F9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877524" y="1524905"/>
            <a:ext cx="746227" cy="746227"/>
            <a:chOff x="0" y="0"/>
            <a:chExt cx="994969" cy="99496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4918" cy="994918"/>
            </a:xfrm>
            <a:custGeom>
              <a:avLst/>
              <a:gdLst/>
              <a:ahLst/>
              <a:cxnLst/>
              <a:rect r="r" b="b" t="t" l="l"/>
              <a:pathLst>
                <a:path h="994918" w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E6EFF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94969" cy="100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C4B9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894118" y="1511008"/>
            <a:ext cx="2519601" cy="3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Operational Feasibility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04938" y="1888246"/>
            <a:ext cx="3060621" cy="32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Designed for real-world use.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061375" y="2433352"/>
            <a:ext cx="227114" cy="194672"/>
            <a:chOff x="0" y="0"/>
            <a:chExt cx="302819" cy="259563"/>
          </a:xfrm>
        </p:grpSpPr>
        <p:sp>
          <p:nvSpPr>
            <p:cNvPr name="Freeform 39" id="39" descr="ck_1_226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6" b="9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5515604" y="2319547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New satellite data can be added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515604" y="2579103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easily over time.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5061375" y="2952464"/>
            <a:ext cx="227114" cy="194672"/>
            <a:chOff x="0" y="0"/>
            <a:chExt cx="302819" cy="259563"/>
          </a:xfrm>
        </p:grpSpPr>
        <p:sp>
          <p:nvSpPr>
            <p:cNvPr name="Freeform 43" id="43" descr="ck_1_27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6" b="9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5515604" y="2838660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Handles cloud/haze and missing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15604" y="3098225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data.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061375" y="3493218"/>
            <a:ext cx="227114" cy="194672"/>
            <a:chOff x="0" y="0"/>
            <a:chExt cx="302819" cy="259563"/>
          </a:xfrm>
        </p:grpSpPr>
        <p:sp>
          <p:nvSpPr>
            <p:cNvPr name="Freeform 47" id="47" descr="ck_1_32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6" b="9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5515604" y="3379413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Human-in-the-loop validation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15604" y="3638969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ensures reliable results.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061375" y="4012330"/>
            <a:ext cx="227114" cy="194672"/>
            <a:chOff x="0" y="0"/>
            <a:chExt cx="302819" cy="259563"/>
          </a:xfrm>
        </p:grpSpPr>
        <p:sp>
          <p:nvSpPr>
            <p:cNvPr name="Freeform 51" id="51" descr="ck_1_372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6" b="9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5515604" y="3898525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Simple and intuitive interface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15604" y="4158082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for analysts.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4726114" y="4509811"/>
            <a:ext cx="4239444" cy="2379278"/>
            <a:chOff x="0" y="0"/>
            <a:chExt cx="5652592" cy="3172371"/>
          </a:xfrm>
        </p:grpSpPr>
        <p:sp>
          <p:nvSpPr>
            <p:cNvPr name="Freeform 55" id="55" descr="photo1.png"/>
            <p:cNvSpPr/>
            <p:nvPr/>
          </p:nvSpPr>
          <p:spPr>
            <a:xfrm flipH="false" flipV="false" rot="0">
              <a:off x="0" y="0"/>
              <a:ext cx="5652643" cy="3172333"/>
            </a:xfrm>
            <a:custGeom>
              <a:avLst/>
              <a:gdLst/>
              <a:ahLst/>
              <a:cxnLst/>
              <a:rect r="r" b="b" t="t" l="l"/>
              <a:pathLst>
                <a:path h="3172333" w="5652643">
                  <a:moveTo>
                    <a:pt x="0" y="0"/>
                  </a:moveTo>
                  <a:lnTo>
                    <a:pt x="5652643" y="0"/>
                  </a:lnTo>
                  <a:lnTo>
                    <a:pt x="5652643" y="3172333"/>
                  </a:lnTo>
                  <a:lnTo>
                    <a:pt x="0" y="317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1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790999" y="5937380"/>
            <a:ext cx="4109666" cy="843563"/>
            <a:chOff x="0" y="0"/>
            <a:chExt cx="5479555" cy="1124750"/>
          </a:xfrm>
        </p:grpSpPr>
        <p:sp>
          <p:nvSpPr>
            <p:cNvPr name="Freeform 57" id="57" descr="scrim1.png"/>
            <p:cNvSpPr/>
            <p:nvPr/>
          </p:nvSpPr>
          <p:spPr>
            <a:xfrm flipH="false" flipV="false" rot="0">
              <a:off x="0" y="0"/>
              <a:ext cx="5479542" cy="1124712"/>
            </a:xfrm>
            <a:custGeom>
              <a:avLst/>
              <a:gdLst/>
              <a:ahLst/>
              <a:cxnLst/>
              <a:rect r="r" b="b" t="t" l="l"/>
              <a:pathLst>
                <a:path h="1124712" w="5479542">
                  <a:moveTo>
                    <a:pt x="0" y="0"/>
                  </a:moveTo>
                  <a:lnTo>
                    <a:pt x="5479542" y="0"/>
                  </a:lnTo>
                  <a:lnTo>
                    <a:pt x="5479542" y="1124712"/>
                  </a:lnTo>
                  <a:lnTo>
                    <a:pt x="0" y="1124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3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5018113" y="6022115"/>
            <a:ext cx="3774396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 to use.</a:t>
            </a:r>
          </a:p>
          <a:p>
            <a:pPr algn="l">
              <a:lnSpc>
                <a:spcPts val="2418"/>
              </a:lnSpc>
            </a:pPr>
            <a:r>
              <a:rPr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for analysts.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164688" y="1399584"/>
            <a:ext cx="4425182" cy="5495858"/>
            <a:chOff x="0" y="0"/>
            <a:chExt cx="5900242" cy="732781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900293" cy="7327773"/>
            </a:xfrm>
            <a:custGeom>
              <a:avLst/>
              <a:gdLst/>
              <a:ahLst/>
              <a:cxnLst/>
              <a:rect r="r" b="b" t="t" l="l"/>
              <a:pathLst>
                <a:path h="7327773" w="5900293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5605272" y="0"/>
                  </a:lnTo>
                  <a:cubicBezTo>
                    <a:pt x="5768213" y="0"/>
                    <a:pt x="5900293" y="132080"/>
                    <a:pt x="5900293" y="295021"/>
                  </a:cubicBezTo>
                  <a:lnTo>
                    <a:pt x="5900293" y="7032752"/>
                  </a:lnTo>
                  <a:cubicBezTo>
                    <a:pt x="5900293" y="7195693"/>
                    <a:pt x="5768213" y="7327773"/>
                    <a:pt x="5605272" y="7327773"/>
                  </a:cubicBezTo>
                  <a:lnTo>
                    <a:pt x="295021" y="7327773"/>
                  </a:lnTo>
                  <a:cubicBezTo>
                    <a:pt x="132080" y="7327773"/>
                    <a:pt x="0" y="7195693"/>
                    <a:pt x="0" y="703275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AF1F9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9365704" y="1524905"/>
            <a:ext cx="746227" cy="746227"/>
            <a:chOff x="0" y="0"/>
            <a:chExt cx="994969" cy="99496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94918" cy="994918"/>
            </a:xfrm>
            <a:custGeom>
              <a:avLst/>
              <a:gdLst/>
              <a:ahLst/>
              <a:cxnLst/>
              <a:rect r="r" b="b" t="t" l="l"/>
              <a:pathLst>
                <a:path h="994918" w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E6EFFA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994969" cy="100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C4B9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393118" y="1511008"/>
            <a:ext cx="2088833" cy="3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Economic Viability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93118" y="1888246"/>
            <a:ext cx="3103874" cy="32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High value at low cost.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690154" y="2530688"/>
            <a:ext cx="227114" cy="194672"/>
            <a:chOff x="0" y="0"/>
            <a:chExt cx="302819" cy="259563"/>
          </a:xfrm>
        </p:grpSpPr>
        <p:sp>
          <p:nvSpPr>
            <p:cNvPr name="Freeform 67" id="67" descr="ck_2_235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16" b="9"/>
              </a:stretch>
            </a:blipFill>
          </p:spPr>
        </p:sp>
      </p:grpSp>
      <p:sp>
        <p:nvSpPr>
          <p:cNvPr name="TextBox 68" id="68"/>
          <p:cNvSpPr txBox="true"/>
          <p:nvPr/>
        </p:nvSpPr>
        <p:spPr>
          <a:xfrm rot="0">
            <a:off x="10155193" y="2416883"/>
            <a:ext cx="3341808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Uses free and open satellite data.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690154" y="2920022"/>
            <a:ext cx="227114" cy="194672"/>
            <a:chOff x="0" y="0"/>
            <a:chExt cx="302819" cy="259563"/>
          </a:xfrm>
        </p:grpSpPr>
        <p:sp>
          <p:nvSpPr>
            <p:cNvPr name="Freeform 70" id="70" descr="ck_2_271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16" b="9"/>
              </a:stretch>
            </a:blip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0155193" y="2806217"/>
            <a:ext cx="3341808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No cloud costs (fully offline).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690154" y="3309356"/>
            <a:ext cx="227114" cy="194672"/>
            <a:chOff x="0" y="0"/>
            <a:chExt cx="302819" cy="259563"/>
          </a:xfrm>
        </p:grpSpPr>
        <p:sp>
          <p:nvSpPr>
            <p:cNvPr name="Freeform 73" id="73" descr="ck_2_307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6" b="9"/>
              </a:stretch>
            </a:blip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0155193" y="3195552"/>
            <a:ext cx="3341808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Runs on standard GPU hardware.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690154" y="3698700"/>
            <a:ext cx="227114" cy="194672"/>
            <a:chOff x="0" y="0"/>
            <a:chExt cx="302819" cy="259563"/>
          </a:xfrm>
        </p:grpSpPr>
        <p:sp>
          <p:nvSpPr>
            <p:cNvPr name="Freeform 76" id="76" descr="ck_2_343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16" b="9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0155193" y="3584896"/>
            <a:ext cx="3341808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Cost-effective compared to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155193" y="3844452"/>
            <a:ext cx="3341808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commercial solutions.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9225115" y="4509811"/>
            <a:ext cx="4239444" cy="2379278"/>
            <a:chOff x="0" y="0"/>
            <a:chExt cx="5652592" cy="3172371"/>
          </a:xfrm>
        </p:grpSpPr>
        <p:sp>
          <p:nvSpPr>
            <p:cNvPr name="Freeform 80" id="80" descr="photo2.png"/>
            <p:cNvSpPr/>
            <p:nvPr/>
          </p:nvSpPr>
          <p:spPr>
            <a:xfrm flipH="false" flipV="false" rot="0">
              <a:off x="0" y="0"/>
              <a:ext cx="5652643" cy="3172333"/>
            </a:xfrm>
            <a:custGeom>
              <a:avLst/>
              <a:gdLst/>
              <a:ahLst/>
              <a:cxnLst/>
              <a:rect r="r" b="b" t="t" l="l"/>
              <a:pathLst>
                <a:path h="3172333" w="5652643">
                  <a:moveTo>
                    <a:pt x="0" y="0"/>
                  </a:moveTo>
                  <a:lnTo>
                    <a:pt x="5652643" y="0"/>
                  </a:lnTo>
                  <a:lnTo>
                    <a:pt x="5652643" y="3172333"/>
                  </a:lnTo>
                  <a:lnTo>
                    <a:pt x="0" y="317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-1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3706942" y="1399584"/>
            <a:ext cx="4371108" cy="5495858"/>
            <a:chOff x="0" y="0"/>
            <a:chExt cx="5828144" cy="7327811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28157" cy="7327900"/>
            </a:xfrm>
            <a:custGeom>
              <a:avLst/>
              <a:gdLst/>
              <a:ahLst/>
              <a:cxnLst/>
              <a:rect r="r" b="b" t="t" l="l"/>
              <a:pathLst>
                <a:path h="7327900" w="5828157">
                  <a:moveTo>
                    <a:pt x="0" y="291465"/>
                  </a:moveTo>
                  <a:cubicBezTo>
                    <a:pt x="0" y="130429"/>
                    <a:pt x="130429" y="0"/>
                    <a:pt x="291465" y="0"/>
                  </a:cubicBezTo>
                  <a:lnTo>
                    <a:pt x="5536692" y="0"/>
                  </a:lnTo>
                  <a:cubicBezTo>
                    <a:pt x="5697601" y="0"/>
                    <a:pt x="5828157" y="130429"/>
                    <a:pt x="5828157" y="291465"/>
                  </a:cubicBezTo>
                  <a:lnTo>
                    <a:pt x="5828157" y="7036435"/>
                  </a:lnTo>
                  <a:cubicBezTo>
                    <a:pt x="5828157" y="7197344"/>
                    <a:pt x="5697728" y="7327900"/>
                    <a:pt x="5536692" y="7327900"/>
                  </a:cubicBezTo>
                  <a:lnTo>
                    <a:pt x="291465" y="7327900"/>
                  </a:lnTo>
                  <a:cubicBezTo>
                    <a:pt x="130429" y="7327773"/>
                    <a:pt x="0" y="7197344"/>
                    <a:pt x="0" y="7036435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AF1F9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3897146" y="1524905"/>
            <a:ext cx="746227" cy="746227"/>
            <a:chOff x="0" y="0"/>
            <a:chExt cx="994969" cy="99496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94918" cy="994918"/>
            </a:xfrm>
            <a:custGeom>
              <a:avLst/>
              <a:gdLst/>
              <a:ahLst/>
              <a:cxnLst/>
              <a:rect r="r" b="b" t="t" l="l"/>
              <a:pathLst>
                <a:path h="994918" w="994918">
                  <a:moveTo>
                    <a:pt x="0" y="497459"/>
                  </a:moveTo>
                  <a:cubicBezTo>
                    <a:pt x="0" y="222758"/>
                    <a:pt x="222758" y="0"/>
                    <a:pt x="497459" y="0"/>
                  </a:cubicBezTo>
                  <a:cubicBezTo>
                    <a:pt x="772160" y="0"/>
                    <a:pt x="994918" y="222758"/>
                    <a:pt x="994918" y="497459"/>
                  </a:cubicBezTo>
                  <a:cubicBezTo>
                    <a:pt x="994918" y="772160"/>
                    <a:pt x="772287" y="994918"/>
                    <a:pt x="497459" y="994918"/>
                  </a:cubicBezTo>
                  <a:cubicBezTo>
                    <a:pt x="222631" y="994918"/>
                    <a:pt x="0" y="772287"/>
                    <a:pt x="0" y="497459"/>
                  </a:cubicBezTo>
                  <a:close/>
                </a:path>
              </a:pathLst>
            </a:custGeom>
            <a:solidFill>
              <a:srgbClr val="E6EFFA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994969" cy="10044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C4B9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4892118" y="1511008"/>
            <a:ext cx="1162169" cy="33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8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Scalability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913750" y="1888246"/>
            <a:ext cx="3071431" cy="32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Ready to grow with future needs.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4080998" y="2433352"/>
            <a:ext cx="227114" cy="194672"/>
            <a:chOff x="0" y="0"/>
            <a:chExt cx="302819" cy="259563"/>
          </a:xfrm>
        </p:grpSpPr>
        <p:sp>
          <p:nvSpPr>
            <p:cNvPr name="Freeform 89" id="89" descr="ck_3_226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-16" b="9"/>
              </a:stretch>
            </a:blipFill>
          </p:spPr>
        </p:sp>
      </p:grpSp>
      <p:sp>
        <p:nvSpPr>
          <p:cNvPr name="TextBox 90" id="90"/>
          <p:cNvSpPr txBox="true"/>
          <p:nvPr/>
        </p:nvSpPr>
        <p:spPr>
          <a:xfrm rot="0">
            <a:off x="14535226" y="2319547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Can handle large and growing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535226" y="2579103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satellite archives.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4080998" y="2963285"/>
            <a:ext cx="227114" cy="194672"/>
            <a:chOff x="0" y="0"/>
            <a:chExt cx="302819" cy="259563"/>
          </a:xfrm>
        </p:grpSpPr>
        <p:sp>
          <p:nvSpPr>
            <p:cNvPr name="Freeform 93" id="93" descr="ck_3_275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-16" b="9"/>
              </a:stretch>
            </a:blipFill>
          </p:spPr>
        </p:sp>
      </p:grpSp>
      <p:sp>
        <p:nvSpPr>
          <p:cNvPr name="TextBox 94" id="94"/>
          <p:cNvSpPr txBox="true"/>
          <p:nvPr/>
        </p:nvSpPr>
        <p:spPr>
          <a:xfrm rot="0">
            <a:off x="14535226" y="2849480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Works for small areas or large regions.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4080998" y="3330988"/>
            <a:ext cx="227114" cy="194672"/>
            <a:chOff x="0" y="0"/>
            <a:chExt cx="302819" cy="259563"/>
          </a:xfrm>
        </p:grpSpPr>
        <p:sp>
          <p:nvSpPr>
            <p:cNvPr name="Freeform 96" id="96" descr="ck_3_309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-16" b="9"/>
              </a:stretch>
            </a:blip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4535226" y="3217183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New sensors and models can be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4535226" y="3476739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added easily.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14080998" y="3893363"/>
            <a:ext cx="227114" cy="194672"/>
            <a:chOff x="0" y="0"/>
            <a:chExt cx="302819" cy="259563"/>
          </a:xfrm>
        </p:grpSpPr>
        <p:sp>
          <p:nvSpPr>
            <p:cNvPr name="Freeform 100" id="100" descr="ck_3_361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-16" b="9"/>
              </a:stretch>
            </a:blipFill>
          </p:spPr>
        </p:sp>
      </p:grpSp>
      <p:sp>
        <p:nvSpPr>
          <p:cNvPr name="TextBox 101" id="101"/>
          <p:cNvSpPr txBox="true"/>
          <p:nvPr/>
        </p:nvSpPr>
        <p:spPr>
          <a:xfrm rot="0">
            <a:off x="14535226" y="3779558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Designed for multi-year,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535226" y="4039114"/>
            <a:ext cx="3449955" cy="31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multi-terabyte data.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3767368" y="4509811"/>
            <a:ext cx="4239444" cy="2379278"/>
            <a:chOff x="0" y="0"/>
            <a:chExt cx="5652592" cy="3172371"/>
          </a:xfrm>
        </p:grpSpPr>
        <p:sp>
          <p:nvSpPr>
            <p:cNvPr name="Freeform 104" id="104" descr="photo3.png"/>
            <p:cNvSpPr/>
            <p:nvPr/>
          </p:nvSpPr>
          <p:spPr>
            <a:xfrm flipH="false" flipV="false" rot="0">
              <a:off x="0" y="0"/>
              <a:ext cx="5652643" cy="3172333"/>
            </a:xfrm>
            <a:custGeom>
              <a:avLst/>
              <a:gdLst/>
              <a:ahLst/>
              <a:cxnLst/>
              <a:rect r="r" b="b" t="t" l="l"/>
              <a:pathLst>
                <a:path h="3172333" w="5652643">
                  <a:moveTo>
                    <a:pt x="0" y="0"/>
                  </a:moveTo>
                  <a:lnTo>
                    <a:pt x="5652643" y="0"/>
                  </a:lnTo>
                  <a:lnTo>
                    <a:pt x="5652643" y="3172333"/>
                  </a:lnTo>
                  <a:lnTo>
                    <a:pt x="0" y="317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-1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832262" y="5937380"/>
            <a:ext cx="2595572" cy="843563"/>
            <a:chOff x="0" y="0"/>
            <a:chExt cx="3460763" cy="1124750"/>
          </a:xfrm>
        </p:grpSpPr>
        <p:sp>
          <p:nvSpPr>
            <p:cNvPr name="Freeform 106" id="106" descr="scrim3.png"/>
            <p:cNvSpPr/>
            <p:nvPr/>
          </p:nvSpPr>
          <p:spPr>
            <a:xfrm flipH="false" flipV="false" rot="0">
              <a:off x="0" y="0"/>
              <a:ext cx="3460750" cy="1124712"/>
            </a:xfrm>
            <a:custGeom>
              <a:avLst/>
              <a:gdLst/>
              <a:ahLst/>
              <a:cxnLst/>
              <a:rect r="r" b="b" t="t" l="l"/>
              <a:pathLst>
                <a:path h="1124712" w="3460750">
                  <a:moveTo>
                    <a:pt x="0" y="0"/>
                  </a:moveTo>
                  <a:lnTo>
                    <a:pt x="3460750" y="0"/>
                  </a:lnTo>
                  <a:lnTo>
                    <a:pt x="3460750" y="1124712"/>
                  </a:lnTo>
                  <a:lnTo>
                    <a:pt x="0" y="1124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-3"/>
              </a:stretch>
            </a:blipFill>
          </p:spPr>
        </p:sp>
      </p:grpSp>
      <p:sp>
        <p:nvSpPr>
          <p:cNvPr name="TextBox 107" id="107"/>
          <p:cNvSpPr txBox="true"/>
          <p:nvPr/>
        </p:nvSpPr>
        <p:spPr>
          <a:xfrm rot="0">
            <a:off x="14016114" y="6022115"/>
            <a:ext cx="2303574" cy="71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8"/>
              </a:lnSpc>
            </a:pPr>
            <a:r>
              <a:rPr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local pilots</a:t>
            </a:r>
          </a:p>
          <a:p>
            <a:pPr algn="l">
              <a:lnSpc>
                <a:spcPts val="2418"/>
              </a:lnSpc>
            </a:pPr>
            <a:r>
              <a:rPr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nationwide coverage.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1571942" y="4726114"/>
            <a:ext cx="1892608" cy="1600610"/>
            <a:chOff x="0" y="0"/>
            <a:chExt cx="2523477" cy="213414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523490" cy="2134108"/>
            </a:xfrm>
            <a:custGeom>
              <a:avLst/>
              <a:gdLst/>
              <a:ahLst/>
              <a:cxnLst/>
              <a:rect r="r" b="b" t="t" l="l"/>
              <a:pathLst>
                <a:path h="2134108" w="2523490">
                  <a:moveTo>
                    <a:pt x="0" y="192024"/>
                  </a:moveTo>
                  <a:cubicBezTo>
                    <a:pt x="0" y="85979"/>
                    <a:pt x="85979" y="0"/>
                    <a:pt x="192024" y="0"/>
                  </a:cubicBezTo>
                  <a:lnTo>
                    <a:pt x="2331466" y="0"/>
                  </a:lnTo>
                  <a:cubicBezTo>
                    <a:pt x="2437511" y="0"/>
                    <a:pt x="2523490" y="85979"/>
                    <a:pt x="2523490" y="192024"/>
                  </a:cubicBezTo>
                  <a:lnTo>
                    <a:pt x="2523490" y="1942084"/>
                  </a:lnTo>
                  <a:cubicBezTo>
                    <a:pt x="2523490" y="2048129"/>
                    <a:pt x="2437511" y="2134108"/>
                    <a:pt x="2331466" y="2134108"/>
                  </a:cubicBezTo>
                  <a:lnTo>
                    <a:pt x="192024" y="2134108"/>
                  </a:lnTo>
                  <a:cubicBezTo>
                    <a:pt x="85979" y="2134108"/>
                    <a:pt x="0" y="2048129"/>
                    <a:pt x="0" y="1942084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sp>
        <p:nvSpPr>
          <p:cNvPr name="TextBox 110" id="110"/>
          <p:cNvSpPr txBox="true"/>
          <p:nvPr/>
        </p:nvSpPr>
        <p:spPr>
          <a:xfrm rot="0">
            <a:off x="11571942" y="4796161"/>
            <a:ext cx="1892608" cy="15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5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Open Data</a:t>
            </a:r>
          </a:p>
          <a:p>
            <a:pPr algn="ctr">
              <a:lnSpc>
                <a:spcPts val="2052"/>
              </a:lnSpc>
            </a:pPr>
            <a:r>
              <a:rPr lang="en-US" sz="15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+</a:t>
            </a:r>
          </a:p>
          <a:p>
            <a:pPr algn="ctr">
              <a:lnSpc>
                <a:spcPts val="2052"/>
              </a:lnSpc>
            </a:pPr>
            <a:r>
              <a:rPr lang="en-US" sz="15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Offline Deployment</a:t>
            </a:r>
          </a:p>
          <a:p>
            <a:pPr algn="ctr">
              <a:lnSpc>
                <a:spcPts val="2052"/>
              </a:lnSpc>
            </a:pPr>
            <a:r>
              <a:rPr lang="en-US" sz="15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=</a:t>
            </a:r>
          </a:p>
          <a:p>
            <a:pPr algn="ctr">
              <a:lnSpc>
                <a:spcPts val="2052"/>
              </a:lnSpc>
            </a:pPr>
            <a:r>
              <a:rPr lang="en-US" sz="15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Lower Cost</a:t>
            </a:r>
          </a:p>
          <a:p>
            <a:pPr algn="ctr">
              <a:lnSpc>
                <a:spcPts val="2052"/>
              </a:lnSpc>
            </a:pPr>
            <a:r>
              <a:rPr lang="en-US" sz="15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Higher Control</a:t>
            </a:r>
          </a:p>
        </p:txBody>
      </p:sp>
      <p:grpSp>
        <p:nvGrpSpPr>
          <p:cNvPr name="Group 111" id="111"/>
          <p:cNvGrpSpPr/>
          <p:nvPr/>
        </p:nvGrpSpPr>
        <p:grpSpPr>
          <a:xfrm rot="0">
            <a:off x="16644137" y="5483152"/>
            <a:ext cx="1384306" cy="1297791"/>
            <a:chOff x="0" y="0"/>
            <a:chExt cx="1845742" cy="1730388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845691" cy="1730375"/>
            </a:xfrm>
            <a:custGeom>
              <a:avLst/>
              <a:gdLst/>
              <a:ahLst/>
              <a:cxnLst/>
              <a:rect r="r" b="b" t="t" l="l"/>
              <a:pathLst>
                <a:path h="1730375" w="1845691">
                  <a:moveTo>
                    <a:pt x="0" y="207645"/>
                  </a:moveTo>
                  <a:cubicBezTo>
                    <a:pt x="0" y="92964"/>
                    <a:pt x="92964" y="0"/>
                    <a:pt x="207645" y="0"/>
                  </a:cubicBezTo>
                  <a:lnTo>
                    <a:pt x="1638046" y="0"/>
                  </a:lnTo>
                  <a:cubicBezTo>
                    <a:pt x="1752727" y="0"/>
                    <a:pt x="1845691" y="92964"/>
                    <a:pt x="1845691" y="207645"/>
                  </a:cubicBezTo>
                  <a:lnTo>
                    <a:pt x="1845691" y="1522730"/>
                  </a:lnTo>
                  <a:cubicBezTo>
                    <a:pt x="1845691" y="1637411"/>
                    <a:pt x="1752727" y="1730375"/>
                    <a:pt x="1638046" y="1730375"/>
                  </a:cubicBezTo>
                  <a:lnTo>
                    <a:pt x="207645" y="1730375"/>
                  </a:lnTo>
                  <a:cubicBezTo>
                    <a:pt x="92964" y="1730375"/>
                    <a:pt x="0" y="1637411"/>
                    <a:pt x="0" y="1522730"/>
                  </a:cubicBezTo>
                  <a:close/>
                </a:path>
              </a:pathLst>
            </a:custGeom>
            <a:solidFill>
              <a:srgbClr val="0B111C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6698211" y="5634561"/>
            <a:ext cx="216294" cy="259556"/>
            <a:chOff x="0" y="0"/>
            <a:chExt cx="288392" cy="346075"/>
          </a:xfrm>
        </p:grpSpPr>
        <p:sp>
          <p:nvSpPr>
            <p:cNvPr name="Freeform 114" id="114" descr="pin0.png"/>
            <p:cNvSpPr/>
            <p:nvPr/>
          </p:nvSpPr>
          <p:spPr>
            <a:xfrm flipH="false" flipV="false" rot="0">
              <a:off x="0" y="0"/>
              <a:ext cx="288417" cy="346075"/>
            </a:xfrm>
            <a:custGeom>
              <a:avLst/>
              <a:gdLst/>
              <a:ahLst/>
              <a:cxnLst/>
              <a:rect r="r" b="b" t="t" l="l"/>
              <a:pathLst>
                <a:path h="346075" w="288417">
                  <a:moveTo>
                    <a:pt x="0" y="0"/>
                  </a:moveTo>
                  <a:lnTo>
                    <a:pt x="288417" y="0"/>
                  </a:lnTo>
                  <a:lnTo>
                    <a:pt x="288417" y="346075"/>
                  </a:lnTo>
                  <a:lnTo>
                    <a:pt x="0" y="346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8" b="0"/>
              </a:stretch>
            </a:blipFill>
          </p:spPr>
        </p:sp>
      </p:grpSp>
      <p:sp>
        <p:nvSpPr>
          <p:cNvPr name="TextBox 115" id="115"/>
          <p:cNvSpPr txBox="true"/>
          <p:nvPr/>
        </p:nvSpPr>
        <p:spPr>
          <a:xfrm rot="0">
            <a:off x="16990209" y="5650535"/>
            <a:ext cx="1027414" cy="27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1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</a:p>
        </p:txBody>
      </p:sp>
      <p:grpSp>
        <p:nvGrpSpPr>
          <p:cNvPr name="Group 116" id="116"/>
          <p:cNvGrpSpPr/>
          <p:nvPr/>
        </p:nvGrpSpPr>
        <p:grpSpPr>
          <a:xfrm rot="0">
            <a:off x="16698211" y="6013085"/>
            <a:ext cx="216294" cy="259556"/>
            <a:chOff x="0" y="0"/>
            <a:chExt cx="288392" cy="346075"/>
          </a:xfrm>
        </p:grpSpPr>
        <p:sp>
          <p:nvSpPr>
            <p:cNvPr name="Freeform 117" id="117" descr="pin1.png"/>
            <p:cNvSpPr/>
            <p:nvPr/>
          </p:nvSpPr>
          <p:spPr>
            <a:xfrm flipH="false" flipV="false" rot="0">
              <a:off x="0" y="0"/>
              <a:ext cx="288417" cy="346075"/>
            </a:xfrm>
            <a:custGeom>
              <a:avLst/>
              <a:gdLst/>
              <a:ahLst/>
              <a:cxnLst/>
              <a:rect r="r" b="b" t="t" l="l"/>
              <a:pathLst>
                <a:path h="346075" w="288417">
                  <a:moveTo>
                    <a:pt x="0" y="0"/>
                  </a:moveTo>
                  <a:lnTo>
                    <a:pt x="288417" y="0"/>
                  </a:lnTo>
                  <a:lnTo>
                    <a:pt x="288417" y="346075"/>
                  </a:lnTo>
                  <a:lnTo>
                    <a:pt x="0" y="346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8" b="0"/>
              </a:stretch>
            </a:blipFill>
          </p:spPr>
        </p:sp>
      </p:grpSp>
      <p:sp>
        <p:nvSpPr>
          <p:cNvPr name="TextBox 118" id="118"/>
          <p:cNvSpPr txBox="true"/>
          <p:nvPr/>
        </p:nvSpPr>
        <p:spPr>
          <a:xfrm rot="0">
            <a:off x="16990209" y="6029058"/>
            <a:ext cx="1027414" cy="27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1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State/Regional</a:t>
            </a:r>
          </a:p>
        </p:txBody>
      </p:sp>
      <p:grpSp>
        <p:nvGrpSpPr>
          <p:cNvPr name="Group 119" id="119"/>
          <p:cNvGrpSpPr/>
          <p:nvPr/>
        </p:nvGrpSpPr>
        <p:grpSpPr>
          <a:xfrm rot="0">
            <a:off x="16698211" y="6380788"/>
            <a:ext cx="216294" cy="259556"/>
            <a:chOff x="0" y="0"/>
            <a:chExt cx="288392" cy="346075"/>
          </a:xfrm>
        </p:grpSpPr>
        <p:sp>
          <p:nvSpPr>
            <p:cNvPr name="Freeform 120" id="120" descr="pin2.png"/>
            <p:cNvSpPr/>
            <p:nvPr/>
          </p:nvSpPr>
          <p:spPr>
            <a:xfrm flipH="false" flipV="false" rot="0">
              <a:off x="0" y="0"/>
              <a:ext cx="288417" cy="346075"/>
            </a:xfrm>
            <a:custGeom>
              <a:avLst/>
              <a:gdLst/>
              <a:ahLst/>
              <a:cxnLst/>
              <a:rect r="r" b="b" t="t" l="l"/>
              <a:pathLst>
                <a:path h="346075" w="288417">
                  <a:moveTo>
                    <a:pt x="0" y="0"/>
                  </a:moveTo>
                  <a:lnTo>
                    <a:pt x="288417" y="0"/>
                  </a:lnTo>
                  <a:lnTo>
                    <a:pt x="288417" y="346075"/>
                  </a:lnTo>
                  <a:lnTo>
                    <a:pt x="0" y="3460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8" b="0"/>
              </a:stretch>
            </a:blipFill>
          </p:spPr>
        </p:sp>
      </p:grpSp>
      <p:sp>
        <p:nvSpPr>
          <p:cNvPr name="TextBox 121" id="121"/>
          <p:cNvSpPr txBox="true"/>
          <p:nvPr/>
        </p:nvSpPr>
        <p:spPr>
          <a:xfrm rot="0">
            <a:off x="16990209" y="6396761"/>
            <a:ext cx="1027414" cy="27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1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National</a:t>
            </a:r>
          </a:p>
        </p:txBody>
      </p:sp>
      <p:grpSp>
        <p:nvGrpSpPr>
          <p:cNvPr name="Group 122" id="122"/>
          <p:cNvGrpSpPr/>
          <p:nvPr/>
        </p:nvGrpSpPr>
        <p:grpSpPr>
          <a:xfrm rot="0">
            <a:off x="209950" y="7012524"/>
            <a:ext cx="17868100" cy="2208124"/>
            <a:chOff x="0" y="0"/>
            <a:chExt cx="23824133" cy="2944165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3824183" cy="2944114"/>
            </a:xfrm>
            <a:custGeom>
              <a:avLst/>
              <a:gdLst/>
              <a:ahLst/>
              <a:cxnLst/>
              <a:rect r="r" b="b" t="t" l="l"/>
              <a:pathLst>
                <a:path h="2944114" w="2382418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3676990" y="0"/>
                  </a:lnTo>
                  <a:cubicBezTo>
                    <a:pt x="23758271" y="0"/>
                    <a:pt x="23824183" y="65913"/>
                    <a:pt x="23824183" y="147193"/>
                  </a:cubicBezTo>
                  <a:lnTo>
                    <a:pt x="23824183" y="2796921"/>
                  </a:lnTo>
                  <a:cubicBezTo>
                    <a:pt x="23824183" y="2878201"/>
                    <a:pt x="23758271" y="2944114"/>
                    <a:pt x="23676990" y="2944114"/>
                  </a:cubicBezTo>
                  <a:lnTo>
                    <a:pt x="147193" y="2944114"/>
                  </a:lnTo>
                  <a:cubicBezTo>
                    <a:pt x="65913" y="2944114"/>
                    <a:pt x="0" y="2878201"/>
                    <a:pt x="0" y="2796921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AF1F9"/>
              </a:solidFill>
              <a:prstDash val="solid"/>
              <a:miter/>
            </a:ln>
          </p:spPr>
        </p:sp>
      </p:grpSp>
      <p:sp>
        <p:nvSpPr>
          <p:cNvPr name="AutoShape 124" id="124"/>
          <p:cNvSpPr/>
          <p:nvPr/>
        </p:nvSpPr>
        <p:spPr>
          <a:xfrm rot="5376840">
            <a:off x="3405730" y="8122634"/>
            <a:ext cx="1883721" cy="0"/>
          </a:xfrm>
          <a:prstGeom prst="line">
            <a:avLst/>
          </a:prstGeom>
          <a:ln cap="rnd" w="9525">
            <a:solidFill>
              <a:srgbClr val="DDE8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5" id="125"/>
          <p:cNvSpPr/>
          <p:nvPr/>
        </p:nvSpPr>
        <p:spPr>
          <a:xfrm rot="5376840">
            <a:off x="7818206" y="8122634"/>
            <a:ext cx="1883721" cy="0"/>
          </a:xfrm>
          <a:prstGeom prst="line">
            <a:avLst/>
          </a:prstGeom>
          <a:ln cap="rnd" w="9525">
            <a:solidFill>
              <a:srgbClr val="DDE8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6" id="126"/>
          <p:cNvSpPr/>
          <p:nvPr/>
        </p:nvSpPr>
        <p:spPr>
          <a:xfrm rot="5376840">
            <a:off x="13312178" y="8122634"/>
            <a:ext cx="1883721" cy="0"/>
          </a:xfrm>
          <a:prstGeom prst="line">
            <a:avLst/>
          </a:prstGeom>
          <a:ln cap="rnd" w="9525">
            <a:solidFill>
              <a:srgbClr val="DDE8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7" id="127"/>
          <p:cNvSpPr txBox="true"/>
          <p:nvPr/>
        </p:nvSpPr>
        <p:spPr>
          <a:xfrm rot="0">
            <a:off x="540744" y="7004980"/>
            <a:ext cx="3460766" cy="31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7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Key Challenges</a:t>
            </a:r>
          </a:p>
        </p:txBody>
      </p:sp>
      <p:grpSp>
        <p:nvGrpSpPr>
          <p:cNvPr name="Group 128" id="128"/>
          <p:cNvGrpSpPr/>
          <p:nvPr/>
        </p:nvGrpSpPr>
        <p:grpSpPr>
          <a:xfrm rot="0">
            <a:off x="670522" y="7537990"/>
            <a:ext cx="389334" cy="313630"/>
            <a:chOff x="0" y="0"/>
            <a:chExt cx="519112" cy="418173"/>
          </a:xfrm>
        </p:grpSpPr>
        <p:sp>
          <p:nvSpPr>
            <p:cNvPr name="Freeform 129" id="129" descr="kc0.png"/>
            <p:cNvSpPr/>
            <p:nvPr/>
          </p:nvSpPr>
          <p:spPr>
            <a:xfrm flipH="false" flipV="false" rot="0">
              <a:off x="0" y="0"/>
              <a:ext cx="519176" cy="418211"/>
            </a:xfrm>
            <a:custGeom>
              <a:avLst/>
              <a:gdLst/>
              <a:ahLst/>
              <a:cxnLst/>
              <a:rect r="r" b="b" t="t" l="l"/>
              <a:pathLst>
                <a:path h="418211" w="519176">
                  <a:moveTo>
                    <a:pt x="0" y="0"/>
                  </a:moveTo>
                  <a:lnTo>
                    <a:pt x="519176" y="0"/>
                  </a:lnTo>
                  <a:lnTo>
                    <a:pt x="519176" y="418211"/>
                  </a:lnTo>
                  <a:lnTo>
                    <a:pt x="0" y="418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12" b="9"/>
              </a:stretch>
            </a:blipFill>
          </p:spPr>
        </p:sp>
      </p:grpSp>
      <p:sp>
        <p:nvSpPr>
          <p:cNvPr name="TextBox 130" id="130"/>
          <p:cNvSpPr txBox="true"/>
          <p:nvPr/>
        </p:nvSpPr>
        <p:spPr>
          <a:xfrm rot="0">
            <a:off x="1308602" y="7501176"/>
            <a:ext cx="3028169" cy="35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Cloud / monsoon gaps</a:t>
            </a:r>
          </a:p>
        </p:txBody>
      </p:sp>
      <p:grpSp>
        <p:nvGrpSpPr>
          <p:cNvPr name="Group 131" id="131"/>
          <p:cNvGrpSpPr/>
          <p:nvPr/>
        </p:nvGrpSpPr>
        <p:grpSpPr>
          <a:xfrm rot="0">
            <a:off x="648891" y="7905693"/>
            <a:ext cx="389334" cy="335261"/>
            <a:chOff x="0" y="0"/>
            <a:chExt cx="519112" cy="447015"/>
          </a:xfrm>
        </p:grpSpPr>
        <p:sp>
          <p:nvSpPr>
            <p:cNvPr name="Freeform 132" id="132" descr="kc1.png"/>
            <p:cNvSpPr/>
            <p:nvPr/>
          </p:nvSpPr>
          <p:spPr>
            <a:xfrm flipH="false" flipV="false" rot="0">
              <a:off x="0" y="0"/>
              <a:ext cx="519176" cy="447040"/>
            </a:xfrm>
            <a:custGeom>
              <a:avLst/>
              <a:gdLst/>
              <a:ahLst/>
              <a:cxnLst/>
              <a:rect r="r" b="b" t="t" l="l"/>
              <a:pathLst>
                <a:path h="447040" w="519176">
                  <a:moveTo>
                    <a:pt x="0" y="0"/>
                  </a:moveTo>
                  <a:lnTo>
                    <a:pt x="519176" y="0"/>
                  </a:lnTo>
                  <a:lnTo>
                    <a:pt x="519176" y="447040"/>
                  </a:lnTo>
                  <a:lnTo>
                    <a:pt x="0" y="44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12" b="5"/>
              </a:stretch>
            </a:blipFill>
          </p:spPr>
        </p:sp>
      </p:grpSp>
      <p:sp>
        <p:nvSpPr>
          <p:cNvPr name="TextBox 133" id="133"/>
          <p:cNvSpPr txBox="true"/>
          <p:nvPr/>
        </p:nvSpPr>
        <p:spPr>
          <a:xfrm rot="0">
            <a:off x="1308602" y="7868879"/>
            <a:ext cx="3028169" cy="35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Seasonal false changes</a:t>
            </a:r>
          </a:p>
        </p:txBody>
      </p:sp>
      <p:grpSp>
        <p:nvGrpSpPr>
          <p:cNvPr name="Group 134" id="134"/>
          <p:cNvGrpSpPr/>
          <p:nvPr/>
        </p:nvGrpSpPr>
        <p:grpSpPr>
          <a:xfrm rot="0">
            <a:off x="648891" y="8295027"/>
            <a:ext cx="389334" cy="378524"/>
            <a:chOff x="0" y="0"/>
            <a:chExt cx="519112" cy="504698"/>
          </a:xfrm>
        </p:grpSpPr>
        <p:sp>
          <p:nvSpPr>
            <p:cNvPr name="Freeform 135" id="135" descr="kc2.png"/>
            <p:cNvSpPr/>
            <p:nvPr/>
          </p:nvSpPr>
          <p:spPr>
            <a:xfrm flipH="false" flipV="false" rot="0">
              <a:off x="0" y="0"/>
              <a:ext cx="519176" cy="504698"/>
            </a:xfrm>
            <a:custGeom>
              <a:avLst/>
              <a:gdLst/>
              <a:ahLst/>
              <a:cxnLst/>
              <a:rect r="r" b="b" t="t" l="l"/>
              <a:pathLst>
                <a:path h="504698" w="519176">
                  <a:moveTo>
                    <a:pt x="0" y="0"/>
                  </a:moveTo>
                  <a:lnTo>
                    <a:pt x="519176" y="0"/>
                  </a:lnTo>
                  <a:lnTo>
                    <a:pt x="519176" y="504698"/>
                  </a:lnTo>
                  <a:lnTo>
                    <a:pt x="0" y="504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12" b="0"/>
              </a:stretch>
            </a:blipFill>
          </p:spPr>
        </p:sp>
      </p:grpSp>
      <p:sp>
        <p:nvSpPr>
          <p:cNvPr name="TextBox 136" id="136"/>
          <p:cNvSpPr txBox="true"/>
          <p:nvPr/>
        </p:nvSpPr>
        <p:spPr>
          <a:xfrm rot="0">
            <a:off x="1308602" y="8258223"/>
            <a:ext cx="3028169" cy="35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Image mis-registration</a:t>
            </a:r>
          </a:p>
        </p:txBody>
      </p:sp>
      <p:grpSp>
        <p:nvGrpSpPr>
          <p:cNvPr name="Group 137" id="137"/>
          <p:cNvGrpSpPr/>
          <p:nvPr/>
        </p:nvGrpSpPr>
        <p:grpSpPr>
          <a:xfrm rot="0">
            <a:off x="659711" y="8695182"/>
            <a:ext cx="378524" cy="400155"/>
            <a:chOff x="0" y="0"/>
            <a:chExt cx="504698" cy="533540"/>
          </a:xfrm>
        </p:grpSpPr>
        <p:sp>
          <p:nvSpPr>
            <p:cNvPr name="Freeform 138" id="138" descr="kc3.png"/>
            <p:cNvSpPr/>
            <p:nvPr/>
          </p:nvSpPr>
          <p:spPr>
            <a:xfrm flipH="false" flipV="false" rot="0">
              <a:off x="0" y="0"/>
              <a:ext cx="504698" cy="533527"/>
            </a:xfrm>
            <a:custGeom>
              <a:avLst/>
              <a:gdLst/>
              <a:ahLst/>
              <a:cxnLst/>
              <a:rect r="r" b="b" t="t" l="l"/>
              <a:pathLst>
                <a:path h="533527" w="504698">
                  <a:moveTo>
                    <a:pt x="0" y="0"/>
                  </a:moveTo>
                  <a:lnTo>
                    <a:pt x="504698" y="0"/>
                  </a:lnTo>
                  <a:lnTo>
                    <a:pt x="504698" y="533527"/>
                  </a:lnTo>
                  <a:lnTo>
                    <a:pt x="0" y="5335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-2"/>
              </a:stretch>
            </a:blipFill>
          </p:spPr>
        </p:sp>
      </p:grpSp>
      <p:sp>
        <p:nvSpPr>
          <p:cNvPr name="TextBox 139" id="139"/>
          <p:cNvSpPr txBox="true"/>
          <p:nvPr/>
        </p:nvSpPr>
        <p:spPr>
          <a:xfrm rot="0">
            <a:off x="1308602" y="8669188"/>
            <a:ext cx="3028169" cy="35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Large satellite archives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3655438" y="7927324"/>
            <a:ext cx="562375" cy="551564"/>
            <a:chOff x="0" y="0"/>
            <a:chExt cx="749833" cy="735419"/>
          </a:xfrm>
        </p:grpSpPr>
        <p:sp>
          <p:nvSpPr>
            <p:cNvPr name="Freeform 141" id="141" descr="chevron.png"/>
            <p:cNvSpPr/>
            <p:nvPr/>
          </p:nvSpPr>
          <p:spPr>
            <a:xfrm flipH="false" flipV="false" rot="0">
              <a:off x="0" y="0"/>
              <a:ext cx="749808" cy="735457"/>
            </a:xfrm>
            <a:custGeom>
              <a:avLst/>
              <a:gdLst/>
              <a:ahLst/>
              <a:cxnLst/>
              <a:rect r="r" b="b" t="t" l="l"/>
              <a:pathLst>
                <a:path h="735457" w="749808">
                  <a:moveTo>
                    <a:pt x="0" y="0"/>
                  </a:moveTo>
                  <a:lnTo>
                    <a:pt x="749808" y="0"/>
                  </a:lnTo>
                  <a:lnTo>
                    <a:pt x="749808" y="735457"/>
                  </a:lnTo>
                  <a:lnTo>
                    <a:pt x="0" y="7354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-3" b="5"/>
              </a:stretch>
            </a:blipFill>
          </p:spPr>
        </p:sp>
      </p:grpSp>
      <p:sp>
        <p:nvSpPr>
          <p:cNvPr name="TextBox 142" id="142"/>
          <p:cNvSpPr txBox="true"/>
          <p:nvPr/>
        </p:nvSpPr>
        <p:spPr>
          <a:xfrm rot="0">
            <a:off x="4553074" y="7026612"/>
            <a:ext cx="4325960" cy="319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74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Our Mitigation Approach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5093818" y="7478258"/>
            <a:ext cx="3731143" cy="3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Quality checks and data filtering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5093818" y="7791888"/>
            <a:ext cx="3731143" cy="3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Seasonal baseline comparison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5093818" y="8094707"/>
            <a:ext cx="3731143" cy="3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Persistence check across multiple dates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5093818" y="8419157"/>
            <a:ext cx="3731143" cy="3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Use of SAR and optical data together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5093818" y="8743598"/>
            <a:ext cx="3731143" cy="3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Analyst validation for critical changes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9192663" y="7036137"/>
            <a:ext cx="4542263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Real-World Readiness</a:t>
            </a:r>
          </a:p>
        </p:txBody>
      </p:sp>
      <p:grpSp>
        <p:nvGrpSpPr>
          <p:cNvPr name="Group 149" id="149"/>
          <p:cNvGrpSpPr/>
          <p:nvPr/>
        </p:nvGrpSpPr>
        <p:grpSpPr>
          <a:xfrm rot="0">
            <a:off x="9365704" y="7570432"/>
            <a:ext cx="519112" cy="648891"/>
            <a:chOff x="0" y="0"/>
            <a:chExt cx="692150" cy="865188"/>
          </a:xfrm>
        </p:grpSpPr>
        <p:sp>
          <p:nvSpPr>
            <p:cNvPr name="Freeform 150" id="150" descr="rr0.png"/>
            <p:cNvSpPr/>
            <p:nvPr/>
          </p:nvSpPr>
          <p:spPr>
            <a:xfrm flipH="false" flipV="false" rot="0">
              <a:off x="0" y="0"/>
              <a:ext cx="692150" cy="865251"/>
            </a:xfrm>
            <a:custGeom>
              <a:avLst/>
              <a:gdLst/>
              <a:ahLst/>
              <a:cxnLst/>
              <a:rect r="r" b="b" t="t" l="l"/>
              <a:pathLst>
                <a:path h="865251" w="692150">
                  <a:moveTo>
                    <a:pt x="0" y="0"/>
                  </a:moveTo>
                  <a:lnTo>
                    <a:pt x="692150" y="0"/>
                  </a:lnTo>
                  <a:lnTo>
                    <a:pt x="692150" y="865251"/>
                  </a:lnTo>
                  <a:lnTo>
                    <a:pt x="0" y="865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7"/>
              </a:stretch>
            </a:blipFill>
          </p:spPr>
        </p:sp>
      </p:grpSp>
      <p:sp>
        <p:nvSpPr>
          <p:cNvPr name="TextBox 151" id="151"/>
          <p:cNvSpPr txBox="true"/>
          <p:nvPr/>
        </p:nvSpPr>
        <p:spPr>
          <a:xfrm rot="0">
            <a:off x="8651919" y="8205435"/>
            <a:ext cx="1946681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Offline</a:t>
            </a:r>
          </a:p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&amp; Secure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10533717" y="7570432"/>
            <a:ext cx="519112" cy="648891"/>
            <a:chOff x="0" y="0"/>
            <a:chExt cx="692150" cy="865188"/>
          </a:xfrm>
        </p:grpSpPr>
        <p:sp>
          <p:nvSpPr>
            <p:cNvPr name="Freeform 153" id="153" descr="rr1.png"/>
            <p:cNvSpPr/>
            <p:nvPr/>
          </p:nvSpPr>
          <p:spPr>
            <a:xfrm flipH="false" flipV="false" rot="0">
              <a:off x="0" y="0"/>
              <a:ext cx="692150" cy="865251"/>
            </a:xfrm>
            <a:custGeom>
              <a:avLst/>
              <a:gdLst/>
              <a:ahLst/>
              <a:cxnLst/>
              <a:rect r="r" b="b" t="t" l="l"/>
              <a:pathLst>
                <a:path h="865251" w="692150">
                  <a:moveTo>
                    <a:pt x="0" y="0"/>
                  </a:moveTo>
                  <a:lnTo>
                    <a:pt x="692150" y="0"/>
                  </a:lnTo>
                  <a:lnTo>
                    <a:pt x="692150" y="865251"/>
                  </a:lnTo>
                  <a:lnTo>
                    <a:pt x="0" y="865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7"/>
              </a:stretch>
            </a:blipFill>
          </p:spPr>
        </p:sp>
      </p:grpSp>
      <p:sp>
        <p:nvSpPr>
          <p:cNvPr name="TextBox 154" id="154"/>
          <p:cNvSpPr txBox="true"/>
          <p:nvPr/>
        </p:nvSpPr>
        <p:spPr>
          <a:xfrm rot="0">
            <a:off x="9819932" y="8205435"/>
            <a:ext cx="1946681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Policy</a:t>
            </a:r>
          </a:p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Compliant</a:t>
            </a:r>
          </a:p>
        </p:txBody>
      </p:sp>
      <p:grpSp>
        <p:nvGrpSpPr>
          <p:cNvPr name="Group 155" id="155"/>
          <p:cNvGrpSpPr/>
          <p:nvPr/>
        </p:nvGrpSpPr>
        <p:grpSpPr>
          <a:xfrm rot="0">
            <a:off x="11690909" y="7613694"/>
            <a:ext cx="627259" cy="540744"/>
            <a:chOff x="0" y="0"/>
            <a:chExt cx="836346" cy="720992"/>
          </a:xfrm>
        </p:grpSpPr>
        <p:sp>
          <p:nvSpPr>
            <p:cNvPr name="Freeform 156" id="156" descr="rr2.png"/>
            <p:cNvSpPr/>
            <p:nvPr/>
          </p:nvSpPr>
          <p:spPr>
            <a:xfrm flipH="false" flipV="false" rot="0">
              <a:off x="0" y="0"/>
              <a:ext cx="836295" cy="720979"/>
            </a:xfrm>
            <a:custGeom>
              <a:avLst/>
              <a:gdLst/>
              <a:ahLst/>
              <a:cxnLst/>
              <a:rect r="r" b="b" t="t" l="l"/>
              <a:pathLst>
                <a:path h="720979" w="836295">
                  <a:moveTo>
                    <a:pt x="0" y="0"/>
                  </a:moveTo>
                  <a:lnTo>
                    <a:pt x="836295" y="0"/>
                  </a:lnTo>
                  <a:lnTo>
                    <a:pt x="836295" y="720979"/>
                  </a:lnTo>
                  <a:lnTo>
                    <a:pt x="0" y="720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-7" b="-1"/>
              </a:stretch>
            </a:blipFill>
          </p:spPr>
        </p:sp>
      </p:grpSp>
      <p:sp>
        <p:nvSpPr>
          <p:cNvPr name="TextBox 157" id="157"/>
          <p:cNvSpPr txBox="true"/>
          <p:nvPr/>
        </p:nvSpPr>
        <p:spPr>
          <a:xfrm rot="0">
            <a:off x="11031198" y="8205435"/>
            <a:ext cx="1946681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Analyst</a:t>
            </a:r>
          </a:p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Friendly</a:t>
            </a:r>
          </a:p>
        </p:txBody>
      </p:sp>
      <p:grpSp>
        <p:nvGrpSpPr>
          <p:cNvPr name="Group 158" id="158"/>
          <p:cNvGrpSpPr/>
          <p:nvPr/>
        </p:nvGrpSpPr>
        <p:grpSpPr>
          <a:xfrm rot="0">
            <a:off x="13096846" y="7570432"/>
            <a:ext cx="616448" cy="648891"/>
            <a:chOff x="0" y="0"/>
            <a:chExt cx="821931" cy="865188"/>
          </a:xfrm>
        </p:grpSpPr>
        <p:sp>
          <p:nvSpPr>
            <p:cNvPr name="Freeform 159" id="159" descr="rr3.png"/>
            <p:cNvSpPr/>
            <p:nvPr/>
          </p:nvSpPr>
          <p:spPr>
            <a:xfrm flipH="false" flipV="false" rot="0">
              <a:off x="0" y="0"/>
              <a:ext cx="821944" cy="865251"/>
            </a:xfrm>
            <a:custGeom>
              <a:avLst/>
              <a:gdLst/>
              <a:ahLst/>
              <a:cxnLst/>
              <a:rect r="r" b="b" t="t" l="l"/>
              <a:pathLst>
                <a:path h="865251" w="821944">
                  <a:moveTo>
                    <a:pt x="0" y="0"/>
                  </a:moveTo>
                  <a:lnTo>
                    <a:pt x="821944" y="0"/>
                  </a:lnTo>
                  <a:lnTo>
                    <a:pt x="821944" y="865251"/>
                  </a:lnTo>
                  <a:lnTo>
                    <a:pt x="0" y="865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1" b="7"/>
              </a:stretch>
            </a:blipFill>
          </p:spPr>
        </p:sp>
      </p:grpSp>
      <p:sp>
        <p:nvSpPr>
          <p:cNvPr name="TextBox 160" id="160"/>
          <p:cNvSpPr txBox="true"/>
          <p:nvPr/>
        </p:nvSpPr>
        <p:spPr>
          <a:xfrm rot="0">
            <a:off x="12437135" y="8205435"/>
            <a:ext cx="1946681" cy="70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Designed for</a:t>
            </a:r>
          </a:p>
          <a:p>
            <a:pPr algn="ctr">
              <a:lnSpc>
                <a:spcPts val="2232"/>
              </a:lnSpc>
            </a:pPr>
            <a:r>
              <a:rPr lang="en-US" sz="1500">
                <a:solidFill>
                  <a:srgbClr val="2A3652"/>
                </a:solidFill>
                <a:latin typeface="Arial"/>
                <a:ea typeface="Arial"/>
                <a:cs typeface="Arial"/>
                <a:sym typeface="Arial"/>
              </a:rPr>
              <a:t>Long-Term Use</a:t>
            </a:r>
          </a:p>
        </p:txBody>
      </p:sp>
      <p:grpSp>
        <p:nvGrpSpPr>
          <p:cNvPr name="Group 161" id="161"/>
          <p:cNvGrpSpPr/>
          <p:nvPr/>
        </p:nvGrpSpPr>
        <p:grpSpPr>
          <a:xfrm rot="0">
            <a:off x="14329743" y="7083762"/>
            <a:ext cx="3601364" cy="2054828"/>
            <a:chOff x="0" y="0"/>
            <a:chExt cx="4801819" cy="2739771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801743" cy="2739771"/>
            </a:xfrm>
            <a:custGeom>
              <a:avLst/>
              <a:gdLst/>
              <a:ahLst/>
              <a:cxnLst/>
              <a:rect r="r" b="b" t="t" l="l"/>
              <a:pathLst>
                <a:path h="2739771" w="4801743">
                  <a:moveTo>
                    <a:pt x="0" y="164338"/>
                  </a:moveTo>
                  <a:cubicBezTo>
                    <a:pt x="0" y="73660"/>
                    <a:pt x="73660" y="0"/>
                    <a:pt x="164338" y="0"/>
                  </a:cubicBezTo>
                  <a:lnTo>
                    <a:pt x="4637405" y="0"/>
                  </a:lnTo>
                  <a:cubicBezTo>
                    <a:pt x="4728210" y="0"/>
                    <a:pt x="4801743" y="73660"/>
                    <a:pt x="4801743" y="164338"/>
                  </a:cubicBezTo>
                  <a:lnTo>
                    <a:pt x="4801743" y="2575433"/>
                  </a:lnTo>
                  <a:cubicBezTo>
                    <a:pt x="4801743" y="2666238"/>
                    <a:pt x="4728083" y="2739771"/>
                    <a:pt x="4637405" y="2739771"/>
                  </a:cubicBezTo>
                  <a:lnTo>
                    <a:pt x="164338" y="2739771"/>
                  </a:lnTo>
                  <a:cubicBezTo>
                    <a:pt x="73660" y="2739771"/>
                    <a:pt x="0" y="2666238"/>
                    <a:pt x="0" y="2575433"/>
                  </a:cubicBezTo>
                  <a:close/>
                </a:path>
              </a:pathLst>
            </a:custGeom>
            <a:solidFill>
              <a:srgbClr val="E8F2FC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5768123" y="7375760"/>
            <a:ext cx="800300" cy="627259"/>
            <a:chOff x="0" y="0"/>
            <a:chExt cx="1067067" cy="836346"/>
          </a:xfrm>
        </p:grpSpPr>
        <p:sp>
          <p:nvSpPr>
            <p:cNvPr name="Freeform 164" id="164" descr="bbicon.png"/>
            <p:cNvSpPr/>
            <p:nvPr/>
          </p:nvSpPr>
          <p:spPr>
            <a:xfrm flipH="false" flipV="false" rot="0">
              <a:off x="0" y="0"/>
              <a:ext cx="1067054" cy="836295"/>
            </a:xfrm>
            <a:custGeom>
              <a:avLst/>
              <a:gdLst/>
              <a:ahLst/>
              <a:cxnLst/>
              <a:rect r="r" b="b" t="t" l="l"/>
              <a:pathLst>
                <a:path h="836295" w="1067054">
                  <a:moveTo>
                    <a:pt x="0" y="0"/>
                  </a:moveTo>
                  <a:lnTo>
                    <a:pt x="1067054" y="0"/>
                  </a:lnTo>
                  <a:lnTo>
                    <a:pt x="1067054" y="836295"/>
                  </a:lnTo>
                  <a:lnTo>
                    <a:pt x="0" y="836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-1" b="-6"/>
              </a:stretch>
            </a:blipFill>
          </p:spPr>
        </p:sp>
      </p:grpSp>
      <p:sp>
        <p:nvSpPr>
          <p:cNvPr name="TextBox 165" id="165"/>
          <p:cNvSpPr txBox="true"/>
          <p:nvPr/>
        </p:nvSpPr>
        <p:spPr>
          <a:xfrm rot="0">
            <a:off x="14383817" y="7975740"/>
            <a:ext cx="3547291" cy="111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7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A Practical, Scalable</a:t>
            </a:r>
          </a:p>
          <a:p>
            <a:pPr algn="ctr">
              <a:lnSpc>
                <a:spcPts val="2284"/>
              </a:lnSpc>
            </a:pPr>
            <a:r>
              <a:rPr lang="en-US" sz="17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and Cost-Effective Solution</a:t>
            </a:r>
          </a:p>
          <a:p>
            <a:pPr algn="ctr">
              <a:lnSpc>
                <a:spcPts val="2284"/>
              </a:lnSpc>
            </a:pPr>
            <a:r>
              <a:rPr lang="en-US" sz="1700" b="true">
                <a:solidFill>
                  <a:srgbClr val="112B63"/>
                </a:solidFill>
                <a:latin typeface="Arial Bold"/>
                <a:ea typeface="Arial Bold"/>
                <a:cs typeface="Arial Bold"/>
                <a:sym typeface="Arial Bold"/>
              </a:rPr>
              <a:t>for Real-World Deployment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475488" y="438150"/>
            <a:ext cx="31089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 i="true" u="sng">
                <a:solidFill>
                  <a:srgbClr val="40404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HeisenBug</a:t>
            </a:r>
          </a:p>
        </p:txBody>
      </p:sp>
      <p:grpSp>
        <p:nvGrpSpPr>
          <p:cNvPr name="Group 167" id="167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-44" r="0" b="-44"/>
              </a:stretch>
            </a:blip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0" y="9647139"/>
            <a:ext cx="18288000" cy="645328"/>
            <a:chOff x="0" y="0"/>
            <a:chExt cx="24384000" cy="860438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24384000" cy="860425"/>
            </a:xfrm>
            <a:custGeom>
              <a:avLst/>
              <a:gdLst/>
              <a:ahLst/>
              <a:cxnLst/>
              <a:rect r="r" b="b" t="t" l="l"/>
              <a:pathLst>
                <a:path h="8604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0425"/>
                  </a:lnTo>
                  <a:lnTo>
                    <a:pt x="0" y="860425"/>
                  </a:lnTo>
                  <a:close/>
                </a:path>
              </a:pathLst>
            </a:custGeom>
            <a:solidFill>
              <a:srgbClr val="086FC5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4704474" y="7548801"/>
            <a:ext cx="227114" cy="194672"/>
            <a:chOff x="0" y="0"/>
            <a:chExt cx="302819" cy="259563"/>
          </a:xfrm>
        </p:grpSpPr>
        <p:sp>
          <p:nvSpPr>
            <p:cNvPr name="Freeform 172" id="172" descr="ck_1_27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6" b="9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4704474" y="7829988"/>
            <a:ext cx="227114" cy="194672"/>
            <a:chOff x="0" y="0"/>
            <a:chExt cx="302819" cy="259563"/>
          </a:xfrm>
        </p:grpSpPr>
        <p:sp>
          <p:nvSpPr>
            <p:cNvPr name="Freeform 174" id="174" descr="ck_1_27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6" b="9"/>
              </a:stretch>
            </a:blip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4704474" y="8100355"/>
            <a:ext cx="227114" cy="194672"/>
            <a:chOff x="0" y="0"/>
            <a:chExt cx="302819" cy="259563"/>
          </a:xfrm>
        </p:grpSpPr>
        <p:sp>
          <p:nvSpPr>
            <p:cNvPr name="Freeform 176" id="176" descr="ck_1_27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6" b="9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4704474" y="8413994"/>
            <a:ext cx="227114" cy="194672"/>
            <a:chOff x="0" y="0"/>
            <a:chExt cx="302819" cy="259563"/>
          </a:xfrm>
        </p:grpSpPr>
        <p:sp>
          <p:nvSpPr>
            <p:cNvPr name="Freeform 178" id="178" descr="ck_1_27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6" b="9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704474" y="8760076"/>
            <a:ext cx="227114" cy="194672"/>
            <a:chOff x="0" y="0"/>
            <a:chExt cx="302819" cy="259563"/>
          </a:xfrm>
        </p:grpSpPr>
        <p:sp>
          <p:nvSpPr>
            <p:cNvPr name="Freeform 180" id="180" descr="ck_1_274.png"/>
            <p:cNvSpPr/>
            <p:nvPr/>
          </p:nvSpPr>
          <p:spPr>
            <a:xfrm flipH="false" flipV="false" rot="0">
              <a:off x="0" y="0"/>
              <a:ext cx="302768" cy="259588"/>
            </a:xfrm>
            <a:custGeom>
              <a:avLst/>
              <a:gdLst/>
              <a:ahLst/>
              <a:cxnLst/>
              <a:rect r="r" b="b" t="t" l="l"/>
              <a:pathLst>
                <a:path h="259588" w="302768">
                  <a:moveTo>
                    <a:pt x="0" y="0"/>
                  </a:moveTo>
                  <a:lnTo>
                    <a:pt x="302768" y="0"/>
                  </a:lnTo>
                  <a:lnTo>
                    <a:pt x="302768" y="259588"/>
                  </a:lnTo>
                  <a:lnTo>
                    <a:pt x="0" y="259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6" b="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633" y="928697"/>
            <a:ext cx="4593879" cy="37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i="true">
                <a:solidFill>
                  <a:srgbClr val="3A4A66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Satellite Intelligence for a Safer Tomorrow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46940" y="113128"/>
            <a:ext cx="6572250" cy="785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3"/>
              </a:lnSpc>
            </a:pPr>
            <a:r>
              <a:rPr lang="en-US" sz="4500" b="true">
                <a:solidFill>
                  <a:srgbClr val="111111"/>
                </a:solidFill>
                <a:latin typeface="Arial Bold"/>
                <a:ea typeface="Arial Bold"/>
                <a:cs typeface="Arial Bold"/>
                <a:sym typeface="Arial Bold"/>
              </a:rPr>
              <a:t>IMPACT AND BENEFITS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7595" y="735654"/>
            <a:ext cx="11703444" cy="33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Real insights. Safer decisions. A more resilient tomorrow.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21783" y="1514008"/>
            <a:ext cx="5098780" cy="1467431"/>
            <a:chOff x="0" y="0"/>
            <a:chExt cx="6798373" cy="19565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98310" cy="1956562"/>
            </a:xfrm>
            <a:custGeom>
              <a:avLst/>
              <a:gdLst/>
              <a:ahLst/>
              <a:cxnLst/>
              <a:rect r="r" b="b" t="t" l="l"/>
              <a:pathLst>
                <a:path h="1956562" w="6798310">
                  <a:moveTo>
                    <a:pt x="0" y="117348"/>
                  </a:moveTo>
                  <a:cubicBezTo>
                    <a:pt x="0" y="52578"/>
                    <a:pt x="52578" y="0"/>
                    <a:pt x="117348" y="0"/>
                  </a:cubicBezTo>
                  <a:lnTo>
                    <a:pt x="6680962" y="0"/>
                  </a:lnTo>
                  <a:cubicBezTo>
                    <a:pt x="6745859" y="0"/>
                    <a:pt x="6798310" y="52578"/>
                    <a:pt x="6798310" y="117348"/>
                  </a:cubicBezTo>
                  <a:lnTo>
                    <a:pt x="6798310" y="1839214"/>
                  </a:lnTo>
                  <a:cubicBezTo>
                    <a:pt x="6798310" y="1904111"/>
                    <a:pt x="6745732" y="1956562"/>
                    <a:pt x="6680962" y="1956562"/>
                  </a:cubicBezTo>
                  <a:lnTo>
                    <a:pt x="117348" y="1956562"/>
                  </a:lnTo>
                  <a:cubicBezTo>
                    <a:pt x="52451" y="1956562"/>
                    <a:pt x="0" y="1903984"/>
                    <a:pt x="0" y="1839214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92204" y="1706299"/>
            <a:ext cx="842210" cy="853145"/>
            <a:chOff x="0" y="0"/>
            <a:chExt cx="1122947" cy="1137526"/>
          </a:xfrm>
        </p:grpSpPr>
        <p:sp>
          <p:nvSpPr>
            <p:cNvPr name="Freeform 8" id="8" descr="lp_icon0.png"/>
            <p:cNvSpPr/>
            <p:nvPr/>
          </p:nvSpPr>
          <p:spPr>
            <a:xfrm flipH="false" flipV="false" rot="0">
              <a:off x="0" y="0"/>
              <a:ext cx="1122934" cy="1137539"/>
            </a:xfrm>
            <a:custGeom>
              <a:avLst/>
              <a:gdLst/>
              <a:ahLst/>
              <a:cxnLst/>
              <a:rect r="r" b="b" t="t" l="l"/>
              <a:pathLst>
                <a:path h="1137539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37539"/>
                  </a:lnTo>
                  <a:lnTo>
                    <a:pt x="0" y="1137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" b="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53166" y="1657255"/>
            <a:ext cx="2625071" cy="25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Faster Discovery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2231" y="1974456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Find relevant changes 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231" y="2215086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seconds using natural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2231" y="2466651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language or image queries.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068861" y="1662541"/>
            <a:ext cx="1214095" cy="1170346"/>
            <a:chOff x="0" y="0"/>
            <a:chExt cx="1618793" cy="15604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18869" cy="1560576"/>
            </a:xfrm>
            <a:custGeom>
              <a:avLst/>
              <a:gdLst/>
              <a:ahLst/>
              <a:cxnLst/>
              <a:rect r="r" b="b" t="t" l="l"/>
              <a:pathLst>
                <a:path h="1560576" w="1618869">
                  <a:moveTo>
                    <a:pt x="0" y="156083"/>
                  </a:moveTo>
                  <a:cubicBezTo>
                    <a:pt x="0" y="69850"/>
                    <a:pt x="69850" y="0"/>
                    <a:pt x="156083" y="0"/>
                  </a:cubicBezTo>
                  <a:lnTo>
                    <a:pt x="1462786" y="0"/>
                  </a:lnTo>
                  <a:cubicBezTo>
                    <a:pt x="1549019" y="0"/>
                    <a:pt x="1618869" y="69850"/>
                    <a:pt x="1618869" y="156083"/>
                  </a:cubicBezTo>
                  <a:lnTo>
                    <a:pt x="1618869" y="1404493"/>
                  </a:lnTo>
                  <a:cubicBezTo>
                    <a:pt x="1618869" y="1490726"/>
                    <a:pt x="1549019" y="1560576"/>
                    <a:pt x="1462786" y="1560576"/>
                  </a:cubicBezTo>
                  <a:lnTo>
                    <a:pt x="156083" y="1560576"/>
                  </a:lnTo>
                  <a:cubicBezTo>
                    <a:pt x="69850" y="1560449"/>
                    <a:pt x="0" y="1490599"/>
                    <a:pt x="0" y="1404366"/>
                  </a:cubicBezTo>
                  <a:close/>
                </a:path>
              </a:pathLst>
            </a:custGeom>
            <a:solidFill>
              <a:srgbClr val="E9F3F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068861" y="1722882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>
                <a:solidFill>
                  <a:srgbClr val="00067E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68861" y="1952577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Hours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68861" y="2193207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68861" y="2401033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Seconds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21783" y="3067174"/>
            <a:ext cx="5098780" cy="1478366"/>
            <a:chOff x="0" y="0"/>
            <a:chExt cx="6798373" cy="19711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98310" cy="1971167"/>
            </a:xfrm>
            <a:custGeom>
              <a:avLst/>
              <a:gdLst/>
              <a:ahLst/>
              <a:cxnLst/>
              <a:rect r="r" b="b" t="t" l="l"/>
              <a:pathLst>
                <a:path h="1971167" w="6798310">
                  <a:moveTo>
                    <a:pt x="0" y="118237"/>
                  </a:moveTo>
                  <a:cubicBezTo>
                    <a:pt x="0" y="52959"/>
                    <a:pt x="52959" y="0"/>
                    <a:pt x="118237" y="0"/>
                  </a:cubicBezTo>
                  <a:lnTo>
                    <a:pt x="6680073" y="0"/>
                  </a:lnTo>
                  <a:cubicBezTo>
                    <a:pt x="6745351" y="0"/>
                    <a:pt x="6798310" y="52959"/>
                    <a:pt x="6798310" y="118237"/>
                  </a:cubicBezTo>
                  <a:lnTo>
                    <a:pt x="6798310" y="1852930"/>
                  </a:lnTo>
                  <a:cubicBezTo>
                    <a:pt x="6798310" y="1918208"/>
                    <a:pt x="6745351" y="1971167"/>
                    <a:pt x="6680073" y="1971167"/>
                  </a:cubicBezTo>
                  <a:lnTo>
                    <a:pt x="118237" y="1971167"/>
                  </a:lnTo>
                  <a:cubicBezTo>
                    <a:pt x="52959" y="1971167"/>
                    <a:pt x="0" y="1918208"/>
                    <a:pt x="0" y="185293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92204" y="3259465"/>
            <a:ext cx="842210" cy="853145"/>
            <a:chOff x="0" y="0"/>
            <a:chExt cx="1122947" cy="1137526"/>
          </a:xfrm>
        </p:grpSpPr>
        <p:sp>
          <p:nvSpPr>
            <p:cNvPr name="Freeform 22" id="22" descr="lp_icon1.png"/>
            <p:cNvSpPr/>
            <p:nvPr/>
          </p:nvSpPr>
          <p:spPr>
            <a:xfrm flipH="false" flipV="false" rot="0">
              <a:off x="0" y="0"/>
              <a:ext cx="1122934" cy="1137539"/>
            </a:xfrm>
            <a:custGeom>
              <a:avLst/>
              <a:gdLst/>
              <a:ahLst/>
              <a:cxnLst/>
              <a:rect r="r" b="b" t="t" l="l"/>
              <a:pathLst>
                <a:path h="1137539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37539"/>
                  </a:lnTo>
                  <a:lnTo>
                    <a:pt x="0" y="1137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1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53166" y="3199486"/>
            <a:ext cx="2625071" cy="25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Fewer False Alarms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2231" y="3516687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Temporal analysis and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2231" y="3768252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multi-sensor checks reduce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2231" y="4008882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noise and seasonal effects.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068861" y="3237586"/>
            <a:ext cx="1214095" cy="1170346"/>
            <a:chOff x="0" y="0"/>
            <a:chExt cx="1618793" cy="15604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18869" cy="1560576"/>
            </a:xfrm>
            <a:custGeom>
              <a:avLst/>
              <a:gdLst/>
              <a:ahLst/>
              <a:cxnLst/>
              <a:rect r="r" b="b" t="t" l="l"/>
              <a:pathLst>
                <a:path h="1560576" w="1618869">
                  <a:moveTo>
                    <a:pt x="0" y="156083"/>
                  </a:moveTo>
                  <a:cubicBezTo>
                    <a:pt x="0" y="69850"/>
                    <a:pt x="69850" y="0"/>
                    <a:pt x="156083" y="0"/>
                  </a:cubicBezTo>
                  <a:lnTo>
                    <a:pt x="1462786" y="0"/>
                  </a:lnTo>
                  <a:cubicBezTo>
                    <a:pt x="1549019" y="0"/>
                    <a:pt x="1618869" y="69850"/>
                    <a:pt x="1618869" y="156083"/>
                  </a:cubicBezTo>
                  <a:lnTo>
                    <a:pt x="1618869" y="1404493"/>
                  </a:lnTo>
                  <a:cubicBezTo>
                    <a:pt x="1618869" y="1490726"/>
                    <a:pt x="1549019" y="1560576"/>
                    <a:pt x="1462786" y="1560576"/>
                  </a:cubicBezTo>
                  <a:lnTo>
                    <a:pt x="156083" y="1560576"/>
                  </a:lnTo>
                  <a:cubicBezTo>
                    <a:pt x="69850" y="1560449"/>
                    <a:pt x="0" y="1490599"/>
                    <a:pt x="0" y="1404366"/>
                  </a:cubicBezTo>
                  <a:close/>
                </a:path>
              </a:pathLst>
            </a:custGeom>
            <a:solidFill>
              <a:srgbClr val="E9F3F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068861" y="3352619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Higher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68861" y="3571370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Accuracy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68861" y="3790131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&amp;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68861" y="3997947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Reliability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21783" y="4642218"/>
            <a:ext cx="5098780" cy="1445552"/>
            <a:chOff x="0" y="0"/>
            <a:chExt cx="6798373" cy="19274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98437" cy="1927479"/>
            </a:xfrm>
            <a:custGeom>
              <a:avLst/>
              <a:gdLst/>
              <a:ahLst/>
              <a:cxnLst/>
              <a:rect r="r" b="b" t="t" l="l"/>
              <a:pathLst>
                <a:path h="1927479" w="6798437">
                  <a:moveTo>
                    <a:pt x="0" y="115697"/>
                  </a:moveTo>
                  <a:cubicBezTo>
                    <a:pt x="0" y="51816"/>
                    <a:pt x="51816" y="0"/>
                    <a:pt x="115697" y="0"/>
                  </a:cubicBezTo>
                  <a:lnTo>
                    <a:pt x="6682740" y="0"/>
                  </a:lnTo>
                  <a:cubicBezTo>
                    <a:pt x="6746622" y="0"/>
                    <a:pt x="6798437" y="51816"/>
                    <a:pt x="6798437" y="115697"/>
                  </a:cubicBezTo>
                  <a:lnTo>
                    <a:pt x="6798437" y="1811782"/>
                  </a:lnTo>
                  <a:cubicBezTo>
                    <a:pt x="6798437" y="1875663"/>
                    <a:pt x="6746622" y="1927479"/>
                    <a:pt x="6682740" y="1927479"/>
                  </a:cubicBezTo>
                  <a:lnTo>
                    <a:pt x="115697" y="1927479"/>
                  </a:lnTo>
                  <a:cubicBezTo>
                    <a:pt x="51816" y="1927479"/>
                    <a:pt x="0" y="1875663"/>
                    <a:pt x="0" y="181178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92204" y="4856378"/>
            <a:ext cx="842210" cy="875024"/>
            <a:chOff x="0" y="0"/>
            <a:chExt cx="1122947" cy="1166698"/>
          </a:xfrm>
        </p:grpSpPr>
        <p:sp>
          <p:nvSpPr>
            <p:cNvPr name="Freeform 36" id="36" descr="lp_icon2.png"/>
            <p:cNvSpPr/>
            <p:nvPr/>
          </p:nvSpPr>
          <p:spPr>
            <a:xfrm flipH="false" flipV="false" rot="0">
              <a:off x="0" y="0"/>
              <a:ext cx="1122934" cy="1166749"/>
            </a:xfrm>
            <a:custGeom>
              <a:avLst/>
              <a:gdLst/>
              <a:ahLst/>
              <a:cxnLst/>
              <a:rect r="r" b="b" t="t" l="l"/>
              <a:pathLst>
                <a:path h="1166749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66749"/>
                  </a:lnTo>
                  <a:lnTo>
                    <a:pt x="0" y="11667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4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553166" y="4807344"/>
            <a:ext cx="2625071" cy="25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Evidence-Backed Decisions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2231" y="5135480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Every result comes with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42231" y="5376110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before/after imagery, location,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42231" y="5627675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date and confidence.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4068861" y="4823565"/>
            <a:ext cx="1214095" cy="1104719"/>
            <a:chOff x="0" y="0"/>
            <a:chExt cx="1618793" cy="14729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18869" cy="1472946"/>
            </a:xfrm>
            <a:custGeom>
              <a:avLst/>
              <a:gdLst/>
              <a:ahLst/>
              <a:cxnLst/>
              <a:rect r="r" b="b" t="t" l="l"/>
              <a:pathLst>
                <a:path h="1472946" w="1618869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471549" y="0"/>
                  </a:lnTo>
                  <a:cubicBezTo>
                    <a:pt x="1552956" y="0"/>
                    <a:pt x="1618869" y="65913"/>
                    <a:pt x="1618869" y="147320"/>
                  </a:cubicBezTo>
                  <a:lnTo>
                    <a:pt x="1618869" y="1325626"/>
                  </a:lnTo>
                  <a:cubicBezTo>
                    <a:pt x="1618869" y="1407033"/>
                    <a:pt x="1552956" y="1472946"/>
                    <a:pt x="1471549" y="1472946"/>
                  </a:cubicBezTo>
                  <a:lnTo>
                    <a:pt x="147320" y="1472946"/>
                  </a:lnTo>
                  <a:cubicBezTo>
                    <a:pt x="65913" y="1472946"/>
                    <a:pt x="0" y="1407033"/>
                    <a:pt x="0" y="1325626"/>
                  </a:cubicBezTo>
                  <a:close/>
                </a:path>
              </a:pathLst>
            </a:custGeom>
            <a:solidFill>
              <a:srgbClr val="E9F3FC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4068861" y="5004225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Clear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68861" y="5233921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and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68861" y="5463616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Auditable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321783" y="6173505"/>
            <a:ext cx="5098780" cy="1347111"/>
            <a:chOff x="0" y="0"/>
            <a:chExt cx="6798373" cy="17961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798437" cy="1796161"/>
            </a:xfrm>
            <a:custGeom>
              <a:avLst/>
              <a:gdLst/>
              <a:ahLst/>
              <a:cxnLst/>
              <a:rect r="r" b="b" t="t" l="l"/>
              <a:pathLst>
                <a:path h="1796161" w="6798437">
                  <a:moveTo>
                    <a:pt x="0" y="107823"/>
                  </a:moveTo>
                  <a:cubicBezTo>
                    <a:pt x="0" y="48260"/>
                    <a:pt x="48260" y="0"/>
                    <a:pt x="107823" y="0"/>
                  </a:cubicBezTo>
                  <a:lnTo>
                    <a:pt x="6690614" y="0"/>
                  </a:lnTo>
                  <a:cubicBezTo>
                    <a:pt x="6750177" y="0"/>
                    <a:pt x="6798437" y="48260"/>
                    <a:pt x="6798437" y="107823"/>
                  </a:cubicBezTo>
                  <a:lnTo>
                    <a:pt x="6798437" y="1688338"/>
                  </a:lnTo>
                  <a:cubicBezTo>
                    <a:pt x="6798437" y="1747901"/>
                    <a:pt x="6750177" y="1796161"/>
                    <a:pt x="6690614" y="1796161"/>
                  </a:cubicBezTo>
                  <a:lnTo>
                    <a:pt x="107823" y="1796161"/>
                  </a:lnTo>
                  <a:cubicBezTo>
                    <a:pt x="48260" y="1796161"/>
                    <a:pt x="0" y="1747901"/>
                    <a:pt x="0" y="1688338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492204" y="6343926"/>
            <a:ext cx="842210" cy="885958"/>
            <a:chOff x="0" y="0"/>
            <a:chExt cx="1122947" cy="1181278"/>
          </a:xfrm>
        </p:grpSpPr>
        <p:sp>
          <p:nvSpPr>
            <p:cNvPr name="Freeform 49" id="49" descr="lp_icon3.png"/>
            <p:cNvSpPr/>
            <p:nvPr/>
          </p:nvSpPr>
          <p:spPr>
            <a:xfrm flipH="false" flipV="false" rot="0">
              <a:off x="0" y="0"/>
              <a:ext cx="1122934" cy="1181227"/>
            </a:xfrm>
            <a:custGeom>
              <a:avLst/>
              <a:gdLst/>
              <a:ahLst/>
              <a:cxnLst/>
              <a:rect r="r" b="b" t="t" l="l"/>
              <a:pathLst>
                <a:path h="1181227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81227"/>
                  </a:lnTo>
                  <a:lnTo>
                    <a:pt x="0" y="1181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4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553166" y="6240199"/>
            <a:ext cx="2625071" cy="25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Long-Term Value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42231" y="6557391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Analyst feedback and change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42231" y="6808965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signatures are stored and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2231" y="7049595"/>
            <a:ext cx="2679764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35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reused for future missions.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4068861" y="6300168"/>
            <a:ext cx="1214095" cy="1050026"/>
            <a:chOff x="0" y="0"/>
            <a:chExt cx="1618793" cy="140003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618742" cy="1400048"/>
            </a:xfrm>
            <a:custGeom>
              <a:avLst/>
              <a:gdLst/>
              <a:ahLst/>
              <a:cxnLst/>
              <a:rect r="r" b="b" t="t" l="l"/>
              <a:pathLst>
                <a:path h="1400048" w="1618742">
                  <a:moveTo>
                    <a:pt x="0" y="139954"/>
                  </a:moveTo>
                  <a:cubicBezTo>
                    <a:pt x="0" y="62738"/>
                    <a:pt x="62738" y="0"/>
                    <a:pt x="139954" y="0"/>
                  </a:cubicBezTo>
                  <a:lnTo>
                    <a:pt x="1478788" y="0"/>
                  </a:lnTo>
                  <a:cubicBezTo>
                    <a:pt x="1556131" y="0"/>
                    <a:pt x="1618742" y="62738"/>
                    <a:pt x="1618742" y="139954"/>
                  </a:cubicBezTo>
                  <a:lnTo>
                    <a:pt x="1618742" y="1260094"/>
                  </a:lnTo>
                  <a:cubicBezTo>
                    <a:pt x="1618742" y="1337437"/>
                    <a:pt x="1556004" y="1400048"/>
                    <a:pt x="1478788" y="1400048"/>
                  </a:cubicBezTo>
                  <a:lnTo>
                    <a:pt x="139954" y="1400048"/>
                  </a:lnTo>
                  <a:cubicBezTo>
                    <a:pt x="62738" y="1400048"/>
                    <a:pt x="0" y="1337310"/>
                    <a:pt x="0" y="1260094"/>
                  </a:cubicBezTo>
                  <a:close/>
                </a:path>
              </a:pathLst>
            </a:custGeom>
            <a:solidFill>
              <a:srgbClr val="E9F3FC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4068861" y="6360509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Gets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068861" y="6568326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Smarter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068861" y="6776152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Over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068861" y="6983968"/>
            <a:ext cx="1214095" cy="27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250" b="true">
                <a:solidFill>
                  <a:srgbClr val="00067E"/>
                </a:solidFill>
                <a:latin typeface="Arial Bold"/>
                <a:ea typeface="Arial Bold"/>
                <a:cs typeface="Arial Bold"/>
                <a:sym typeface="Arial Bold"/>
              </a:rPr>
              <a:t>Time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5571925" y="1470250"/>
            <a:ext cx="7133206" cy="5853484"/>
            <a:chOff x="0" y="0"/>
            <a:chExt cx="9510941" cy="780464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10903" cy="7804658"/>
            </a:xfrm>
            <a:custGeom>
              <a:avLst/>
              <a:gdLst/>
              <a:ahLst/>
              <a:cxnLst/>
              <a:rect r="r" b="b" t="t" l="l"/>
              <a:pathLst>
                <a:path h="7804658" w="9510903">
                  <a:moveTo>
                    <a:pt x="0" y="468249"/>
                  </a:moveTo>
                  <a:cubicBezTo>
                    <a:pt x="0" y="209677"/>
                    <a:pt x="209677" y="0"/>
                    <a:pt x="468249" y="0"/>
                  </a:cubicBezTo>
                  <a:lnTo>
                    <a:pt x="9042654" y="0"/>
                  </a:lnTo>
                  <a:cubicBezTo>
                    <a:pt x="9301226" y="0"/>
                    <a:pt x="9510903" y="209677"/>
                    <a:pt x="9510903" y="468249"/>
                  </a:cubicBezTo>
                  <a:lnTo>
                    <a:pt x="9510903" y="7336409"/>
                  </a:lnTo>
                  <a:cubicBezTo>
                    <a:pt x="9510903" y="7594981"/>
                    <a:pt x="9301226" y="7804658"/>
                    <a:pt x="9042654" y="7804658"/>
                  </a:cubicBezTo>
                  <a:lnTo>
                    <a:pt x="468249" y="7804658"/>
                  </a:lnTo>
                  <a:cubicBezTo>
                    <a:pt x="209677" y="7804658"/>
                    <a:pt x="0" y="7594981"/>
                    <a:pt x="0" y="7336409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5578278" y="1531287"/>
            <a:ext cx="7120509" cy="448447"/>
            <a:chOff x="0" y="0"/>
            <a:chExt cx="9494012" cy="5979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494012" cy="597916"/>
            </a:xfrm>
            <a:custGeom>
              <a:avLst/>
              <a:gdLst/>
              <a:ahLst/>
              <a:cxnLst/>
              <a:rect r="r" b="b" t="t" l="l"/>
              <a:pathLst>
                <a:path h="597916" w="9494012">
                  <a:moveTo>
                    <a:pt x="0" y="0"/>
                  </a:moveTo>
                  <a:lnTo>
                    <a:pt x="9494012" y="0"/>
                  </a:lnTo>
                  <a:lnTo>
                    <a:pt x="9494012" y="597916"/>
                  </a:lnTo>
                  <a:lnTo>
                    <a:pt x="0" y="597916"/>
                  </a:lnTo>
                  <a:close/>
                </a:path>
              </a:pathLst>
            </a:custGeom>
            <a:solidFill>
              <a:srgbClr val="1A4F87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5775160" y="1582102"/>
            <a:ext cx="6781438" cy="35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Example Use Case: Illegal Mining Detection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5632971" y="2034426"/>
            <a:ext cx="3456346" cy="4604814"/>
            <a:chOff x="0" y="0"/>
            <a:chExt cx="4608462" cy="6139752"/>
          </a:xfrm>
        </p:grpSpPr>
        <p:sp>
          <p:nvSpPr>
            <p:cNvPr name="Freeform 66" id="66" descr="ci_left.png"/>
            <p:cNvSpPr/>
            <p:nvPr/>
          </p:nvSpPr>
          <p:spPr>
            <a:xfrm flipH="false" flipV="false" rot="0">
              <a:off x="0" y="0"/>
              <a:ext cx="4608449" cy="6139688"/>
            </a:xfrm>
            <a:custGeom>
              <a:avLst/>
              <a:gdLst/>
              <a:ahLst/>
              <a:cxnLst/>
              <a:rect r="r" b="b" t="t" l="l"/>
              <a:pathLst>
                <a:path h="6139688" w="4608449">
                  <a:moveTo>
                    <a:pt x="0" y="0"/>
                  </a:moveTo>
                  <a:lnTo>
                    <a:pt x="4608449" y="0"/>
                  </a:lnTo>
                  <a:lnTo>
                    <a:pt x="4608449" y="6139688"/>
                  </a:lnTo>
                  <a:lnTo>
                    <a:pt x="0" y="6139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44000" y="2034426"/>
            <a:ext cx="3500095" cy="4604814"/>
            <a:chOff x="0" y="0"/>
            <a:chExt cx="4666793" cy="6139752"/>
          </a:xfrm>
        </p:grpSpPr>
        <p:sp>
          <p:nvSpPr>
            <p:cNvPr name="Freeform 68" id="68" descr="ci_right.png"/>
            <p:cNvSpPr/>
            <p:nvPr/>
          </p:nvSpPr>
          <p:spPr>
            <a:xfrm flipH="false" flipV="false" rot="0">
              <a:off x="0" y="0"/>
              <a:ext cx="4666742" cy="6139688"/>
            </a:xfrm>
            <a:custGeom>
              <a:avLst/>
              <a:gdLst/>
              <a:ahLst/>
              <a:cxnLst/>
              <a:rect r="r" b="b" t="t" l="l"/>
              <a:pathLst>
                <a:path h="6139688" w="4666742">
                  <a:moveTo>
                    <a:pt x="0" y="0"/>
                  </a:moveTo>
                  <a:lnTo>
                    <a:pt x="4666742" y="0"/>
                  </a:lnTo>
                  <a:lnTo>
                    <a:pt x="4666742" y="6139688"/>
                  </a:lnTo>
                  <a:lnTo>
                    <a:pt x="0" y="6139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753281" y="6759559"/>
            <a:ext cx="262509" cy="350006"/>
            <a:chOff x="0" y="0"/>
            <a:chExt cx="350012" cy="466674"/>
          </a:xfrm>
        </p:grpSpPr>
        <p:sp>
          <p:nvSpPr>
            <p:cNvPr name="Freeform 70" id="70" descr="pin.png"/>
            <p:cNvSpPr/>
            <p:nvPr/>
          </p:nvSpPr>
          <p:spPr>
            <a:xfrm flipH="false" flipV="false" rot="0">
              <a:off x="0" y="0"/>
              <a:ext cx="350012" cy="466725"/>
            </a:xfrm>
            <a:custGeom>
              <a:avLst/>
              <a:gdLst/>
              <a:ahLst/>
              <a:cxnLst/>
              <a:rect r="r" b="b" t="t" l="l"/>
              <a:pathLst>
                <a:path h="466725" w="350012">
                  <a:moveTo>
                    <a:pt x="0" y="0"/>
                  </a:moveTo>
                  <a:lnTo>
                    <a:pt x="350012" y="0"/>
                  </a:lnTo>
                  <a:lnTo>
                    <a:pt x="350012" y="466725"/>
                  </a:lnTo>
                  <a:lnTo>
                    <a:pt x="0" y="4667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10"/>
              </a:stretch>
            </a:blip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6081417" y="6754273"/>
            <a:ext cx="6562677" cy="34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Location: 24.7802° N, 92.9376° E</a:t>
            </a:r>
            <a:r>
              <a:rPr lang="en-US" sz="1200">
                <a:solidFill>
                  <a:srgbClr val="92A6C6"/>
                </a:solidFill>
                <a:latin typeface="Arial"/>
                <a:ea typeface="Arial"/>
                <a:cs typeface="Arial"/>
                <a:sym typeface="Arial"/>
              </a:rPr>
              <a:t>   |   </a:t>
            </a: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Change Type: Mining Activity</a:t>
            </a:r>
            <a:r>
              <a:rPr lang="en-US" sz="1200">
                <a:solidFill>
                  <a:srgbClr val="92A6C6"/>
                </a:solidFill>
                <a:latin typeface="Arial"/>
                <a:ea typeface="Arial"/>
                <a:cs typeface="Arial"/>
                <a:sym typeface="Arial"/>
              </a:rPr>
              <a:t>   |   </a:t>
            </a: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Earliest Date: Oct 2024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2878381" y="1470250"/>
            <a:ext cx="5109715" cy="5853484"/>
            <a:chOff x="0" y="0"/>
            <a:chExt cx="6812953" cy="780464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813042" cy="7804658"/>
            </a:xfrm>
            <a:custGeom>
              <a:avLst/>
              <a:gdLst/>
              <a:ahLst/>
              <a:cxnLst/>
              <a:rect r="r" b="b" t="t" l="l"/>
              <a:pathLst>
                <a:path h="7804658" w="6813042">
                  <a:moveTo>
                    <a:pt x="0" y="408813"/>
                  </a:moveTo>
                  <a:cubicBezTo>
                    <a:pt x="0" y="183007"/>
                    <a:pt x="183007" y="0"/>
                    <a:pt x="408813" y="0"/>
                  </a:cubicBezTo>
                  <a:lnTo>
                    <a:pt x="6404229" y="0"/>
                  </a:lnTo>
                  <a:cubicBezTo>
                    <a:pt x="6630035" y="0"/>
                    <a:pt x="6813042" y="183007"/>
                    <a:pt x="6813042" y="408813"/>
                  </a:cubicBezTo>
                  <a:lnTo>
                    <a:pt x="6813042" y="7395845"/>
                  </a:lnTo>
                  <a:cubicBezTo>
                    <a:pt x="6813042" y="7621651"/>
                    <a:pt x="6630035" y="7804658"/>
                    <a:pt x="6404229" y="7804658"/>
                  </a:cubicBezTo>
                  <a:lnTo>
                    <a:pt x="408813" y="7804658"/>
                  </a:lnTo>
                  <a:cubicBezTo>
                    <a:pt x="183007" y="7804658"/>
                    <a:pt x="0" y="7621651"/>
                    <a:pt x="0" y="7395845"/>
                  </a:cubicBezTo>
                  <a:close/>
                </a:path>
              </a:pathLst>
            </a:custGeom>
            <a:solidFill>
              <a:srgbClr val="E9F4FD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906604" y="1531287"/>
            <a:ext cx="5053260" cy="448447"/>
            <a:chOff x="0" y="0"/>
            <a:chExt cx="6737680" cy="59792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737731" cy="597916"/>
            </a:xfrm>
            <a:custGeom>
              <a:avLst/>
              <a:gdLst/>
              <a:ahLst/>
              <a:cxnLst/>
              <a:rect r="r" b="b" t="t" l="l"/>
              <a:pathLst>
                <a:path h="597916" w="6737731">
                  <a:moveTo>
                    <a:pt x="0" y="0"/>
                  </a:moveTo>
                  <a:lnTo>
                    <a:pt x="6737731" y="0"/>
                  </a:lnTo>
                  <a:lnTo>
                    <a:pt x="6737731" y="597916"/>
                  </a:lnTo>
                  <a:lnTo>
                    <a:pt x="0" y="597916"/>
                  </a:lnTo>
                  <a:close/>
                </a:path>
              </a:pathLst>
            </a:custGeom>
            <a:solidFill>
              <a:srgbClr val="D5E9FD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3070672" y="1591627"/>
            <a:ext cx="4703254" cy="344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8"/>
              </a:lnSpc>
            </a:pPr>
            <a:r>
              <a:rPr lang="en-US" sz="1449" b="true">
                <a:solidFill>
                  <a:srgbClr val="000088"/>
                </a:solidFill>
                <a:latin typeface="Arial Bold"/>
                <a:ea typeface="Arial Bold"/>
                <a:cs typeface="Arial Bold"/>
                <a:sym typeface="Arial Bold"/>
              </a:rPr>
              <a:t>VALUE FOR KEY STAKEHOLDERS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3059727" y="2078184"/>
            <a:ext cx="842210" cy="864089"/>
            <a:chOff x="0" y="0"/>
            <a:chExt cx="1122947" cy="1152119"/>
          </a:xfrm>
        </p:grpSpPr>
        <p:sp>
          <p:nvSpPr>
            <p:cNvPr name="Freeform 78" id="78" descr="rp_icon0.png"/>
            <p:cNvSpPr/>
            <p:nvPr/>
          </p:nvSpPr>
          <p:spPr>
            <a:xfrm flipH="false" flipV="false" rot="0">
              <a:off x="0" y="0"/>
              <a:ext cx="1122934" cy="1152144"/>
            </a:xfrm>
            <a:custGeom>
              <a:avLst/>
              <a:gdLst/>
              <a:ahLst/>
              <a:cxnLst/>
              <a:rect r="r" b="b" t="t" l="l"/>
              <a:pathLst>
                <a:path h="1152144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52144"/>
                  </a:lnTo>
                  <a:lnTo>
                    <a:pt x="0" y="1152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2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4131633" y="2008680"/>
            <a:ext cx="3937606" cy="24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Defence &amp; Security Agencies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131633" y="2280714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Early detection of critical changes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4131633" y="2521344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Improved situational awareness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131633" y="2740104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Supports strategic planning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3059727" y="3259465"/>
            <a:ext cx="842210" cy="864089"/>
            <a:chOff x="0" y="0"/>
            <a:chExt cx="1122947" cy="1152119"/>
          </a:xfrm>
        </p:grpSpPr>
        <p:sp>
          <p:nvSpPr>
            <p:cNvPr name="Freeform 84" id="84" descr="rp_icon1.png"/>
            <p:cNvSpPr/>
            <p:nvPr/>
          </p:nvSpPr>
          <p:spPr>
            <a:xfrm flipH="false" flipV="false" rot="0">
              <a:off x="0" y="0"/>
              <a:ext cx="1122934" cy="1152144"/>
            </a:xfrm>
            <a:custGeom>
              <a:avLst/>
              <a:gdLst/>
              <a:ahLst/>
              <a:cxnLst/>
              <a:rect r="r" b="b" t="t" l="l"/>
              <a:pathLst>
                <a:path h="1152144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52144"/>
                  </a:lnTo>
                  <a:lnTo>
                    <a:pt x="0" y="1152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" b="2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4131633" y="3200905"/>
            <a:ext cx="3937606" cy="310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000088"/>
                </a:solidFill>
                <a:latin typeface="Arial Bold"/>
                <a:ea typeface="Arial Bold"/>
                <a:cs typeface="Arial Bold"/>
                <a:sym typeface="Arial Bold"/>
              </a:rPr>
              <a:t>Environment &amp; Forest Departments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131633" y="3494808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Monitor deforestation, mining and land use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4131633" y="3735438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Protect natural resources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4131633" y="3976068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Supports compliance and enforcement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059727" y="4561065"/>
            <a:ext cx="842210" cy="885958"/>
            <a:chOff x="0" y="0"/>
            <a:chExt cx="1122947" cy="1181278"/>
          </a:xfrm>
        </p:grpSpPr>
        <p:sp>
          <p:nvSpPr>
            <p:cNvPr name="Freeform 90" id="90" descr="rp_icon2.png"/>
            <p:cNvSpPr/>
            <p:nvPr/>
          </p:nvSpPr>
          <p:spPr>
            <a:xfrm flipH="false" flipV="false" rot="0">
              <a:off x="0" y="0"/>
              <a:ext cx="1122934" cy="1181227"/>
            </a:xfrm>
            <a:custGeom>
              <a:avLst/>
              <a:gdLst/>
              <a:ahLst/>
              <a:cxnLst/>
              <a:rect r="r" b="b" t="t" l="l"/>
              <a:pathLst>
                <a:path h="1181227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81227"/>
                  </a:lnTo>
                  <a:lnTo>
                    <a:pt x="0" y="11812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-4"/>
              </a:stretch>
            </a:blip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4131633" y="4513440"/>
            <a:ext cx="3937606" cy="24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Government &amp; Policy Makers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4131633" y="4829223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Data-driven infrastructure and urban planning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131633" y="5080787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Evidence for policy and regulation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131633" y="5321417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Cost-effective monitoring using open data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3059727" y="5972042"/>
            <a:ext cx="842210" cy="853145"/>
            <a:chOff x="0" y="0"/>
            <a:chExt cx="1122947" cy="1137526"/>
          </a:xfrm>
        </p:grpSpPr>
        <p:sp>
          <p:nvSpPr>
            <p:cNvPr name="Freeform 96" id="96" descr="rp_icon3.png"/>
            <p:cNvSpPr/>
            <p:nvPr/>
          </p:nvSpPr>
          <p:spPr>
            <a:xfrm flipH="false" flipV="false" rot="0">
              <a:off x="0" y="0"/>
              <a:ext cx="1122934" cy="1137539"/>
            </a:xfrm>
            <a:custGeom>
              <a:avLst/>
              <a:gdLst/>
              <a:ahLst/>
              <a:cxnLst/>
              <a:rect r="r" b="b" t="t" l="l"/>
              <a:pathLst>
                <a:path h="1137539" w="1122934">
                  <a:moveTo>
                    <a:pt x="0" y="0"/>
                  </a:moveTo>
                  <a:lnTo>
                    <a:pt x="1122934" y="0"/>
                  </a:lnTo>
                  <a:lnTo>
                    <a:pt x="1122934" y="1137539"/>
                  </a:lnTo>
                  <a:lnTo>
                    <a:pt x="0" y="1137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1" b="1"/>
              </a:stretch>
            </a:blip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4131633" y="5946286"/>
            <a:ext cx="3937606" cy="24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Researchers &amp; Analysts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4131633" y="6251134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Easy access to multi-temporal satellite insights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4131633" y="6491764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Reduces manual effort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131633" y="6743338"/>
            <a:ext cx="3828231" cy="300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Calibri (MS)"/>
                <a:ea typeface="Calibri (MS)"/>
                <a:cs typeface="Calibri (MS)"/>
                <a:sym typeface="Calibri (MS)"/>
              </a:rPr>
              <a:t>▪  Useful for academic and applied research</a:t>
            </a:r>
          </a:p>
        </p:txBody>
      </p:sp>
      <p:sp>
        <p:nvSpPr>
          <p:cNvPr name="AutoShape 101" id="101"/>
          <p:cNvSpPr/>
          <p:nvPr/>
        </p:nvSpPr>
        <p:spPr>
          <a:xfrm>
            <a:off x="13053383" y="3143746"/>
            <a:ext cx="4781581" cy="12685"/>
          </a:xfrm>
          <a:prstGeom prst="line">
            <a:avLst/>
          </a:prstGeom>
          <a:ln cap="rnd" w="9525">
            <a:solidFill>
              <a:srgbClr val="D2E3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2" id="102"/>
          <p:cNvSpPr/>
          <p:nvPr/>
        </p:nvSpPr>
        <p:spPr>
          <a:xfrm rot="9120">
            <a:off x="13053374" y="4425048"/>
            <a:ext cx="4781598" cy="0"/>
          </a:xfrm>
          <a:prstGeom prst="line">
            <a:avLst/>
          </a:prstGeom>
          <a:ln cap="rnd" w="9525">
            <a:solidFill>
              <a:srgbClr val="D2E3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3" id="103"/>
          <p:cNvSpPr/>
          <p:nvPr/>
        </p:nvSpPr>
        <p:spPr>
          <a:xfrm rot="9120">
            <a:off x="13053374" y="5803211"/>
            <a:ext cx="4781598" cy="0"/>
          </a:xfrm>
          <a:prstGeom prst="line">
            <a:avLst/>
          </a:prstGeom>
          <a:ln cap="rnd" w="9525">
            <a:solidFill>
              <a:srgbClr val="D2E3F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4" id="104"/>
          <p:cNvGrpSpPr/>
          <p:nvPr/>
        </p:nvGrpSpPr>
        <p:grpSpPr>
          <a:xfrm rot="0">
            <a:off x="7437701" y="7525207"/>
            <a:ext cx="4211050" cy="2110997"/>
            <a:chOff x="0" y="0"/>
            <a:chExt cx="5614734" cy="2814663"/>
          </a:xfrm>
        </p:grpSpPr>
        <p:sp>
          <p:nvSpPr>
            <p:cNvPr name="Freeform 105" id="105" descr="quote_bg.png"/>
            <p:cNvSpPr/>
            <p:nvPr/>
          </p:nvSpPr>
          <p:spPr>
            <a:xfrm flipH="false" flipV="false" rot="0">
              <a:off x="0" y="0"/>
              <a:ext cx="5614797" cy="2814626"/>
            </a:xfrm>
            <a:custGeom>
              <a:avLst/>
              <a:gdLst/>
              <a:ahLst/>
              <a:cxnLst/>
              <a:rect r="r" b="b" t="t" l="l"/>
              <a:pathLst>
                <a:path h="2814626" w="5614797">
                  <a:moveTo>
                    <a:pt x="0" y="0"/>
                  </a:moveTo>
                  <a:lnTo>
                    <a:pt x="5614797" y="0"/>
                  </a:lnTo>
                  <a:lnTo>
                    <a:pt x="5614797" y="2814626"/>
                  </a:lnTo>
                  <a:lnTo>
                    <a:pt x="0" y="281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" t="-2073" r="0" b="-2074"/>
              </a:stretch>
            </a:blipFill>
          </p:spPr>
        </p:sp>
      </p:grpSp>
      <p:sp>
        <p:nvSpPr>
          <p:cNvPr name="TextBox 106" id="106"/>
          <p:cNvSpPr txBox="true"/>
          <p:nvPr/>
        </p:nvSpPr>
        <p:spPr>
          <a:xfrm rot="0">
            <a:off x="8115843" y="7656824"/>
            <a:ext cx="437512" cy="51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6"/>
              </a:lnSpc>
            </a:pPr>
            <a:r>
              <a:rPr lang="en-US" sz="3000" b="true">
                <a:solidFill>
                  <a:srgbClr val="1B3A8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8279911" y="7713974"/>
            <a:ext cx="3500095" cy="1276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0"/>
              </a:lnSpc>
            </a:pPr>
            <a:r>
              <a:rPr lang="en-US" sz="1700" i="true">
                <a:solidFill>
                  <a:srgbClr val="1B3A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Actionable satellite intelligence</a:t>
            </a:r>
          </a:p>
          <a:p>
            <a:pPr algn="l">
              <a:lnSpc>
                <a:spcPts val="2060"/>
              </a:lnSpc>
            </a:pPr>
            <a:r>
              <a:rPr lang="en-US" sz="1700" i="true">
                <a:solidFill>
                  <a:srgbClr val="1B3A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enables proactive monitoring,</a:t>
            </a:r>
          </a:p>
          <a:p>
            <a:pPr algn="l">
              <a:lnSpc>
                <a:spcPts val="2060"/>
              </a:lnSpc>
            </a:pPr>
            <a:r>
              <a:rPr lang="en-US" sz="1700" i="true">
                <a:solidFill>
                  <a:srgbClr val="1B3A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stronger governance and</a:t>
            </a:r>
          </a:p>
          <a:p>
            <a:pPr algn="l">
              <a:lnSpc>
                <a:spcPts val="2060"/>
              </a:lnSpc>
            </a:pPr>
            <a:r>
              <a:rPr lang="en-US" sz="1700" i="true">
                <a:solidFill>
                  <a:srgbClr val="1B3A8C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 safer, more sustainable future.”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1708035" y="7453227"/>
            <a:ext cx="6258182" cy="2233070"/>
            <a:chOff x="0" y="0"/>
            <a:chExt cx="8344243" cy="297742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344281" cy="2977515"/>
            </a:xfrm>
            <a:custGeom>
              <a:avLst/>
              <a:gdLst/>
              <a:ahLst/>
              <a:cxnLst/>
              <a:rect r="r" b="b" t="t" l="l"/>
              <a:pathLst>
                <a:path h="2977515" w="8344281">
                  <a:moveTo>
                    <a:pt x="0" y="178689"/>
                  </a:moveTo>
                  <a:cubicBezTo>
                    <a:pt x="0" y="80010"/>
                    <a:pt x="80010" y="0"/>
                    <a:pt x="178689" y="0"/>
                  </a:cubicBezTo>
                  <a:lnTo>
                    <a:pt x="8165592" y="0"/>
                  </a:lnTo>
                  <a:cubicBezTo>
                    <a:pt x="8264272" y="0"/>
                    <a:pt x="8344281" y="80010"/>
                    <a:pt x="8344281" y="178689"/>
                  </a:cubicBezTo>
                  <a:lnTo>
                    <a:pt x="8344281" y="2798826"/>
                  </a:lnTo>
                  <a:cubicBezTo>
                    <a:pt x="8344281" y="2897505"/>
                    <a:pt x="8264272" y="2977515"/>
                    <a:pt x="8165592" y="2977515"/>
                  </a:cubicBezTo>
                  <a:lnTo>
                    <a:pt x="178689" y="2977515"/>
                  </a:lnTo>
                  <a:cubicBezTo>
                    <a:pt x="80010" y="2977388"/>
                    <a:pt x="0" y="2897505"/>
                    <a:pt x="0" y="2798826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5EFFC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1714378" y="7525207"/>
            <a:ext cx="6245485" cy="404698"/>
            <a:chOff x="0" y="0"/>
            <a:chExt cx="8327314" cy="53959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327263" cy="539623"/>
            </a:xfrm>
            <a:custGeom>
              <a:avLst/>
              <a:gdLst/>
              <a:ahLst/>
              <a:cxnLst/>
              <a:rect r="r" b="b" t="t" l="l"/>
              <a:pathLst>
                <a:path h="539623" w="8327263">
                  <a:moveTo>
                    <a:pt x="0" y="0"/>
                  </a:moveTo>
                  <a:lnTo>
                    <a:pt x="8327263" y="0"/>
                  </a:lnTo>
                  <a:lnTo>
                    <a:pt x="8327263" y="539623"/>
                  </a:lnTo>
                  <a:lnTo>
                    <a:pt x="0" y="539623"/>
                  </a:lnTo>
                  <a:close/>
                </a:path>
              </a:pathLst>
            </a:custGeom>
            <a:solidFill>
              <a:srgbClr val="1A4F87"/>
            </a:solidFill>
          </p:spPr>
        </p:sp>
      </p:grpSp>
      <p:sp>
        <p:nvSpPr>
          <p:cNvPr name="TextBox 112" id="112"/>
          <p:cNvSpPr txBox="true"/>
          <p:nvPr/>
        </p:nvSpPr>
        <p:spPr>
          <a:xfrm rot="0">
            <a:off x="11889391" y="7565079"/>
            <a:ext cx="4593879" cy="353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Our Impact in Numbers</a:t>
            </a:r>
            <a:r>
              <a:rPr lang="en-US" sz="12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(Illustrative)</a:t>
            </a:r>
          </a:p>
        </p:txBody>
      </p:sp>
      <p:grpSp>
        <p:nvGrpSpPr>
          <p:cNvPr name="Group 113" id="113"/>
          <p:cNvGrpSpPr/>
          <p:nvPr/>
        </p:nvGrpSpPr>
        <p:grpSpPr>
          <a:xfrm rot="0">
            <a:off x="12184704" y="7995533"/>
            <a:ext cx="503139" cy="579701"/>
            <a:chOff x="0" y="0"/>
            <a:chExt cx="670852" cy="772935"/>
          </a:xfrm>
        </p:grpSpPr>
        <p:sp>
          <p:nvSpPr>
            <p:cNvPr name="Freeform 114" id="114" descr="stat0.png"/>
            <p:cNvSpPr/>
            <p:nvPr/>
          </p:nvSpPr>
          <p:spPr>
            <a:xfrm flipH="false" flipV="false" rot="0">
              <a:off x="0" y="0"/>
              <a:ext cx="670814" cy="772922"/>
            </a:xfrm>
            <a:custGeom>
              <a:avLst/>
              <a:gdLst/>
              <a:ahLst/>
              <a:cxnLst/>
              <a:rect r="r" b="b" t="t" l="l"/>
              <a:pathLst>
                <a:path h="772922" w="670814">
                  <a:moveTo>
                    <a:pt x="0" y="0"/>
                  </a:moveTo>
                  <a:lnTo>
                    <a:pt x="670814" y="0"/>
                  </a:lnTo>
                  <a:lnTo>
                    <a:pt x="670814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5" b="-1"/>
              </a:stretch>
            </a:blipFill>
          </p:spPr>
        </p:sp>
      </p:grpSp>
      <p:sp>
        <p:nvSpPr>
          <p:cNvPr name="TextBox 115" id="115"/>
          <p:cNvSpPr txBox="true"/>
          <p:nvPr/>
        </p:nvSpPr>
        <p:spPr>
          <a:xfrm rot="0">
            <a:off x="11451879" y="8460572"/>
            <a:ext cx="1968798" cy="40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000" b="true">
                <a:solidFill>
                  <a:srgbClr val="000075"/>
                </a:solidFill>
                <a:latin typeface="Arial Bold"/>
                <a:ea typeface="Arial Bold"/>
                <a:cs typeface="Arial Bold"/>
                <a:sym typeface="Arial Bold"/>
              </a:rPr>
              <a:t>5–10×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397186" y="8832456"/>
            <a:ext cx="2078184" cy="9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Faster area</a:t>
            </a:r>
          </a:p>
          <a:p>
            <a:pPr algn="ctr">
              <a:lnSpc>
                <a:spcPts val="1778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</a:p>
        </p:txBody>
      </p:sp>
      <p:grpSp>
        <p:nvGrpSpPr>
          <p:cNvPr name="Group 117" id="117"/>
          <p:cNvGrpSpPr/>
          <p:nvPr/>
        </p:nvGrpSpPr>
        <p:grpSpPr>
          <a:xfrm rot="0">
            <a:off x="13639438" y="8017402"/>
            <a:ext cx="546887" cy="557832"/>
            <a:chOff x="0" y="0"/>
            <a:chExt cx="729183" cy="743776"/>
          </a:xfrm>
        </p:grpSpPr>
        <p:sp>
          <p:nvSpPr>
            <p:cNvPr name="Freeform 118" id="118" descr="stat1.png"/>
            <p:cNvSpPr/>
            <p:nvPr/>
          </p:nvSpPr>
          <p:spPr>
            <a:xfrm flipH="false" flipV="false" rot="0">
              <a:off x="0" y="0"/>
              <a:ext cx="729234" cy="743712"/>
            </a:xfrm>
            <a:custGeom>
              <a:avLst/>
              <a:gdLst/>
              <a:ahLst/>
              <a:cxnLst/>
              <a:rect r="r" b="b" t="t" l="l"/>
              <a:pathLst>
                <a:path h="743712" w="729234">
                  <a:moveTo>
                    <a:pt x="0" y="0"/>
                  </a:moveTo>
                  <a:lnTo>
                    <a:pt x="729234" y="0"/>
                  </a:lnTo>
                  <a:lnTo>
                    <a:pt x="729234" y="743712"/>
                  </a:lnTo>
                  <a:lnTo>
                    <a:pt x="0" y="743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6" b="-8"/>
              </a:stretch>
            </a:blipFill>
          </p:spPr>
        </p:sp>
      </p:grpSp>
      <p:sp>
        <p:nvSpPr>
          <p:cNvPr name="TextBox 119" id="119"/>
          <p:cNvSpPr txBox="true"/>
          <p:nvPr/>
        </p:nvSpPr>
        <p:spPr>
          <a:xfrm rot="0">
            <a:off x="12906604" y="8460572"/>
            <a:ext cx="1968798" cy="40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000" b="true">
                <a:solidFill>
                  <a:srgbClr val="000075"/>
                </a:solidFill>
                <a:latin typeface="Arial Bold"/>
                <a:ea typeface="Arial Bold"/>
                <a:cs typeface="Arial Bold"/>
                <a:sym typeface="Arial Bold"/>
              </a:rPr>
              <a:t>~60%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12851911" y="8832456"/>
            <a:ext cx="2078184" cy="9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Reduction in</a:t>
            </a:r>
          </a:p>
          <a:p>
            <a:pPr algn="ctr">
              <a:lnSpc>
                <a:spcPts val="1778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false alarms</a:t>
            </a:r>
          </a:p>
        </p:txBody>
      </p:sp>
      <p:grpSp>
        <p:nvGrpSpPr>
          <p:cNvPr name="Group 121" id="121"/>
          <p:cNvGrpSpPr/>
          <p:nvPr/>
        </p:nvGrpSpPr>
        <p:grpSpPr>
          <a:xfrm rot="0">
            <a:off x="15203538" y="7995533"/>
            <a:ext cx="426577" cy="568766"/>
            <a:chOff x="0" y="0"/>
            <a:chExt cx="568770" cy="758355"/>
          </a:xfrm>
        </p:grpSpPr>
        <p:sp>
          <p:nvSpPr>
            <p:cNvPr name="Freeform 122" id="122" descr="stat2.png"/>
            <p:cNvSpPr/>
            <p:nvPr/>
          </p:nvSpPr>
          <p:spPr>
            <a:xfrm flipH="false" flipV="false" rot="0">
              <a:off x="0" y="0"/>
              <a:ext cx="568706" cy="758317"/>
            </a:xfrm>
            <a:custGeom>
              <a:avLst/>
              <a:gdLst/>
              <a:ahLst/>
              <a:cxnLst/>
              <a:rect r="r" b="b" t="t" l="l"/>
              <a:pathLst>
                <a:path h="758317" w="568706">
                  <a:moveTo>
                    <a:pt x="0" y="0"/>
                  </a:moveTo>
                  <a:lnTo>
                    <a:pt x="568706" y="0"/>
                  </a:lnTo>
                  <a:lnTo>
                    <a:pt x="568706" y="758317"/>
                  </a:lnTo>
                  <a:lnTo>
                    <a:pt x="0" y="758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1" b="-4"/>
              </a:stretch>
            </a:blipFill>
          </p:spPr>
        </p:sp>
      </p:grpSp>
      <p:sp>
        <p:nvSpPr>
          <p:cNvPr name="TextBox 123" id="123"/>
          <p:cNvSpPr txBox="true"/>
          <p:nvPr/>
        </p:nvSpPr>
        <p:spPr>
          <a:xfrm rot="0">
            <a:off x="14426956" y="8460572"/>
            <a:ext cx="1968798" cy="40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4"/>
              </a:lnSpc>
            </a:pPr>
            <a:r>
              <a:rPr lang="en-US" sz="2000" b="true">
                <a:solidFill>
                  <a:srgbClr val="000075"/>
                </a:solidFill>
                <a:latin typeface="Arial Bold"/>
                <a:ea typeface="Arial Bold"/>
                <a:cs typeface="Arial Bold"/>
                <a:sym typeface="Arial Bold"/>
              </a:rPr>
              <a:t>100%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4372263" y="8832456"/>
            <a:ext cx="2078184" cy="91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Traceable</a:t>
            </a:r>
          </a:p>
          <a:p>
            <a:pPr algn="ctr">
              <a:lnSpc>
                <a:spcPts val="1778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16691077" y="7995533"/>
            <a:ext cx="568766" cy="579701"/>
            <a:chOff x="0" y="0"/>
            <a:chExt cx="758355" cy="772935"/>
          </a:xfrm>
        </p:grpSpPr>
        <p:sp>
          <p:nvSpPr>
            <p:cNvPr name="Freeform 126" id="126" descr="stat3.png"/>
            <p:cNvSpPr/>
            <p:nvPr/>
          </p:nvSpPr>
          <p:spPr>
            <a:xfrm flipH="false" flipV="false" rot="0">
              <a:off x="0" y="0"/>
              <a:ext cx="758317" cy="772922"/>
            </a:xfrm>
            <a:custGeom>
              <a:avLst/>
              <a:gdLst/>
              <a:ahLst/>
              <a:cxnLst/>
              <a:rect r="r" b="b" t="t" l="l"/>
              <a:pathLst>
                <a:path h="772922" w="758317">
                  <a:moveTo>
                    <a:pt x="0" y="0"/>
                  </a:moveTo>
                  <a:lnTo>
                    <a:pt x="758317" y="0"/>
                  </a:lnTo>
                  <a:lnTo>
                    <a:pt x="758317" y="772922"/>
                  </a:lnTo>
                  <a:lnTo>
                    <a:pt x="0" y="772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-5" b="-1"/>
              </a:stretch>
            </a:blipFill>
          </p:spPr>
        </p:sp>
      </p:grpSp>
      <p:sp>
        <p:nvSpPr>
          <p:cNvPr name="TextBox 127" id="127"/>
          <p:cNvSpPr txBox="true"/>
          <p:nvPr/>
        </p:nvSpPr>
        <p:spPr>
          <a:xfrm rot="0">
            <a:off x="16067627" y="8396354"/>
            <a:ext cx="1968798" cy="41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99" b="true">
                <a:solidFill>
                  <a:srgbClr val="000075"/>
                </a:solidFill>
                <a:latin typeface="Arial Bold"/>
                <a:ea typeface="Arial Bold"/>
                <a:cs typeface="Arial Bold"/>
                <a:sym typeface="Arial Bold"/>
              </a:rPr>
              <a:t>Long-term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6012935" y="8694506"/>
            <a:ext cx="2078184" cy="94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3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Support for</a:t>
            </a:r>
          </a:p>
          <a:p>
            <a:pPr algn="ctr">
              <a:lnSpc>
                <a:spcPts val="2043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sustainable</a:t>
            </a:r>
          </a:p>
          <a:p>
            <a:pPr algn="ctr">
              <a:lnSpc>
                <a:spcPts val="2043"/>
              </a:lnSpc>
            </a:pPr>
            <a:r>
              <a:rPr lang="en-US" sz="1299">
                <a:solidFill>
                  <a:srgbClr val="213989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</a:p>
        </p:txBody>
      </p:sp>
      <p:sp>
        <p:nvSpPr>
          <p:cNvPr name="AutoShape 129" id="129"/>
          <p:cNvSpPr/>
          <p:nvPr/>
        </p:nvSpPr>
        <p:spPr>
          <a:xfrm rot="5371080">
            <a:off x="12380681" y="8783755"/>
            <a:ext cx="1511227" cy="0"/>
          </a:xfrm>
          <a:prstGeom prst="line">
            <a:avLst/>
          </a:prstGeom>
          <a:ln cap="rnd" w="9525">
            <a:solidFill>
              <a:srgbClr val="D2E3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0" id="130"/>
          <p:cNvSpPr/>
          <p:nvPr/>
        </p:nvSpPr>
        <p:spPr>
          <a:xfrm rot="5371080">
            <a:off x="13901033" y="8783755"/>
            <a:ext cx="1511227" cy="0"/>
          </a:xfrm>
          <a:prstGeom prst="line">
            <a:avLst/>
          </a:prstGeom>
          <a:ln cap="rnd" w="9525">
            <a:solidFill>
              <a:srgbClr val="D2E3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1" id="131"/>
          <p:cNvSpPr/>
          <p:nvPr/>
        </p:nvSpPr>
        <p:spPr>
          <a:xfrm rot="5371080">
            <a:off x="15421385" y="8783755"/>
            <a:ext cx="1511227" cy="0"/>
          </a:xfrm>
          <a:prstGeom prst="line">
            <a:avLst/>
          </a:prstGeom>
          <a:ln cap="rnd" w="9525">
            <a:solidFill>
              <a:srgbClr val="D2E3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2" id="132"/>
          <p:cNvSpPr txBox="true"/>
          <p:nvPr/>
        </p:nvSpPr>
        <p:spPr>
          <a:xfrm rot="0">
            <a:off x="475488" y="438150"/>
            <a:ext cx="31089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 i="true" u="sng">
                <a:solidFill>
                  <a:srgbClr val="40404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HeisenBug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68" r="0" b="-167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3798307" y="3100930"/>
            <a:ext cx="3460993" cy="365303"/>
            <a:chOff x="0" y="0"/>
            <a:chExt cx="911537" cy="96211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911537" cy="96211"/>
            </a:xfrm>
            <a:custGeom>
              <a:avLst/>
              <a:gdLst/>
              <a:ahLst/>
              <a:cxnLst/>
              <a:rect r="r" b="b" t="t" l="l"/>
              <a:pathLst>
                <a:path h="96211" w="911537">
                  <a:moveTo>
                    <a:pt x="0" y="0"/>
                  </a:moveTo>
                  <a:lnTo>
                    <a:pt x="911537" y="0"/>
                  </a:lnTo>
                  <a:lnTo>
                    <a:pt x="911537" y="96211"/>
                  </a:lnTo>
                  <a:lnTo>
                    <a:pt x="0" y="96211"/>
                  </a:lnTo>
                  <a:close/>
                </a:path>
              </a:pathLst>
            </a:custGeom>
            <a:solidFill>
              <a:srgbClr val="E9F4FD"/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19050"/>
              <a:ext cx="911537" cy="115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60"/>
                </a:lnSpc>
              </a:pPr>
              <a:r>
                <a:rPr lang="en-US" b="true" sz="1299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Environment &amp; Forest Departments</a:t>
              </a:r>
            </a:p>
          </p:txBody>
        </p:sp>
      </p:grpSp>
      <p:sp>
        <p:nvSpPr>
          <p:cNvPr name="Freeform 138" id="138"/>
          <p:cNvSpPr/>
          <p:nvPr/>
        </p:nvSpPr>
        <p:spPr>
          <a:xfrm flipH="false" flipV="false" rot="0">
            <a:off x="317021" y="7448464"/>
            <a:ext cx="7033355" cy="2242661"/>
          </a:xfrm>
          <a:custGeom>
            <a:avLst/>
            <a:gdLst/>
            <a:ahLst/>
            <a:cxnLst/>
            <a:rect r="r" b="b" t="t" l="l"/>
            <a:pathLst>
              <a:path h="2242661" w="7033355">
                <a:moveTo>
                  <a:pt x="0" y="0"/>
                </a:moveTo>
                <a:lnTo>
                  <a:pt x="7033355" y="0"/>
                </a:lnTo>
                <a:lnTo>
                  <a:pt x="7033355" y="2242662"/>
                </a:lnTo>
                <a:lnTo>
                  <a:pt x="0" y="224266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9" id="139"/>
          <p:cNvGrpSpPr/>
          <p:nvPr/>
        </p:nvGrpSpPr>
        <p:grpSpPr>
          <a:xfrm rot="0">
            <a:off x="328136" y="7525207"/>
            <a:ext cx="7011162" cy="404717"/>
            <a:chOff x="0" y="0"/>
            <a:chExt cx="9348216" cy="539623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348216" cy="539623"/>
            </a:xfrm>
            <a:custGeom>
              <a:avLst/>
              <a:gdLst/>
              <a:ahLst/>
              <a:cxnLst/>
              <a:rect r="r" b="b" t="t" l="l"/>
              <a:pathLst>
                <a:path h="539623" w="9348216">
                  <a:moveTo>
                    <a:pt x="0" y="0"/>
                  </a:moveTo>
                  <a:lnTo>
                    <a:pt x="9348216" y="0"/>
                  </a:lnTo>
                  <a:lnTo>
                    <a:pt x="9348216" y="539623"/>
                  </a:lnTo>
                  <a:lnTo>
                    <a:pt x="0" y="539623"/>
                  </a:lnTo>
                  <a:close/>
                </a:path>
              </a:pathLst>
            </a:custGeom>
            <a:solidFill>
              <a:srgbClr val="1A4F87"/>
            </a:solidFill>
          </p:spPr>
        </p:sp>
      </p:grpSp>
      <p:sp>
        <p:nvSpPr>
          <p:cNvPr name="TextBox 141" id="141"/>
          <p:cNvSpPr txBox="true"/>
          <p:nvPr/>
        </p:nvSpPr>
        <p:spPr>
          <a:xfrm rot="0">
            <a:off x="525018" y="7517454"/>
            <a:ext cx="4375118" cy="401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4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Real-World Applications</a:t>
            </a:r>
          </a:p>
        </p:txBody>
      </p:sp>
      <p:grpSp>
        <p:nvGrpSpPr>
          <p:cNvPr name="Group 142" id="142"/>
          <p:cNvGrpSpPr/>
          <p:nvPr/>
        </p:nvGrpSpPr>
        <p:grpSpPr>
          <a:xfrm rot="0">
            <a:off x="415633" y="7995533"/>
            <a:ext cx="1586008" cy="940689"/>
            <a:chOff x="0" y="0"/>
            <a:chExt cx="2114677" cy="1254252"/>
          </a:xfrm>
        </p:grpSpPr>
        <p:sp>
          <p:nvSpPr>
            <p:cNvPr name="Freeform 143" id="143" descr="app0.png"/>
            <p:cNvSpPr/>
            <p:nvPr/>
          </p:nvSpPr>
          <p:spPr>
            <a:xfrm flipH="false" flipV="false" rot="0">
              <a:off x="0" y="0"/>
              <a:ext cx="2114677" cy="1254252"/>
            </a:xfrm>
            <a:custGeom>
              <a:avLst/>
              <a:gdLst/>
              <a:ahLst/>
              <a:cxnLst/>
              <a:rect r="r" b="b" t="t" l="l"/>
              <a:pathLst>
                <a:path h="1254252" w="2114677">
                  <a:moveTo>
                    <a:pt x="0" y="0"/>
                  </a:moveTo>
                  <a:lnTo>
                    <a:pt x="2114677" y="0"/>
                  </a:lnTo>
                  <a:lnTo>
                    <a:pt x="2114677" y="1254252"/>
                  </a:lnTo>
                  <a:lnTo>
                    <a:pt x="0" y="1254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-1" t="0" r="-1" b="0"/>
              </a:stretch>
            </a:blipFill>
          </p:spPr>
        </p:sp>
      </p:grpSp>
      <p:sp>
        <p:nvSpPr>
          <p:cNvPr name="TextBox 144" id="144"/>
          <p:cNvSpPr txBox="true"/>
          <p:nvPr/>
        </p:nvSpPr>
        <p:spPr>
          <a:xfrm rot="0">
            <a:off x="169535" y="8882424"/>
            <a:ext cx="2078184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Infrastructure Monitoring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114843" y="9188110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Track new roads, bridges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14843" y="9363123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and construction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2154745" y="7995533"/>
            <a:ext cx="1564100" cy="940689"/>
            <a:chOff x="0" y="0"/>
            <a:chExt cx="2085467" cy="1254252"/>
          </a:xfrm>
        </p:grpSpPr>
        <p:sp>
          <p:nvSpPr>
            <p:cNvPr name="Freeform 148" id="148" descr="app1.png"/>
            <p:cNvSpPr/>
            <p:nvPr/>
          </p:nvSpPr>
          <p:spPr>
            <a:xfrm flipH="false" flipV="false" rot="0">
              <a:off x="0" y="0"/>
              <a:ext cx="2085467" cy="1254252"/>
            </a:xfrm>
            <a:custGeom>
              <a:avLst/>
              <a:gdLst/>
              <a:ahLst/>
              <a:cxnLst/>
              <a:rect r="r" b="b" t="t" l="l"/>
              <a:pathLst>
                <a:path h="1254252" w="2085467">
                  <a:moveTo>
                    <a:pt x="0" y="0"/>
                  </a:moveTo>
                  <a:lnTo>
                    <a:pt x="2085467" y="0"/>
                  </a:lnTo>
                  <a:lnTo>
                    <a:pt x="2085467" y="1254252"/>
                  </a:lnTo>
                  <a:lnTo>
                    <a:pt x="0" y="1254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2" t="0" r="-1" b="0"/>
              </a:stretch>
            </a:blipFill>
          </p:spPr>
        </p:sp>
      </p:grpSp>
      <p:sp>
        <p:nvSpPr>
          <p:cNvPr name="TextBox 149" id="149"/>
          <p:cNvSpPr txBox="true"/>
          <p:nvPr/>
        </p:nvSpPr>
        <p:spPr>
          <a:xfrm rot="0">
            <a:off x="1897704" y="8882424"/>
            <a:ext cx="2078184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Coastal Change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897704" y="9189129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Monitor shoreline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910420" y="9363123"/>
            <a:ext cx="2187559" cy="21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changes and encroachments</a:t>
            </a:r>
          </a:p>
        </p:txBody>
      </p:sp>
      <p:grpSp>
        <p:nvGrpSpPr>
          <p:cNvPr name="Group 152" id="152"/>
          <p:cNvGrpSpPr/>
          <p:nvPr/>
        </p:nvGrpSpPr>
        <p:grpSpPr>
          <a:xfrm rot="0">
            <a:off x="3882914" y="7995533"/>
            <a:ext cx="1564100" cy="940689"/>
            <a:chOff x="0" y="0"/>
            <a:chExt cx="2085467" cy="1254252"/>
          </a:xfrm>
        </p:grpSpPr>
        <p:sp>
          <p:nvSpPr>
            <p:cNvPr name="Freeform 153" id="153" descr="app2.png"/>
            <p:cNvSpPr/>
            <p:nvPr/>
          </p:nvSpPr>
          <p:spPr>
            <a:xfrm flipH="false" flipV="false" rot="0">
              <a:off x="0" y="0"/>
              <a:ext cx="2085467" cy="1254252"/>
            </a:xfrm>
            <a:custGeom>
              <a:avLst/>
              <a:gdLst/>
              <a:ahLst/>
              <a:cxnLst/>
              <a:rect r="r" b="b" t="t" l="l"/>
              <a:pathLst>
                <a:path h="1254252" w="2085467">
                  <a:moveTo>
                    <a:pt x="0" y="0"/>
                  </a:moveTo>
                  <a:lnTo>
                    <a:pt x="2085467" y="0"/>
                  </a:lnTo>
                  <a:lnTo>
                    <a:pt x="2085467" y="1254252"/>
                  </a:lnTo>
                  <a:lnTo>
                    <a:pt x="0" y="1254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2" t="0" r="-1" b="0"/>
              </a:stretch>
            </a:blipFill>
          </p:spPr>
        </p:sp>
      </p:grpSp>
      <p:sp>
        <p:nvSpPr>
          <p:cNvPr name="TextBox 154" id="154"/>
          <p:cNvSpPr txBox="true"/>
          <p:nvPr/>
        </p:nvSpPr>
        <p:spPr>
          <a:xfrm rot="0">
            <a:off x="3625882" y="8882424"/>
            <a:ext cx="2078184" cy="2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Deforestation Monitoring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3571189" y="9188110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Detect illegal logging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3571189" y="9374057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and forest loss</a:t>
            </a:r>
          </a:p>
        </p:txBody>
      </p:sp>
      <p:grpSp>
        <p:nvGrpSpPr>
          <p:cNvPr name="Group 157" id="157"/>
          <p:cNvGrpSpPr/>
          <p:nvPr/>
        </p:nvGrpSpPr>
        <p:grpSpPr>
          <a:xfrm rot="0">
            <a:off x="5643905" y="7995533"/>
            <a:ext cx="1553146" cy="940689"/>
            <a:chOff x="0" y="0"/>
            <a:chExt cx="2070862" cy="1254252"/>
          </a:xfrm>
        </p:grpSpPr>
        <p:sp>
          <p:nvSpPr>
            <p:cNvPr name="Freeform 158" id="158" descr="app3.png"/>
            <p:cNvSpPr/>
            <p:nvPr/>
          </p:nvSpPr>
          <p:spPr>
            <a:xfrm flipH="false" flipV="false" rot="0">
              <a:off x="0" y="0"/>
              <a:ext cx="2070862" cy="1254252"/>
            </a:xfrm>
            <a:custGeom>
              <a:avLst/>
              <a:gdLst/>
              <a:ahLst/>
              <a:cxnLst/>
              <a:rect r="r" b="b" t="t" l="l"/>
              <a:pathLst>
                <a:path h="1254252" w="2070862">
                  <a:moveTo>
                    <a:pt x="0" y="0"/>
                  </a:moveTo>
                  <a:lnTo>
                    <a:pt x="2070862" y="0"/>
                  </a:lnTo>
                  <a:lnTo>
                    <a:pt x="2070862" y="1254252"/>
                  </a:lnTo>
                  <a:lnTo>
                    <a:pt x="0" y="12542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-2" t="0" r="-3" b="0"/>
              </a:stretch>
            </a:blipFill>
          </p:spPr>
        </p:sp>
      </p:grpSp>
      <p:sp>
        <p:nvSpPr>
          <p:cNvPr name="TextBox 159" id="159"/>
          <p:cNvSpPr txBox="true"/>
          <p:nvPr/>
        </p:nvSpPr>
        <p:spPr>
          <a:xfrm rot="0">
            <a:off x="5381396" y="8882424"/>
            <a:ext cx="2078184" cy="25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</a:pPr>
            <a:r>
              <a:rPr lang="en-US" sz="1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Industrial Expansion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5326704" y="9179604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Track new facilities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5326704" y="9363123"/>
            <a:ext cx="2187559" cy="31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>
                <a:solidFill>
                  <a:srgbClr val="2A3A66"/>
                </a:solidFill>
                <a:latin typeface="Arial"/>
                <a:ea typeface="Arial"/>
                <a:cs typeface="Arial"/>
                <a:sym typeface="Arial"/>
              </a:rPr>
              <a:t>and urban growth</a:t>
            </a:r>
          </a:p>
        </p:txBody>
      </p:sp>
      <p:grpSp>
        <p:nvGrpSpPr>
          <p:cNvPr name="Group 162" id="162"/>
          <p:cNvGrpSpPr/>
          <p:nvPr/>
        </p:nvGrpSpPr>
        <p:grpSpPr>
          <a:xfrm rot="0">
            <a:off x="0" y="9647139"/>
            <a:ext cx="18288000" cy="645328"/>
            <a:chOff x="0" y="0"/>
            <a:chExt cx="24384000" cy="860438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24384000" cy="860425"/>
            </a:xfrm>
            <a:custGeom>
              <a:avLst/>
              <a:gdLst/>
              <a:ahLst/>
              <a:cxnLst/>
              <a:rect r="r" b="b" t="t" l="l"/>
              <a:pathLst>
                <a:path h="8604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0425"/>
                  </a:lnTo>
                  <a:lnTo>
                    <a:pt x="0" y="860425"/>
                  </a:lnTo>
                  <a:close/>
                </a:path>
              </a:pathLst>
            </a:custGeom>
            <a:solidFill>
              <a:srgbClr val="086FC5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6026" y="820645"/>
            <a:ext cx="11754241" cy="33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99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Key research, datasets and standards that support our approach.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30108" y="1686782"/>
            <a:ext cx="5830129" cy="5971222"/>
            <a:chOff x="0" y="0"/>
            <a:chExt cx="7773505" cy="79616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73415" cy="7961630"/>
            </a:xfrm>
            <a:custGeom>
              <a:avLst/>
              <a:gdLst/>
              <a:ahLst/>
              <a:cxnLst/>
              <a:rect r="r" b="b" t="t" l="l"/>
              <a:pathLst>
                <a:path h="7961630" w="7773415">
                  <a:moveTo>
                    <a:pt x="0" y="388620"/>
                  </a:moveTo>
                  <a:cubicBezTo>
                    <a:pt x="0" y="173990"/>
                    <a:pt x="173990" y="0"/>
                    <a:pt x="388620" y="0"/>
                  </a:cubicBezTo>
                  <a:lnTo>
                    <a:pt x="7384796" y="0"/>
                  </a:lnTo>
                  <a:cubicBezTo>
                    <a:pt x="7599426" y="0"/>
                    <a:pt x="7773415" y="173990"/>
                    <a:pt x="7773415" y="388620"/>
                  </a:cubicBezTo>
                  <a:lnTo>
                    <a:pt x="7773415" y="7573010"/>
                  </a:lnTo>
                  <a:cubicBezTo>
                    <a:pt x="7773415" y="7787640"/>
                    <a:pt x="7599426" y="7961630"/>
                    <a:pt x="7384796" y="7961630"/>
                  </a:cubicBezTo>
                  <a:lnTo>
                    <a:pt x="388620" y="7961630"/>
                  </a:lnTo>
                  <a:cubicBezTo>
                    <a:pt x="173990" y="7961630"/>
                    <a:pt x="0" y="7787640"/>
                    <a:pt x="0" y="7573010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4F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07790" y="1855937"/>
            <a:ext cx="868270" cy="868270"/>
            <a:chOff x="0" y="0"/>
            <a:chExt cx="1157694" cy="11576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7732" cy="1157732"/>
            </a:xfrm>
            <a:custGeom>
              <a:avLst/>
              <a:gdLst/>
              <a:ahLst/>
              <a:cxnLst/>
              <a:rect r="r" b="b" t="t" l="l"/>
              <a:pathLst>
                <a:path h="1157732" w="1157732">
                  <a:moveTo>
                    <a:pt x="0" y="578866"/>
                  </a:moveTo>
                  <a:cubicBezTo>
                    <a:pt x="0" y="259207"/>
                    <a:pt x="259207" y="0"/>
                    <a:pt x="578866" y="0"/>
                  </a:cubicBezTo>
                  <a:cubicBezTo>
                    <a:pt x="898525" y="0"/>
                    <a:pt x="1157732" y="259207"/>
                    <a:pt x="1157732" y="578866"/>
                  </a:cubicBezTo>
                  <a:cubicBezTo>
                    <a:pt x="1157732" y="898525"/>
                    <a:pt x="898525" y="1157732"/>
                    <a:pt x="578866" y="1157732"/>
                  </a:cubicBezTo>
                  <a:cubicBezTo>
                    <a:pt x="259207" y="1157732"/>
                    <a:pt x="0" y="898525"/>
                    <a:pt x="0" y="578866"/>
                  </a:cubicBezTo>
                  <a:close/>
                </a:path>
              </a:pathLst>
            </a:custGeom>
            <a:solidFill>
              <a:srgbClr val="D6E5F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157694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2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58248" y="1842202"/>
            <a:ext cx="3191113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Methods We Implement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8248" y="2275008"/>
            <a:ext cx="4373928" cy="3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546383"/>
                </a:solidFill>
                <a:latin typeface="Arial"/>
                <a:ea typeface="Arial"/>
                <a:cs typeface="Arial"/>
                <a:sym typeface="Arial"/>
              </a:rPr>
              <a:t>Proven techniques adapted for real-world use.</a:t>
            </a:r>
          </a:p>
        </p:txBody>
      </p:sp>
      <p:sp>
        <p:nvSpPr>
          <p:cNvPr name="AutoShape 10" id="10"/>
          <p:cNvSpPr/>
          <p:nvPr/>
        </p:nvSpPr>
        <p:spPr>
          <a:xfrm rot="8280">
            <a:off x="601437" y="2838831"/>
            <a:ext cx="5287470" cy="0"/>
          </a:xfrm>
          <a:prstGeom prst="line">
            <a:avLst/>
          </a:prstGeom>
          <a:ln cap="rnd" w="9525">
            <a:solidFill>
              <a:srgbClr val="B9CF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727177" y="2980477"/>
            <a:ext cx="5274754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Continuous Change Detection (CCDC)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7177" y="3359020"/>
            <a:ext cx="5274754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Zhu &amp; Woodcock (2014) — our seasonal baseline method.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7177" y="3836565"/>
            <a:ext cx="533987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2" tooltip="https://doi.org/10.1016/j.rse.2014.01.011"/>
              </a:rPr>
              <a:t>https://doi.org/10.1016/j.rse.2014.01.011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7177" y="4619339"/>
            <a:ext cx="5274754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RemoteCLIP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7177" y="4997882"/>
            <a:ext cx="5274754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Vision-language model behind our semantic search.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7177" y="5388607"/>
            <a:ext cx="533987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 tooltip="https://arxiv.org/abs/2306.11029"/>
              </a:rPr>
              <a:t>https://arxiv.org/abs/2306.11029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7177" y="6193088"/>
            <a:ext cx="5274754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ColBERT late interaction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7177" y="6571631"/>
            <a:ext cx="5274754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Reranking that keeps small targets from being pooled away.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7177" y="6984054"/>
            <a:ext cx="533987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 tooltip="https://arxiv.org/abs/2004.12832"/>
              </a:rPr>
              <a:t>https://arxiv.org/abs/2004.12832</a:t>
            </a:r>
          </a:p>
        </p:txBody>
      </p:sp>
      <p:sp>
        <p:nvSpPr>
          <p:cNvPr name="AutoShape 20" id="20"/>
          <p:cNvSpPr/>
          <p:nvPr/>
        </p:nvSpPr>
        <p:spPr>
          <a:xfrm rot="8280">
            <a:off x="601437" y="4466844"/>
            <a:ext cx="5287470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8280">
            <a:off x="601437" y="6073150"/>
            <a:ext cx="5287470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332039" y="1686782"/>
            <a:ext cx="5645620" cy="5971222"/>
            <a:chOff x="0" y="0"/>
            <a:chExt cx="7527493" cy="7961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27544" cy="7961630"/>
            </a:xfrm>
            <a:custGeom>
              <a:avLst/>
              <a:gdLst/>
              <a:ahLst/>
              <a:cxnLst/>
              <a:rect r="r" b="b" t="t" l="l"/>
              <a:pathLst>
                <a:path h="7961630" w="7527544">
                  <a:moveTo>
                    <a:pt x="0" y="376428"/>
                  </a:moveTo>
                  <a:cubicBezTo>
                    <a:pt x="0" y="168529"/>
                    <a:pt x="168529" y="0"/>
                    <a:pt x="376428" y="0"/>
                  </a:cubicBezTo>
                  <a:lnTo>
                    <a:pt x="7151116" y="0"/>
                  </a:lnTo>
                  <a:cubicBezTo>
                    <a:pt x="7359015" y="0"/>
                    <a:pt x="7527544" y="168529"/>
                    <a:pt x="7527544" y="376428"/>
                  </a:cubicBezTo>
                  <a:lnTo>
                    <a:pt x="7527544" y="7585202"/>
                  </a:lnTo>
                  <a:cubicBezTo>
                    <a:pt x="7527544" y="7793101"/>
                    <a:pt x="7359015" y="7961630"/>
                    <a:pt x="7151116" y="7961630"/>
                  </a:cubicBezTo>
                  <a:lnTo>
                    <a:pt x="376428" y="7961630"/>
                  </a:lnTo>
                  <a:cubicBezTo>
                    <a:pt x="168529" y="7961630"/>
                    <a:pt x="0" y="7793101"/>
                    <a:pt x="0" y="7585202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4F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598872" y="1855937"/>
            <a:ext cx="868270" cy="868270"/>
            <a:chOff x="0" y="0"/>
            <a:chExt cx="1157694" cy="11576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7732" cy="1157732"/>
            </a:xfrm>
            <a:custGeom>
              <a:avLst/>
              <a:gdLst/>
              <a:ahLst/>
              <a:cxnLst/>
              <a:rect r="r" b="b" t="t" l="l"/>
              <a:pathLst>
                <a:path h="1157732" w="1157732">
                  <a:moveTo>
                    <a:pt x="0" y="578866"/>
                  </a:moveTo>
                  <a:cubicBezTo>
                    <a:pt x="0" y="259207"/>
                    <a:pt x="259207" y="0"/>
                    <a:pt x="578866" y="0"/>
                  </a:cubicBezTo>
                  <a:cubicBezTo>
                    <a:pt x="898525" y="0"/>
                    <a:pt x="1157732" y="259207"/>
                    <a:pt x="1157732" y="578866"/>
                  </a:cubicBezTo>
                  <a:cubicBezTo>
                    <a:pt x="1157732" y="898525"/>
                    <a:pt x="898525" y="1157732"/>
                    <a:pt x="578866" y="1157732"/>
                  </a:cubicBezTo>
                  <a:cubicBezTo>
                    <a:pt x="259207" y="1157732"/>
                    <a:pt x="0" y="898525"/>
                    <a:pt x="0" y="578866"/>
                  </a:cubicBezTo>
                  <a:close/>
                </a:path>
              </a:pathLst>
            </a:custGeom>
            <a:solidFill>
              <a:srgbClr val="D6E5F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57694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2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792745" y="1842202"/>
            <a:ext cx="2667476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Data and Catalogue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92745" y="2275008"/>
            <a:ext cx="4156853" cy="3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599">
                <a:solidFill>
                  <a:srgbClr val="546383"/>
                </a:solidFill>
                <a:latin typeface="Arial"/>
                <a:ea typeface="Arial"/>
                <a:cs typeface="Arial"/>
                <a:sym typeface="Arial"/>
              </a:rPr>
              <a:t>Reliable and open satellite data sources.</a:t>
            </a:r>
          </a:p>
        </p:txBody>
      </p:sp>
      <p:sp>
        <p:nvSpPr>
          <p:cNvPr name="AutoShape 29" id="29"/>
          <p:cNvSpPr/>
          <p:nvPr/>
        </p:nvSpPr>
        <p:spPr>
          <a:xfrm rot="8580">
            <a:off x="6603368" y="2838831"/>
            <a:ext cx="5102962" cy="0"/>
          </a:xfrm>
          <a:prstGeom prst="line">
            <a:avLst/>
          </a:prstGeom>
          <a:ln cap="rnd" w="9525">
            <a:solidFill>
              <a:srgbClr val="B9CF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6772532" y="2980477"/>
            <a:ext cx="5046840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Copernicus Data Space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772532" y="3359020"/>
            <a:ext cx="5046840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Sentinel-2 optical and Sentinel-1 SAR —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72532" y="3641207"/>
            <a:ext cx="5046840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primary archive.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772532" y="4031933"/>
            <a:ext cx="5111953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5" tooltip="https://dataspace.copernicus.eu/"/>
              </a:rPr>
              <a:t>https://dataspace.copernicus.eu/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72532" y="4641047"/>
            <a:ext cx="5046840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USGS Landsat Collection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72532" y="5019589"/>
            <a:ext cx="5046840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30 m historical depth before the Sentinel era.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72532" y="5345192"/>
            <a:ext cx="5111953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6" tooltip="https://www.usgs.gov/landsat-missions/"/>
              </a:rPr>
              <a:t>https://www.usgs.gov/landsat-missions/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72532" y="5583965"/>
            <a:ext cx="5111953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landsat-collection-2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72532" y="6214796"/>
            <a:ext cx="5046840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OGC STAC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72532" y="6593338"/>
            <a:ext cx="5046840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Catalogue structure we implement.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72532" y="6984054"/>
            <a:ext cx="5111953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7" tooltip="https://www.ogc.org/standards/stac/"/>
              </a:rPr>
              <a:t>https://www.ogc.org/standards/stac/</a:t>
            </a:r>
          </a:p>
        </p:txBody>
      </p:sp>
      <p:sp>
        <p:nvSpPr>
          <p:cNvPr name="AutoShape 41" id="41"/>
          <p:cNvSpPr/>
          <p:nvPr/>
        </p:nvSpPr>
        <p:spPr>
          <a:xfrm rot="8580">
            <a:off x="6603368" y="4466844"/>
            <a:ext cx="5102962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rot="8580">
            <a:off x="6603368" y="6073150"/>
            <a:ext cx="5102962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2160329" y="1686782"/>
            <a:ext cx="5808421" cy="5971222"/>
            <a:chOff x="0" y="0"/>
            <a:chExt cx="7744562" cy="79616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744587" cy="7961630"/>
            </a:xfrm>
            <a:custGeom>
              <a:avLst/>
              <a:gdLst/>
              <a:ahLst/>
              <a:cxnLst/>
              <a:rect r="r" b="b" t="t" l="l"/>
              <a:pathLst>
                <a:path h="7961630" w="7744587">
                  <a:moveTo>
                    <a:pt x="0" y="387223"/>
                  </a:moveTo>
                  <a:cubicBezTo>
                    <a:pt x="0" y="173355"/>
                    <a:pt x="173355" y="0"/>
                    <a:pt x="387223" y="0"/>
                  </a:cubicBezTo>
                  <a:lnTo>
                    <a:pt x="7357364" y="0"/>
                  </a:lnTo>
                  <a:cubicBezTo>
                    <a:pt x="7571232" y="0"/>
                    <a:pt x="7744587" y="173355"/>
                    <a:pt x="7744587" y="387223"/>
                  </a:cubicBezTo>
                  <a:lnTo>
                    <a:pt x="7744587" y="7574407"/>
                  </a:lnTo>
                  <a:cubicBezTo>
                    <a:pt x="7744587" y="7788275"/>
                    <a:pt x="7571232" y="7961630"/>
                    <a:pt x="7357364" y="7961630"/>
                  </a:cubicBezTo>
                  <a:lnTo>
                    <a:pt x="387223" y="7961630"/>
                  </a:lnTo>
                  <a:cubicBezTo>
                    <a:pt x="173355" y="7961630"/>
                    <a:pt x="0" y="7788275"/>
                    <a:pt x="0" y="7574407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4F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459719" y="1855937"/>
            <a:ext cx="868270" cy="868270"/>
            <a:chOff x="0" y="0"/>
            <a:chExt cx="1157694" cy="11576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57732" cy="1157732"/>
            </a:xfrm>
            <a:custGeom>
              <a:avLst/>
              <a:gdLst/>
              <a:ahLst/>
              <a:cxnLst/>
              <a:rect r="r" b="b" t="t" l="l"/>
              <a:pathLst>
                <a:path h="1157732" w="1157732">
                  <a:moveTo>
                    <a:pt x="0" y="578866"/>
                  </a:moveTo>
                  <a:cubicBezTo>
                    <a:pt x="0" y="259207"/>
                    <a:pt x="259207" y="0"/>
                    <a:pt x="578866" y="0"/>
                  </a:cubicBezTo>
                  <a:cubicBezTo>
                    <a:pt x="898525" y="0"/>
                    <a:pt x="1157732" y="259207"/>
                    <a:pt x="1157732" y="578866"/>
                  </a:cubicBezTo>
                  <a:cubicBezTo>
                    <a:pt x="1157732" y="898525"/>
                    <a:pt x="898525" y="1157732"/>
                    <a:pt x="578866" y="1157732"/>
                  </a:cubicBezTo>
                  <a:cubicBezTo>
                    <a:pt x="259207" y="1157732"/>
                    <a:pt x="0" y="898525"/>
                    <a:pt x="0" y="578866"/>
                  </a:cubicBezTo>
                  <a:close/>
                </a:path>
              </a:pathLst>
            </a:custGeom>
            <a:solidFill>
              <a:srgbClr val="D6E5F9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157694" cy="11672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00002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631885" y="1842202"/>
            <a:ext cx="2953583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25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Evaluation and Policy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31885" y="2275008"/>
            <a:ext cx="4308805" cy="3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8"/>
              </a:lnSpc>
            </a:pPr>
            <a:r>
              <a:rPr lang="en-US" sz="1400">
                <a:solidFill>
                  <a:srgbClr val="546383"/>
                </a:solidFill>
                <a:latin typeface="Arial"/>
                <a:ea typeface="Arial"/>
                <a:cs typeface="Arial"/>
                <a:sym typeface="Arial"/>
              </a:rPr>
              <a:t>Benchmarks and guidelines for real-world impact.</a:t>
            </a:r>
          </a:p>
        </p:txBody>
      </p:sp>
      <p:sp>
        <p:nvSpPr>
          <p:cNvPr name="AutoShape 50" id="50"/>
          <p:cNvSpPr/>
          <p:nvPr/>
        </p:nvSpPr>
        <p:spPr>
          <a:xfrm rot="8280">
            <a:off x="12431649" y="2838831"/>
            <a:ext cx="5265763" cy="0"/>
          </a:xfrm>
          <a:prstGeom prst="line">
            <a:avLst/>
          </a:prstGeom>
          <a:ln cap="rnd" w="9525">
            <a:solidFill>
              <a:srgbClr val="B9CF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2622520" y="2991326"/>
            <a:ext cx="5187934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LEVIR-CD benchmark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622520" y="3369869"/>
            <a:ext cx="5187934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Public dataset we will measure against.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622520" y="3760594"/>
            <a:ext cx="525304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8" tooltip="https://chenhao.in/LEVIR/"/>
              </a:rPr>
              <a:t>https://chenhao.in/LEVIR/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622520" y="4575924"/>
            <a:ext cx="5187934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SIH26227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622520" y="4954467"/>
            <a:ext cx="5187934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Ministry of Defence, Indian Army (DGIS).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22520" y="5323484"/>
            <a:ext cx="525304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9" tooltip="https://sih.gov.in"/>
              </a:rPr>
              <a:t>https://sih.gov.in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622520" y="6193088"/>
            <a:ext cx="5187934" cy="30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7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National Geospatial Policy 2022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622520" y="6571631"/>
            <a:ext cx="5187934" cy="34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5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Restricted-area and licensing provisions.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622520" y="6984054"/>
            <a:ext cx="525304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7"/>
              </a:lnSpc>
            </a:pPr>
            <a:r>
              <a:rPr lang="en-US" sz="155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0" tooltip="https://dst.gov.in/geospatial"/>
              </a:rPr>
              <a:t>https://dst.gov.in/geospatial</a:t>
            </a:r>
          </a:p>
        </p:txBody>
      </p:sp>
      <p:sp>
        <p:nvSpPr>
          <p:cNvPr name="AutoShape 60" id="60"/>
          <p:cNvSpPr/>
          <p:nvPr/>
        </p:nvSpPr>
        <p:spPr>
          <a:xfrm>
            <a:off x="12431657" y="4465265"/>
            <a:ext cx="5265748" cy="12683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rot="8280">
            <a:off x="12431649" y="6073150"/>
            <a:ext cx="5265763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330108" y="7894930"/>
            <a:ext cx="17638643" cy="1423645"/>
            <a:chOff x="0" y="0"/>
            <a:chExt cx="23518190" cy="189819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3518113" cy="1898142"/>
            </a:xfrm>
            <a:custGeom>
              <a:avLst/>
              <a:gdLst/>
              <a:ahLst/>
              <a:cxnLst/>
              <a:rect r="r" b="b" t="t" l="l"/>
              <a:pathLst>
                <a:path h="1898142" w="23518113">
                  <a:moveTo>
                    <a:pt x="0" y="94869"/>
                  </a:moveTo>
                  <a:cubicBezTo>
                    <a:pt x="0" y="42545"/>
                    <a:pt x="42545" y="0"/>
                    <a:pt x="94869" y="0"/>
                  </a:cubicBezTo>
                  <a:lnTo>
                    <a:pt x="23423245" y="0"/>
                  </a:lnTo>
                  <a:cubicBezTo>
                    <a:pt x="23475696" y="0"/>
                    <a:pt x="23518113" y="42545"/>
                    <a:pt x="23518113" y="94869"/>
                  </a:cubicBezTo>
                  <a:lnTo>
                    <a:pt x="23518113" y="1803273"/>
                  </a:lnTo>
                  <a:cubicBezTo>
                    <a:pt x="23518113" y="1855724"/>
                    <a:pt x="23475569" y="1898142"/>
                    <a:pt x="23423245" y="1898142"/>
                  </a:cubicBezTo>
                  <a:lnTo>
                    <a:pt x="94869" y="1898142"/>
                  </a:lnTo>
                  <a:cubicBezTo>
                    <a:pt x="42418" y="1898142"/>
                    <a:pt x="0" y="1855597"/>
                    <a:pt x="0" y="1803273"/>
                  </a:cubicBezTo>
                  <a:close/>
                </a:path>
              </a:pathLst>
            </a:custGeom>
            <a:solidFill>
              <a:srgbClr val="FFFFFF"/>
            </a:solidFill>
            <a:ln w="12700" cap="sq">
              <a:solidFill>
                <a:srgbClr val="EFF4FE"/>
              </a:solidFill>
              <a:prstDash val="solid"/>
              <a:miter/>
            </a:ln>
          </p:spPr>
        </p:sp>
      </p:grpSp>
      <p:sp>
        <p:nvSpPr>
          <p:cNvPr name="Freeform 64" id="64"/>
          <p:cNvSpPr/>
          <p:nvPr/>
        </p:nvSpPr>
        <p:spPr>
          <a:xfrm flipH="false" flipV="false" rot="0">
            <a:off x="618649" y="8062050"/>
            <a:ext cx="1056884" cy="1056884"/>
          </a:xfrm>
          <a:custGeom>
            <a:avLst/>
            <a:gdLst/>
            <a:ahLst/>
            <a:cxnLst/>
            <a:rect r="r" b="b" t="t" l="l"/>
            <a:pathLst>
              <a:path h="1056884" w="1056884">
                <a:moveTo>
                  <a:pt x="0" y="0"/>
                </a:moveTo>
                <a:lnTo>
                  <a:pt x="1056884" y="0"/>
                </a:lnTo>
                <a:lnTo>
                  <a:pt x="1056884" y="1056885"/>
                </a:lnTo>
                <a:lnTo>
                  <a:pt x="0" y="1056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618649" y="8150914"/>
            <a:ext cx="97679" cy="879129"/>
            <a:chOff x="0" y="0"/>
            <a:chExt cx="130239" cy="11721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0302" cy="1172210"/>
            </a:xfrm>
            <a:custGeom>
              <a:avLst/>
              <a:gdLst/>
              <a:ahLst/>
              <a:cxnLst/>
              <a:rect r="r" b="b" t="t" l="l"/>
              <a:pathLst>
                <a:path h="1172210" w="130302">
                  <a:moveTo>
                    <a:pt x="0" y="65151"/>
                  </a:moveTo>
                  <a:cubicBezTo>
                    <a:pt x="0" y="29210"/>
                    <a:pt x="29210" y="0"/>
                    <a:pt x="65151" y="0"/>
                  </a:cubicBezTo>
                  <a:cubicBezTo>
                    <a:pt x="101092" y="0"/>
                    <a:pt x="130302" y="29210"/>
                    <a:pt x="130302" y="65151"/>
                  </a:cubicBezTo>
                  <a:lnTo>
                    <a:pt x="130302" y="1107059"/>
                  </a:lnTo>
                  <a:cubicBezTo>
                    <a:pt x="130302" y="1143000"/>
                    <a:pt x="101092" y="1172210"/>
                    <a:pt x="65151" y="1172210"/>
                  </a:cubicBezTo>
                  <a:cubicBezTo>
                    <a:pt x="29210" y="1172210"/>
                    <a:pt x="0" y="1143000"/>
                    <a:pt x="0" y="1107059"/>
                  </a:cubicBezTo>
                  <a:close/>
                </a:path>
              </a:pathLst>
            </a:custGeom>
            <a:solidFill>
              <a:srgbClr val="91B8F2"/>
            </a:solidFill>
          </p:spPr>
        </p:sp>
      </p:grpSp>
      <p:sp>
        <p:nvSpPr>
          <p:cNvPr name="AutoShape 67" id="67"/>
          <p:cNvSpPr/>
          <p:nvPr/>
        </p:nvSpPr>
        <p:spPr>
          <a:xfrm rot="5354880">
            <a:off x="5300929" y="8612848"/>
            <a:ext cx="967883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rot="5354880">
            <a:off x="10369467" y="8612848"/>
            <a:ext cx="967883" cy="0"/>
          </a:xfrm>
          <a:prstGeom prst="line">
            <a:avLst/>
          </a:prstGeom>
          <a:ln cap="rnd" w="9525">
            <a:solidFill>
              <a:srgbClr val="D2DE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6164742" y="8237744"/>
            <a:ext cx="716328" cy="705469"/>
            <a:chOff x="0" y="0"/>
            <a:chExt cx="955104" cy="940626"/>
          </a:xfrm>
        </p:grpSpPr>
        <p:sp>
          <p:nvSpPr>
            <p:cNvPr name="Freeform 70" id="70" descr="gh.png"/>
            <p:cNvSpPr/>
            <p:nvPr/>
          </p:nvSpPr>
          <p:spPr>
            <a:xfrm flipH="false" flipV="false" rot="0">
              <a:off x="0" y="0"/>
              <a:ext cx="955040" cy="940689"/>
            </a:xfrm>
            <a:custGeom>
              <a:avLst/>
              <a:gdLst/>
              <a:ahLst/>
              <a:cxnLst/>
              <a:rect r="r" b="b" t="t" l="l"/>
              <a:pathLst>
                <a:path h="940689" w="955040">
                  <a:moveTo>
                    <a:pt x="0" y="0"/>
                  </a:moveTo>
                  <a:lnTo>
                    <a:pt x="955040" y="0"/>
                  </a:lnTo>
                  <a:lnTo>
                    <a:pt x="955040" y="940689"/>
                  </a:lnTo>
                  <a:lnTo>
                    <a:pt x="0" y="940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6" b="6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309252" y="8248593"/>
            <a:ext cx="694620" cy="694620"/>
            <a:chOff x="0" y="0"/>
            <a:chExt cx="926160" cy="926160"/>
          </a:xfrm>
        </p:grpSpPr>
        <p:sp>
          <p:nvSpPr>
            <p:cNvPr name="Freeform 72" id="72" descr="pv.png"/>
            <p:cNvSpPr/>
            <p:nvPr/>
          </p:nvSpPr>
          <p:spPr>
            <a:xfrm flipH="false" flipV="false" rot="0">
              <a:off x="0" y="0"/>
              <a:ext cx="926211" cy="926211"/>
            </a:xfrm>
            <a:custGeom>
              <a:avLst/>
              <a:gdLst/>
              <a:ahLst/>
              <a:cxnLst/>
              <a:rect r="r" b="b" t="t" l="l"/>
              <a:pathLst>
                <a:path h="926211" w="926211">
                  <a:moveTo>
                    <a:pt x="0" y="0"/>
                  </a:moveTo>
                  <a:lnTo>
                    <a:pt x="926211" y="0"/>
                  </a:lnTo>
                  <a:lnTo>
                    <a:pt x="926211" y="926211"/>
                  </a:lnTo>
                  <a:lnTo>
                    <a:pt x="0" y="926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5" b="5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7163248" y="8135845"/>
            <a:ext cx="5643772" cy="24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GitHub repository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163248" y="8460124"/>
            <a:ext cx="5643772" cy="21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Code and build history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163248" y="8764019"/>
            <a:ext cx="5860837" cy="320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1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4" tooltip="https://github.com/arjuhhareeshs/Satellite-agent"/>
              </a:rPr>
              <a:t>https://github.com/arjuhhareeshs/Satellite-agent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264352" y="8135845"/>
            <a:ext cx="5643772" cy="24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Prototype video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264352" y="8460124"/>
            <a:ext cx="5643772" cy="29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Walkthrough of the working system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264352" y="8783069"/>
            <a:ext cx="5860837" cy="30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99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5" tooltip="https://drive.google.com/drive/folders/1Dv0ZxFkVEFFJQMq3cFJh6ERVcJgLnBho?usp=sharing"/>
              </a:rPr>
              <a:t>https://drive.google.com/drive/folders/1Dv0ZxFkVEFFJQMq3cFJh6ERVcJgLnBho?usp=sharing</a:t>
            </a:r>
          </a:p>
        </p:txBody>
      </p:sp>
      <p:sp>
        <p:nvSpPr>
          <p:cNvPr name="AutoShape 79" id="79"/>
          <p:cNvSpPr/>
          <p:nvPr/>
        </p:nvSpPr>
        <p:spPr>
          <a:xfrm rot="2460">
            <a:off x="330098" y="9578797"/>
            <a:ext cx="17638643" cy="0"/>
          </a:xfrm>
          <a:prstGeom prst="line">
            <a:avLst/>
          </a:prstGeom>
          <a:ln cap="rnd" w="9525">
            <a:solidFill>
              <a:srgbClr val="E4E9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0" id="80"/>
          <p:cNvSpPr txBox="true"/>
          <p:nvPr/>
        </p:nvSpPr>
        <p:spPr>
          <a:xfrm rot="0">
            <a:off x="17148391" y="9666180"/>
            <a:ext cx="868270" cy="35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9"/>
              </a:lnSpc>
            </a:pPr>
            <a:r>
              <a:rPr lang="en-US" sz="1299">
                <a:solidFill>
                  <a:srgbClr val="8F9AA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name="TextBox 81" id="81" descr="$PPTXTitle"/>
          <p:cNvSpPr txBox="true"/>
          <p:nvPr/>
        </p:nvSpPr>
        <p:spPr>
          <a:xfrm rot="0">
            <a:off x="4592441" y="245745"/>
            <a:ext cx="1045159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AND REFERENCES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14670129" y="2248"/>
            <a:ext cx="3373755" cy="1593532"/>
            <a:chOff x="0" y="0"/>
            <a:chExt cx="4498340" cy="212471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498340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8340">
                  <a:moveTo>
                    <a:pt x="0" y="0"/>
                  </a:moveTo>
                  <a:lnTo>
                    <a:pt x="4498340" y="0"/>
                  </a:lnTo>
                  <a:lnTo>
                    <a:pt x="4498340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168" r="0" b="-167"/>
              </a:stretch>
            </a:blip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475488" y="438150"/>
            <a:ext cx="310896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b="true" sz="2900" i="true" u="sng">
                <a:solidFill>
                  <a:srgbClr val="40404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HeisenBug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0" y="9647139"/>
            <a:ext cx="18288000" cy="645328"/>
            <a:chOff x="0" y="0"/>
            <a:chExt cx="24384000" cy="86043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4384000" cy="860425"/>
            </a:xfrm>
            <a:custGeom>
              <a:avLst/>
              <a:gdLst/>
              <a:ahLst/>
              <a:cxnLst/>
              <a:rect r="r" b="b" t="t" l="l"/>
              <a:pathLst>
                <a:path h="8604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60425"/>
                  </a:lnTo>
                  <a:lnTo>
                    <a:pt x="0" y="860425"/>
                  </a:lnTo>
                  <a:close/>
                </a:path>
              </a:pathLst>
            </a:custGeom>
            <a:solidFill>
              <a:srgbClr val="086FC5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758248" y="8605428"/>
            <a:ext cx="4992567" cy="201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100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17" tooltip="https://youtu.be/0rxhbexTmF8?si=vX4Ko_Zk1rHASRW4"/>
              </a:rPr>
              <a:t>https://youtu.be/0rxhbexTmF8?si=vX4Ko_Zk1rHASRW4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758248" y="8081867"/>
            <a:ext cx="4558436" cy="244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9"/>
              </a:lnSpc>
            </a:pPr>
            <a:r>
              <a:rPr lang="en-US" sz="1299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YouTube Link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758248" y="8377514"/>
            <a:ext cx="5643772" cy="218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0"/>
              </a:lnSpc>
            </a:pPr>
            <a:r>
              <a:rPr lang="en-US" sz="12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Se</a:t>
            </a:r>
            <a:r>
              <a:rPr lang="en-US" sz="1200">
                <a:solidFill>
                  <a:srgbClr val="596B8D"/>
                </a:solidFill>
                <a:latin typeface="Arial"/>
                <a:ea typeface="Arial"/>
                <a:cs typeface="Arial"/>
                <a:sym typeface="Arial"/>
              </a:rPr>
              <a:t>e our solution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DAHVm4ukFZw</dc:identifier>
  <dcterms:modified xsi:type="dcterms:W3CDTF">2011-08-01T06:04:30Z</dcterms:modified>
  <cp:revision>1</cp:revision>
  <dc:title>SIH2026-IDEA-Presentation-Format.pptx</dc:title>
</cp:coreProperties>
</file>